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Light"/>
              </a:defRPr>
            </a:pPr>
            <a:r>
              <a:t>ART 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962E"/>
                </a:solidFill>
                <a:latin typeface="Segoe UI"/>
              </a:defRPr>
            </a:pPr>
            <a:r>
              <a:t>Engineering Excellence, Delivered.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Corporate Capabilities &amp; Client Partnership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ART SER DI SHEHEZAD TARIQ  ·  Verona, Italy  ·  Est. 2015  ·  26+ Years Industry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 Semibold"/>
              </a:defRPr>
            </a:pPr>
            <a:r>
              <a:t>OUR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Trusted Partnerships with Industry Leaders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Over the years, I have collaborated with established companies operating in the Italian aluminum window and door sector, including ART FER SRL, CORRADINI SRL, SOAVE SERRAMENTI SRLS, and MASSIGNANI &amp; C. S.R.L. My work with these companies takes place within their operational and d…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2468880" cy="29260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tf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46120"/>
            <a:ext cx="13716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ART FER SRL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962E"/>
                </a:solidFill>
                <a:latin typeface="Segoe UI"/>
              </a:defRPr>
            </a:pPr>
            <a:r>
              <a:t>Manufacturing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5212080"/>
            <a:ext cx="1005840" cy="12700"/>
          </a:xfrm>
          <a:prstGeom prst="rect">
            <a:avLst/>
          </a:prstGeom>
          <a:solidFill>
            <a:srgbClr val="2A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Segoe UI"/>
              </a:defRPr>
            </a:pPr>
            <a:r>
              <a:t>artfer.it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926080"/>
            <a:ext cx="2468880" cy="29260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rrad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46120"/>
            <a:ext cx="13716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CORRADINI SRL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962E"/>
                </a:solidFill>
                <a:latin typeface="Segoe UI"/>
              </a:defRPr>
            </a:pPr>
            <a:r>
              <a:t>Construction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5212080"/>
            <a:ext cx="1005840" cy="12700"/>
          </a:xfrm>
          <a:prstGeom prst="rect">
            <a:avLst/>
          </a:prstGeom>
          <a:solidFill>
            <a:srgbClr val="2A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Segoe UI"/>
              </a:defRPr>
            </a:pPr>
            <a:r>
              <a:t>www.corradinivr.it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2468880" cy="29260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ssiag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246120"/>
            <a:ext cx="137160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MASSIGNANI &amp; C. S.R.L.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962E"/>
                </a:solidFill>
                <a:latin typeface="Segoe UI"/>
              </a:defRPr>
            </a:pPr>
            <a:r>
              <a:t>Manufacturing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5212080"/>
            <a:ext cx="1005840" cy="12700"/>
          </a:xfrm>
          <a:prstGeom prst="rect">
            <a:avLst/>
          </a:prstGeom>
          <a:solidFill>
            <a:srgbClr val="2A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Segoe UI"/>
              </a:defRPr>
            </a:pPr>
            <a:r>
              <a:t>www.massignani.it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2926080"/>
            <a:ext cx="2468880" cy="29260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SOAVE SERRAMENTI SRLS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962E"/>
                </a:solidFill>
                <a:latin typeface="Segoe UI"/>
              </a:defRPr>
            </a:pPr>
            <a:r>
              <a:t>Windows &amp; Doors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5212080"/>
            <a:ext cx="1005840" cy="12700"/>
          </a:xfrm>
          <a:prstGeom prst="rect">
            <a:avLst/>
          </a:prstGeom>
          <a:solidFill>
            <a:srgbClr val="2A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Segoe UI"/>
              </a:defRPr>
            </a:pPr>
            <a:r>
              <a:t>www.facebook.com/share/1CZcPwt9wz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CLIENT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We Deliver to Our 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800" cy="4114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Production and installation of aluminum windows and doors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0800" cy="4114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Supply and installation of PVC windows and doors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50800" cy="4114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Aluminum fabrication for the commercial and industrial sectors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0800" cy="4114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On-site installation, finishing, and technical 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50800" cy="4114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Production support for aluminum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011680"/>
            <a:ext cx="4389120" cy="38404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Segoe UI Light"/>
              </a:defRPr>
            </a:pPr>
            <a:r>
              <a:t>26+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Years in the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Segoe UI Light"/>
              </a:defRPr>
            </a:pPr>
            <a:r>
              <a:t>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520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Independent Since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Segoe UI Light"/>
              </a:defRPr>
            </a:pPr>
            <a: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Last Registration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Segoe UI Light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Certifications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ABOUT ART 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Our Story &amp; Professional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800" cy="10972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962E"/>
                </a:solidFill>
                <a:latin typeface="Segoe UI"/>
              </a:defRPr>
            </a:pPr>
            <a:r>
              <a:t>THE BEGINNINGS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My experience in the aluminum window and door industry began in 2001 with Dal Bosco Serramenti srl, where I worked until 2015, developing solid practical expertise in the production, assembly, and installation of aluminum windows, doors, and related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50800" cy="10972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962E"/>
                </a:solidFill>
                <a:latin typeface="Segoe UI"/>
              </a:defRPr>
            </a:pPr>
            <a:r>
              <a:t>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Since 2015, after obtaining my tax license (VAT number) for freelancers, I have continued to operate independently in the aluminum industry, providing professional production, assembly, and installation services for commercial and industrial applications.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50800" cy="109728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962E"/>
                </a:solidFill>
                <a:latin typeface="Segoe UI"/>
              </a:defRPr>
            </a:pPr>
            <a:r>
              <a:t>CURRENT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Through ART SER DI SHEHEZAD TARIQ, based in Verona, I specialize in production and installation of aluminum windows and doors, supply and installation of PVC windows and doors, aluminum fabrication for the commercial and…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Comprehensive Aluminium &amp; Serramenti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210312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411480" cy="41148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C0C0E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Aluminium Windows &amp; Doors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Professional production and fabrication of aluminium window and door systems, including cutting, assembly, and quality-controlled finishing for commercial and industrial applicatio…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3383280" cy="210312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2103120"/>
            <a:ext cx="411480" cy="41148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C0C0E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PVC Windows &amp; Doors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Supply and installation of high-quality PVC window and door systems, offering excellent thermal insulation, durability, and cost-effective solutions for residential and commercial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383280" cy="210312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103120"/>
            <a:ext cx="411480" cy="41148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C0C0E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Installation &amp; Assembly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On-site installation, assembly, and fitting of aluminium and PVC serramenti systems. Precise technical execution with certified safety practices for both new builds and renovation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3383280" cy="210312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526280"/>
            <a:ext cx="411480" cy="41148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C0C0E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Facade &amp; Curtain Wall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Production and installation of aluminium facade systems, curtain walls, and structural glazing for commercial buildings. Engineered for aesthetics, thermal performance, and weather…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343400"/>
            <a:ext cx="3383280" cy="210312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7720" y="4526280"/>
            <a:ext cx="411480" cy="41148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C0C0E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526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Sliding &amp; Folding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Installation of premium sliding and folding door systems that maximise space and provide seamless indoor-outdoor transitions. Featuring superior thermal insulation and smooth opera…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343400"/>
            <a:ext cx="3383280" cy="210312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21040" y="4526280"/>
            <a:ext cx="411480" cy="41148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C0C0E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526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Sun Protection &amp; Shutters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Supply and installation of roller shutters, mosquito nets, blinds, and sun protection systems. Complete solutions for privacy, comfort, energy efficiency, and security.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FEATURED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Precision Engineering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7548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Iconic Commercial Complex — Curtain Wall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Verona, Italy  ·  2023  ·  Facades &amp; Curtain Walls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ARTSER handled the full production and fabrication of aluminium and glass curtain wall systems for this landmark commercial complex, in collaboration with ART FER SRL. The project involved manufacturing precision-engineered aluminium frames, structur…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_20230706_175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94560"/>
            <a:ext cx="475488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S. Pietro Residential — Window &amp; Door Installation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San Pietro, Verona, Italy  ·  2023  ·  Windows &amp; Doors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074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Complete production and installation of premium aluminium window and door systems for a residential building in San Pietro, Verona. ARTSER manufactured and fitted casement windows, tilt-and-turn units, and entrance doors with wood-effect aluminium fi…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OUR SUPPLIERS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Premium European Material 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011680" cy="36576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l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3716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200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AluK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8962E"/>
                </a:solidFill>
                <a:latin typeface="Segoe UI"/>
              </a:defRPr>
            </a:pPr>
            <a:r>
              <a:t>Italy  ·  Aluminium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319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Segoe UI"/>
              </a:defRPr>
            </a:pPr>
            <a:r>
              <a:t>Windows, Doors, Facades, Sliding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011680"/>
            <a:ext cx="2011680" cy="36576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200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Paesani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20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8962E"/>
                </a:solidFill>
                <a:latin typeface="Segoe UI"/>
              </a:defRPr>
            </a:pPr>
            <a:r>
              <a:t>Italy  ·  Aluminium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319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Segoe UI"/>
              </a:defRPr>
            </a:pPr>
            <a:r>
              <a:t>Hinged Windows, Hinged Doors, Sliding Systems, Continuous Facades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011680"/>
            <a:ext cx="2011680" cy="36576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yna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240280"/>
            <a:ext cx="137160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74920" y="3200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Reynaers Aluminium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520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8962E"/>
                </a:solidFill>
                <a:latin typeface="Segoe UI"/>
              </a:defRPr>
            </a:pPr>
            <a:r>
              <a:t>Belgium  ·  Aluminium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9319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Segoe UI"/>
              </a:defRPr>
            </a:pPr>
            <a:r>
              <a:t>Windows, Doors, Curtain Walls, Sliding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011680"/>
            <a:ext cx="2011680" cy="36576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kookn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240280"/>
            <a:ext cx="1371600" cy="822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3200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Eko-Okna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520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8962E"/>
                </a:solidFill>
                <a:latin typeface="Segoe UI"/>
              </a:defRPr>
            </a:pPr>
            <a:r>
              <a:t>Poland  ·  PVC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9319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Segoe UI"/>
              </a:defRPr>
            </a:pPr>
            <a:r>
              <a:t>PVC Windows, PVC Doors, Aluminium Windows, Wood Windows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2011680"/>
            <a:ext cx="2011680" cy="36576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ffez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2240280"/>
            <a:ext cx="1371600" cy="8229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55480" y="3200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Effezeta (FZ)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520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8962E"/>
                </a:solidFill>
                <a:latin typeface="Segoe UI"/>
              </a:defRPr>
            </a:pPr>
            <a:r>
              <a:t>Italy  ·  Roller Shutters &amp; Mosquito Nets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9319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Segoe UI"/>
              </a:defRPr>
            </a:pPr>
            <a:r>
              <a:t>Roller Shutters, Mosquito Nets, Blinds, Sun Protection Systems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CERTIFICATIONS &amp; 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Professional Standards &amp; Safety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2011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548640" cy="32004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0C0E"/>
                </a:solidFill>
              </a:defRPr>
            </a:pPr>
            <a: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Posa in Opera di Serramenti Esterni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O.P.N. Italia Lavoro / CNL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Training course for workers involved in the installation of external window and door frames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920240"/>
            <a:ext cx="3383280" cy="2011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103120"/>
            <a:ext cx="548640" cy="32004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0C0E"/>
                </a:solidFill>
              </a:defRPr>
            </a:pPr>
            <a: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Responsabile Prevenzione e Protezione (RSPP)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UESE Italia S.p.A. / E.N.Bi.Form.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26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Training course for Prevention and Protection Service Manager (RSPP) for high-risk employers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383280" cy="2011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103120"/>
            <a:ext cx="548640" cy="32004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0C0E"/>
                </a:solidFill>
              </a:defRPr>
            </a:pPr>
            <a: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Lavori in Quota e DPI di Terza Categoria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UESE Italia S.p.A. / A.N.P.I.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Training and practical course for workers performing tasks at height and using Category III PPE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51960"/>
            <a:ext cx="3383280" cy="2011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434840"/>
            <a:ext cx="548640" cy="32004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0C0E"/>
                </a:solidFill>
              </a:defRPr>
            </a:pPr>
            <a: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Piattaforme di Lavoro Mobili Elevabili (PLE)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UESE Italia S.p.A. / A.N.P.I.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Certification for operating Mobile Elevated Work Platforms (MEWP) with and without stabilizers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51960"/>
            <a:ext cx="3383280" cy="2011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4434840"/>
            <a:ext cx="548640" cy="32004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0C0E"/>
                </a:solidFill>
              </a:defRPr>
            </a:pPr>
            <a:r>
              <a:t>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Addetti al Primo Soccorso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UESE Italia S.p.A. / E.N.Bi.Form.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257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First aid training course for designated first aid personnel in Group A companies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251960"/>
            <a:ext cx="3383280" cy="2011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4434840"/>
            <a:ext cx="548640" cy="32004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0C0E"/>
                </a:solidFill>
              </a:defRPr>
            </a:pPr>
            <a:r>
              <a:t>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Formazione Antincendio Livello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962E"/>
                </a:solidFill>
                <a:latin typeface="Segoe UI"/>
              </a:defRPr>
            </a:pPr>
            <a:r>
              <a:t>O.P.N. Italia Lavoro / CNL / O.P.T.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257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Segoe UI"/>
              </a:defRPr>
            </a:pPr>
            <a:r>
              <a:t>Fire safety training course for designated fire prevention personnel — Level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E"/>
                </a:solidFill>
                <a:latin typeface="Segoe UI"/>
              </a:defRPr>
            </a:pPr>
            <a:r>
              <a:t>MISSION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Our Guiding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377440"/>
            <a:ext cx="50800" cy="4572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  <a:latin typeface="Segoe UI"/>
              </a:defRPr>
            </a:pPr>
            <a:r>
              <a:t>OUR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To deliver dependable aluminium and serramenti workmanship through precision, professionalism, and practical field expertise — supporting production, fitting, and installation activities with quality, safety, and technical reliability.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2377440"/>
            <a:ext cx="50800" cy="4572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  <a:latin typeface="Segoe UI"/>
              </a:defRPr>
            </a:pPr>
            <a:r>
              <a:t>OUR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To build lasting trust within the aluminium industry by continuously providing skilled workmanship, professional collaboration, and high standards of execution in every project environment we contribute 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ART 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25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962E"/>
                </a:solidFill>
                <a:latin typeface="Segoe UI"/>
              </a:defRPr>
            </a:pPr>
            <a:r>
              <a:t>Let's Build Something Exceptional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CCCC"/>
                </a:solidFill>
                <a:latin typeface="Segoe UI"/>
              </a:defRPr>
            </a:pPr>
            <a:r>
              <a:t>ART SER DI SHEHEZAD TARIQ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Verona, Italy  ·  26+ Years of Industry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962E"/>
                </a:solidFill>
                <a:latin typeface="Segoe UI"/>
              </a:defRPr>
            </a:pPr>
            <a:r>
              <a:t>www.artser.it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