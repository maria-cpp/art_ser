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4.jpg" ContentType="image/jpeg"/>
  <Override PartName="/ppt/media/image5.jpg" ContentType="image/jpe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8298" autoAdjust="0"/>
    <p:restoredTop sz="94610"/>
  </p:normalViewPr>
  <p:slideViewPr>
    <p:cSldViewPr snapToGrid="0" snapToObjects="1">
      <p:cViewPr varScale="1">
        <p:scale>
          <a:sx n="62" d="100"/>
          <a:sy n="62" d="100"/>
        </p:scale>
        <p:origin x="71" y="9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198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F"/>
        </a:solidFill>
        <a:effectLst/>
      </p:bgPr>
    </p:bg>
    <p:spTree>
      <p:nvGrpSpPr>
        <p:cNvPr id="1" name=""/>
        <p:cNvGrpSpPr/>
        <p:nvPr/>
      </p:nvGrpSpPr>
      <p:grpSpPr>
        <a:xfrm>
          <a:off x="0" y="0"/>
          <a:ext cx="0" cy="0"/>
          <a:chOff x="0" y="0"/>
          <a:chExt cx="0" cy="0"/>
        </a:xfrm>
      </p:grpSpPr>
      <p:pic>
        <p:nvPicPr>
          <p:cNvPr id="2" name="Image 0" descr="/sessions/quirky-great-planck/mnt/outputs/deck/assets/iconic.jpg"/>
          <p:cNvPicPr>
            <a:picLocks noChangeAspect="1"/>
          </p:cNvPicPr>
          <p:nvPr/>
        </p:nvPicPr>
        <p:blipFill>
          <a:blip r:embed="rId3"/>
          <a:srcRect t="21868" b="21868"/>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5181F">
              <a:alpha val="72000"/>
            </a:srgbClr>
          </a:solidFill>
          <a:ln/>
        </p:spPr>
      </p:sp>
      <p:sp>
        <p:nvSpPr>
          <p:cNvPr id="4" name="Shape 1"/>
          <p:cNvSpPr/>
          <p:nvPr/>
        </p:nvSpPr>
        <p:spPr>
          <a:xfrm>
            <a:off x="0" y="0"/>
            <a:ext cx="7418717" cy="6858000"/>
          </a:xfrm>
          <a:prstGeom prst="rect">
            <a:avLst/>
          </a:prstGeom>
          <a:solidFill>
            <a:srgbClr val="15181F">
              <a:alpha val="88000"/>
            </a:srgbClr>
          </a:solidFill>
          <a:ln/>
        </p:spPr>
      </p:sp>
      <p:pic>
        <p:nvPicPr>
          <p:cNvPr id="5" name="Image 1" descr="/sessions/quirky-great-planck/mnt/outputs/deck/assets/logo.png"/>
          <p:cNvPicPr>
            <a:picLocks noChangeAspect="1"/>
          </p:cNvPicPr>
          <p:nvPr/>
        </p:nvPicPr>
        <p:blipFill>
          <a:blip r:embed="rId4"/>
          <a:stretch>
            <a:fillRect/>
          </a:stretch>
        </p:blipFill>
        <p:spPr>
          <a:xfrm>
            <a:off x="566928" y="640080"/>
            <a:ext cx="2834640" cy="612844"/>
          </a:xfrm>
          <a:prstGeom prst="rect">
            <a:avLst/>
          </a:prstGeom>
        </p:spPr>
      </p:pic>
      <p:sp>
        <p:nvSpPr>
          <p:cNvPr id="6" name="Shape 2"/>
          <p:cNvSpPr/>
          <p:nvPr/>
        </p:nvSpPr>
        <p:spPr>
          <a:xfrm>
            <a:off x="585216" y="2788920"/>
            <a:ext cx="1371600" cy="41148"/>
          </a:xfrm>
          <a:prstGeom prst="rect">
            <a:avLst/>
          </a:prstGeom>
          <a:solidFill>
            <a:srgbClr val="C2A14B"/>
          </a:solidFill>
          <a:ln/>
        </p:spPr>
      </p:sp>
      <p:sp>
        <p:nvSpPr>
          <p:cNvPr id="7" name="Text 3"/>
          <p:cNvSpPr/>
          <p:nvPr/>
        </p:nvSpPr>
        <p:spPr>
          <a:xfrm>
            <a:off x="566928" y="2971800"/>
            <a:ext cx="10058400" cy="365760"/>
          </a:xfrm>
          <a:prstGeom prst="rect">
            <a:avLst/>
          </a:prstGeom>
          <a:noFill/>
          <a:ln/>
        </p:spPr>
        <p:txBody>
          <a:bodyPr wrap="square" lIns="0" tIns="0" rIns="0" bIns="0" rtlCol="0" anchor="ctr"/>
          <a:lstStyle/>
          <a:p>
            <a:pPr marL="0" indent="0">
              <a:buNone/>
            </a:pPr>
            <a:r>
              <a:rPr lang="en-US" sz="1500" b="1" kern="0" spc="400" dirty="0">
                <a:solidFill>
                  <a:srgbClr val="E0C778"/>
                </a:solidFill>
                <a:latin typeface="Calibri" pitchFamily="34" charset="0"/>
                <a:ea typeface="Calibri" pitchFamily="34" charset="-122"/>
                <a:cs typeface="Calibri" pitchFamily="34" charset="-120"/>
              </a:rPr>
              <a:t>COMPANY PORTFOLIO</a:t>
            </a:r>
            <a:endParaRPr lang="en-US" sz="1500" dirty="0"/>
          </a:p>
        </p:txBody>
      </p:sp>
      <p:sp>
        <p:nvSpPr>
          <p:cNvPr id="8" name="Text 4"/>
          <p:cNvSpPr/>
          <p:nvPr/>
        </p:nvSpPr>
        <p:spPr>
          <a:xfrm>
            <a:off x="548640" y="3383280"/>
            <a:ext cx="7197881" cy="1280160"/>
          </a:xfrm>
          <a:prstGeom prst="rect">
            <a:avLst/>
          </a:prstGeom>
          <a:noFill/>
          <a:ln/>
        </p:spPr>
        <p:txBody>
          <a:bodyPr wrap="square" lIns="0" tIns="0" rIns="0" bIns="0" rtlCol="0" anchor="ctr"/>
          <a:lstStyle/>
          <a:p>
            <a:pPr>
              <a:lnSpc>
                <a:spcPts val="4600"/>
              </a:lnSpc>
            </a:pPr>
            <a:r>
              <a:rPr lang="en-US" sz="4600" b="1" dirty="0" err="1">
                <a:solidFill>
                  <a:srgbClr val="FFFFFF"/>
                </a:solidFill>
                <a:latin typeface="Georgia" pitchFamily="34" charset="0"/>
                <a:ea typeface="Georgia" pitchFamily="34" charset="-122"/>
                <a:cs typeface="Georgia" pitchFamily="34" charset="-120"/>
              </a:rPr>
              <a:t>Aluminium</a:t>
            </a:r>
            <a:r>
              <a:rPr lang="en-US" sz="4600" b="1" dirty="0">
                <a:solidFill>
                  <a:srgbClr val="FFFFFF"/>
                </a:solidFill>
                <a:latin typeface="Georgia" pitchFamily="34" charset="0"/>
                <a:ea typeface="Georgia" pitchFamily="34" charset="-122"/>
                <a:cs typeface="Georgia" pitchFamily="34" charset="-120"/>
              </a:rPr>
              <a:t> Window &amp; </a:t>
            </a:r>
            <a:r>
              <a:rPr lang="it-IT" sz="4600" b="1" dirty="0">
                <a:solidFill>
                  <a:srgbClr val="FFFFFF"/>
                </a:solidFill>
                <a:latin typeface="Georgia" pitchFamily="34" charset="0"/>
                <a:ea typeface="Georgia" pitchFamily="34" charset="-122"/>
                <a:cs typeface="Georgia" pitchFamily="34" charset="-120"/>
              </a:rPr>
              <a:t>Door </a:t>
            </a:r>
            <a:r>
              <a:rPr lang="en-US" sz="4600" b="1" dirty="0" err="1">
                <a:solidFill>
                  <a:srgbClr val="FFFFFF"/>
                </a:solidFill>
                <a:latin typeface="Georgia" pitchFamily="34" charset="0"/>
                <a:ea typeface="Georgia" pitchFamily="34" charset="-122"/>
                <a:cs typeface="Georgia" pitchFamily="34" charset="-120"/>
              </a:rPr>
              <a:t>Solutions</a:t>
            </a:r>
            <a:endParaRPr lang="en-US" sz="4600" dirty="0"/>
          </a:p>
        </p:txBody>
      </p:sp>
      <p:sp>
        <p:nvSpPr>
          <p:cNvPr id="9" name="Text 5"/>
          <p:cNvSpPr/>
          <p:nvPr/>
        </p:nvSpPr>
        <p:spPr>
          <a:xfrm>
            <a:off x="566928" y="4800600"/>
            <a:ext cx="10058400" cy="457200"/>
          </a:xfrm>
          <a:prstGeom prst="rect">
            <a:avLst/>
          </a:prstGeom>
          <a:noFill/>
          <a:ln/>
        </p:spPr>
        <p:txBody>
          <a:bodyPr wrap="square" lIns="0" tIns="0" rIns="0" bIns="0" rtlCol="0" anchor="ctr"/>
          <a:lstStyle/>
          <a:p>
            <a:pPr marL="0" indent="0">
              <a:buNone/>
            </a:pPr>
            <a:r>
              <a:rPr lang="en-US" sz="1800" i="1" dirty="0">
                <a:solidFill>
                  <a:srgbClr val="D9DBDE"/>
                </a:solidFill>
                <a:latin typeface="Georgia" pitchFamily="34" charset="0"/>
                <a:ea typeface="Georgia" pitchFamily="34" charset="-122"/>
                <a:cs typeface="Georgia" pitchFamily="34" charset="-120"/>
              </a:rPr>
              <a:t>Engineering Excellence, Delivered.</a:t>
            </a:r>
            <a:endParaRPr lang="en-US" sz="1800" dirty="0"/>
          </a:p>
        </p:txBody>
      </p:sp>
      <p:sp>
        <p:nvSpPr>
          <p:cNvPr id="10" name="Shape 6"/>
          <p:cNvSpPr/>
          <p:nvPr/>
        </p:nvSpPr>
        <p:spPr>
          <a:xfrm>
            <a:off x="566928" y="5806440"/>
            <a:ext cx="82296" cy="548640"/>
          </a:xfrm>
          <a:prstGeom prst="rect">
            <a:avLst/>
          </a:prstGeom>
          <a:solidFill>
            <a:srgbClr val="C2A14B"/>
          </a:solidFill>
          <a:ln/>
        </p:spPr>
      </p:sp>
      <p:sp>
        <p:nvSpPr>
          <p:cNvPr id="11" name="Text 7"/>
          <p:cNvSpPr/>
          <p:nvPr/>
        </p:nvSpPr>
        <p:spPr>
          <a:xfrm>
            <a:off x="786384" y="5760720"/>
            <a:ext cx="10058400" cy="640080"/>
          </a:xfrm>
          <a:prstGeom prst="rect">
            <a:avLst/>
          </a:prstGeom>
          <a:noFill/>
          <a:ln/>
        </p:spPr>
        <p:txBody>
          <a:bodyPr wrap="square" lIns="0" tIns="0" rIns="0" bIns="0" rtlCol="0" anchor="ctr"/>
          <a:lstStyle/>
          <a:p>
            <a:pPr marL="0" indent="0">
              <a:lnSpc>
                <a:spcPts val="1800"/>
              </a:lnSpc>
              <a:buNone/>
            </a:pPr>
            <a:r>
              <a:rPr lang="en-US" sz="1300" b="1" dirty="0">
                <a:solidFill>
                  <a:srgbClr val="FFFFFF"/>
                </a:solidFill>
                <a:latin typeface="Calibri" pitchFamily="34" charset="0"/>
                <a:ea typeface="Calibri" pitchFamily="34" charset="-122"/>
                <a:cs typeface="Calibri" pitchFamily="34" charset="-120"/>
              </a:rPr>
              <a:t>ART SER DI SHEHEZAD TARIQ</a:t>
            </a:r>
            <a:endParaRPr lang="en-US" sz="1300" dirty="0"/>
          </a:p>
          <a:p>
            <a:pPr marL="0" indent="0">
              <a:lnSpc>
                <a:spcPts val="1800"/>
              </a:lnSpc>
              <a:buNone/>
            </a:pPr>
            <a:r>
              <a:rPr lang="en-US" sz="1100" dirty="0">
                <a:solidFill>
                  <a:srgbClr val="C7CACE"/>
                </a:solidFill>
                <a:latin typeface="Calibri" pitchFamily="34" charset="0"/>
                <a:ea typeface="Calibri" pitchFamily="34" charset="-122"/>
                <a:cs typeface="Calibri" pitchFamily="34" charset="-120"/>
              </a:rPr>
              <a:t>Verona, Italy  -  26+ years of experience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566928" y="566928"/>
            <a:ext cx="82296" cy="384048"/>
          </a:xfrm>
          <a:prstGeom prst="rect">
            <a:avLst/>
          </a:prstGeom>
          <a:solidFill>
            <a:srgbClr val="C2A14B"/>
          </a:solidFill>
          <a:ln/>
        </p:spPr>
      </p:sp>
      <p:sp>
        <p:nvSpPr>
          <p:cNvPr id="3" name="Text 1"/>
          <p:cNvSpPr/>
          <p:nvPr/>
        </p:nvSpPr>
        <p:spPr>
          <a:xfrm>
            <a:off x="768096" y="530352"/>
            <a:ext cx="9144000" cy="274320"/>
          </a:xfrm>
          <a:prstGeom prst="rect">
            <a:avLst/>
          </a:prstGeom>
          <a:noFill/>
          <a:ln/>
        </p:spPr>
        <p:txBody>
          <a:bodyPr wrap="square" lIns="0" tIns="0" rIns="0" bIns="0" rtlCol="0" anchor="ctr"/>
          <a:lstStyle/>
          <a:p>
            <a:pPr marL="0" indent="0">
              <a:buNone/>
            </a:pPr>
            <a:r>
              <a:rPr lang="en-US" sz="1100" b="1" kern="0" spc="200" dirty="0">
                <a:solidFill>
                  <a:srgbClr val="C2A14B"/>
                </a:solidFill>
                <a:latin typeface="Calibri" pitchFamily="34" charset="0"/>
                <a:ea typeface="Calibri" pitchFamily="34" charset="-122"/>
                <a:cs typeface="Calibri" pitchFamily="34" charset="-120"/>
              </a:rPr>
              <a:t>ABOUT US</a:t>
            </a:r>
            <a:endParaRPr lang="en-US" sz="1100" dirty="0"/>
          </a:p>
        </p:txBody>
      </p:sp>
      <p:sp>
        <p:nvSpPr>
          <p:cNvPr id="4" name="Text 2"/>
          <p:cNvSpPr/>
          <p:nvPr/>
        </p:nvSpPr>
        <p:spPr>
          <a:xfrm>
            <a:off x="749808" y="841248"/>
            <a:ext cx="10515600" cy="603504"/>
          </a:xfrm>
          <a:prstGeom prst="rect">
            <a:avLst/>
          </a:prstGeom>
          <a:noFill/>
          <a:ln/>
        </p:spPr>
        <p:txBody>
          <a:bodyPr wrap="square" lIns="0" tIns="0" rIns="0" bIns="0" rtlCol="0" anchor="ctr"/>
          <a:lstStyle/>
          <a:p>
            <a:r>
              <a:rPr lang="it-IT" sz="3000" b="1" dirty="0">
                <a:latin typeface="Georgia" panose="02040502050405020303" pitchFamily="18" charset="0"/>
              </a:rPr>
              <a:t>Company Profile</a:t>
            </a:r>
            <a:endParaRPr lang="en-US" sz="3000" b="1" dirty="0">
              <a:latin typeface="Georgia" panose="02040502050405020303" pitchFamily="18" charset="0"/>
            </a:endParaRPr>
          </a:p>
        </p:txBody>
      </p:sp>
      <p:sp>
        <p:nvSpPr>
          <p:cNvPr id="5" name="Text 3"/>
          <p:cNvSpPr/>
          <p:nvPr/>
        </p:nvSpPr>
        <p:spPr>
          <a:xfrm>
            <a:off x="749808" y="1691639"/>
            <a:ext cx="5669280" cy="2234901"/>
          </a:xfrm>
          <a:prstGeom prst="rect">
            <a:avLst/>
          </a:prstGeom>
          <a:noFill/>
          <a:ln/>
        </p:spPr>
        <p:txBody>
          <a:bodyPr wrap="square" lIns="0" tIns="0" rIns="0" bIns="0" rtlCol="0" anchor="t"/>
          <a:lstStyle/>
          <a:p>
            <a:pPr algn="just"/>
            <a:r>
              <a:rPr lang="it-IT" sz="1400" dirty="0"/>
              <a:t>For over 26 years, </a:t>
            </a:r>
            <a:r>
              <a:rPr lang="it-IT" sz="1400" b="1" dirty="0"/>
              <a:t>ART SER</a:t>
            </a:r>
            <a:r>
              <a:rPr lang="it-IT" sz="1400" dirty="0"/>
              <a:t> has transformed aluminium and PVC into premium solutions for residential and industrial construction.</a:t>
            </a:r>
          </a:p>
          <a:p>
            <a:pPr algn="just"/>
            <a:endParaRPr lang="it-IT" sz="1400" dirty="0"/>
          </a:p>
          <a:p>
            <a:pPr algn="just"/>
            <a:r>
              <a:rPr lang="it-IT" sz="1400" dirty="0"/>
              <a:t>We are a team of professionals specialising in the </a:t>
            </a:r>
            <a:r>
              <a:rPr lang="it-IT" sz="1400" b="1" dirty="0"/>
              <a:t>production, installation and technical execution</a:t>
            </a:r>
            <a:r>
              <a:rPr lang="it-IT" sz="1400" dirty="0"/>
              <a:t> of windows, doors, roller shutters, insect screens and complex structural systems. Our strength comes from hands-on field experience: we combine craftsmanship precision with the most advanced technologies to ensure thermal and acoustic insulation and maximum safety.</a:t>
            </a:r>
          </a:p>
          <a:p>
            <a:pPr algn="just"/>
            <a:endParaRPr lang="it-IT" sz="1400" dirty="0"/>
          </a:p>
          <a:p>
            <a:pPr algn="just"/>
            <a:r>
              <a:rPr lang="it-IT" sz="1400" dirty="0"/>
              <a:t>We don't just sell windows and doors — we create the perfect union of aesthetics, functionality and energy efficiency, guiding every project from technical design to final installation.</a:t>
            </a:r>
          </a:p>
        </p:txBody>
      </p:sp>
      <p:sp>
        <p:nvSpPr>
          <p:cNvPr id="6" name="Text 4"/>
          <p:cNvSpPr/>
          <p:nvPr/>
        </p:nvSpPr>
        <p:spPr>
          <a:xfrm>
            <a:off x="786384" y="4667204"/>
            <a:ext cx="5669280" cy="841248"/>
          </a:xfrm>
          <a:prstGeom prst="rect">
            <a:avLst/>
          </a:prstGeom>
          <a:noFill/>
          <a:ln/>
        </p:spPr>
        <p:txBody>
          <a:bodyPr wrap="square" lIns="0" tIns="0" rIns="0" bIns="0" rtlCol="0" anchor="t"/>
          <a:lstStyle/>
          <a:p>
            <a:pPr marL="0" indent="0">
              <a:lnSpc>
                <a:spcPts val="2000"/>
              </a:lnSpc>
              <a:buNone/>
            </a:pPr>
            <a:r>
              <a:rPr lang="en-US" sz="1300" i="1" dirty="0">
                <a:solidFill>
                  <a:srgbClr val="6E7480"/>
                </a:solidFill>
                <a:latin typeface="Calibri" pitchFamily="34" charset="0"/>
                <a:ea typeface="Calibri" pitchFamily="34" charset="-122"/>
                <a:cs typeface="Calibri" pitchFamily="34" charset="-120"/>
              </a:rPr>
              <a:t>The focus is on precision, reliability and solutions that meet strict technical and site requirements — based in Verona and operating independently since 2015.</a:t>
            </a:r>
            <a:endParaRPr lang="en-US" sz="1300" dirty="0"/>
          </a:p>
        </p:txBody>
      </p:sp>
      <p:sp>
        <p:nvSpPr>
          <p:cNvPr id="7" name="Shape 5"/>
          <p:cNvSpPr/>
          <p:nvPr/>
        </p:nvSpPr>
        <p:spPr>
          <a:xfrm>
            <a:off x="6903720" y="1691640"/>
            <a:ext cx="2286000" cy="1481328"/>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8" name="Shape 6"/>
          <p:cNvSpPr/>
          <p:nvPr/>
        </p:nvSpPr>
        <p:spPr>
          <a:xfrm>
            <a:off x="6903720" y="1691640"/>
            <a:ext cx="73152" cy="1481328"/>
          </a:xfrm>
          <a:prstGeom prst="rect">
            <a:avLst/>
          </a:prstGeom>
          <a:solidFill>
            <a:srgbClr val="C2A14B"/>
          </a:solidFill>
          <a:ln/>
        </p:spPr>
      </p:sp>
      <p:sp>
        <p:nvSpPr>
          <p:cNvPr id="9" name="Text 7"/>
          <p:cNvSpPr/>
          <p:nvPr/>
        </p:nvSpPr>
        <p:spPr>
          <a:xfrm>
            <a:off x="7068312" y="1856232"/>
            <a:ext cx="2011680" cy="713232"/>
          </a:xfrm>
          <a:prstGeom prst="rect">
            <a:avLst/>
          </a:prstGeom>
          <a:noFill/>
          <a:ln/>
        </p:spPr>
        <p:txBody>
          <a:bodyPr wrap="square" lIns="0" tIns="0" rIns="0" bIns="0" rtlCol="0" anchor="ctr"/>
          <a:lstStyle/>
          <a:p>
            <a:pPr marL="0" indent="0">
              <a:buNone/>
            </a:pPr>
            <a:r>
              <a:rPr lang="en-US" sz="4000" b="1" dirty="0">
                <a:solidFill>
                  <a:srgbClr val="15181F"/>
                </a:solidFill>
                <a:latin typeface="Georgia" pitchFamily="34" charset="0"/>
                <a:ea typeface="Georgia" pitchFamily="34" charset="-122"/>
                <a:cs typeface="Georgia" pitchFamily="34" charset="-120"/>
              </a:rPr>
              <a:t>26+</a:t>
            </a:r>
            <a:endParaRPr lang="en-US" sz="4000" dirty="0"/>
          </a:p>
        </p:txBody>
      </p:sp>
      <p:sp>
        <p:nvSpPr>
          <p:cNvPr id="10" name="Text 8"/>
          <p:cNvSpPr/>
          <p:nvPr/>
        </p:nvSpPr>
        <p:spPr>
          <a:xfrm>
            <a:off x="7086600" y="2587752"/>
            <a:ext cx="1975104" cy="457200"/>
          </a:xfrm>
          <a:prstGeom prst="rect">
            <a:avLst/>
          </a:prstGeom>
          <a:noFill/>
          <a:ln/>
        </p:spPr>
        <p:txBody>
          <a:bodyPr wrap="square" lIns="0" tIns="0" rIns="0" bIns="0" rtlCol="0" anchor="t"/>
          <a:lstStyle/>
          <a:p>
            <a:pPr marL="0" indent="0">
              <a:buNone/>
            </a:pPr>
            <a:r>
              <a:rPr lang="en-US" sz="1150" dirty="0">
                <a:solidFill>
                  <a:srgbClr val="6E7480"/>
                </a:solidFill>
                <a:latin typeface="Calibri" pitchFamily="34" charset="0"/>
                <a:ea typeface="Calibri" pitchFamily="34" charset="-122"/>
                <a:cs typeface="Calibri" pitchFamily="34" charset="-120"/>
              </a:rPr>
              <a:t>Years in the field</a:t>
            </a:r>
            <a:endParaRPr lang="en-US" sz="1150" dirty="0"/>
          </a:p>
        </p:txBody>
      </p:sp>
      <p:sp>
        <p:nvSpPr>
          <p:cNvPr id="11" name="Shape 9"/>
          <p:cNvSpPr/>
          <p:nvPr/>
        </p:nvSpPr>
        <p:spPr>
          <a:xfrm>
            <a:off x="9390888" y="1691640"/>
            <a:ext cx="2286000" cy="1481328"/>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12" name="Shape 10"/>
          <p:cNvSpPr/>
          <p:nvPr/>
        </p:nvSpPr>
        <p:spPr>
          <a:xfrm>
            <a:off x="9390888" y="1691640"/>
            <a:ext cx="73152" cy="1481328"/>
          </a:xfrm>
          <a:prstGeom prst="rect">
            <a:avLst/>
          </a:prstGeom>
          <a:solidFill>
            <a:srgbClr val="C2A14B"/>
          </a:solidFill>
          <a:ln/>
        </p:spPr>
      </p:sp>
      <p:sp>
        <p:nvSpPr>
          <p:cNvPr id="13" name="Text 11"/>
          <p:cNvSpPr/>
          <p:nvPr/>
        </p:nvSpPr>
        <p:spPr>
          <a:xfrm>
            <a:off x="9555480" y="1856232"/>
            <a:ext cx="2011680" cy="713232"/>
          </a:xfrm>
          <a:prstGeom prst="rect">
            <a:avLst/>
          </a:prstGeom>
          <a:noFill/>
          <a:ln/>
        </p:spPr>
        <p:txBody>
          <a:bodyPr wrap="square" lIns="0" tIns="0" rIns="0" bIns="0" rtlCol="0" anchor="ctr"/>
          <a:lstStyle/>
          <a:p>
            <a:pPr marL="0" indent="0">
              <a:buNone/>
            </a:pPr>
            <a:r>
              <a:rPr lang="en-US" sz="4000" b="1" dirty="0">
                <a:solidFill>
                  <a:srgbClr val="15181F"/>
                </a:solidFill>
                <a:latin typeface="Georgia" pitchFamily="34" charset="0"/>
                <a:ea typeface="Georgia" pitchFamily="34" charset="-122"/>
                <a:cs typeface="Georgia" pitchFamily="34" charset="-120"/>
              </a:rPr>
              <a:t>2015</a:t>
            </a:r>
            <a:endParaRPr lang="en-US" sz="4000" dirty="0"/>
          </a:p>
        </p:txBody>
      </p:sp>
      <p:sp>
        <p:nvSpPr>
          <p:cNvPr id="14" name="Text 12"/>
          <p:cNvSpPr/>
          <p:nvPr/>
        </p:nvSpPr>
        <p:spPr>
          <a:xfrm>
            <a:off x="9573768" y="2587752"/>
            <a:ext cx="1975104" cy="457200"/>
          </a:xfrm>
          <a:prstGeom prst="rect">
            <a:avLst/>
          </a:prstGeom>
          <a:noFill/>
          <a:ln/>
        </p:spPr>
        <p:txBody>
          <a:bodyPr wrap="square" lIns="0" tIns="0" rIns="0" bIns="0" rtlCol="0" anchor="t"/>
          <a:lstStyle/>
          <a:p>
            <a:pPr marL="0" indent="0">
              <a:buNone/>
            </a:pPr>
            <a:r>
              <a:rPr lang="en-US" sz="1150" dirty="0">
                <a:solidFill>
                  <a:srgbClr val="6E7480"/>
                </a:solidFill>
                <a:latin typeface="Calibri" pitchFamily="34" charset="0"/>
                <a:ea typeface="Calibri" pitchFamily="34" charset="-122"/>
                <a:cs typeface="Calibri" pitchFamily="34" charset="-120"/>
              </a:rPr>
              <a:t>Independent since</a:t>
            </a:r>
            <a:endParaRPr lang="en-US" sz="1150" dirty="0"/>
          </a:p>
        </p:txBody>
      </p:sp>
      <p:sp>
        <p:nvSpPr>
          <p:cNvPr id="15" name="Shape 13"/>
          <p:cNvSpPr/>
          <p:nvPr/>
        </p:nvSpPr>
        <p:spPr>
          <a:xfrm>
            <a:off x="6903720" y="3374136"/>
            <a:ext cx="2286000" cy="1481328"/>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16" name="Shape 14"/>
          <p:cNvSpPr/>
          <p:nvPr/>
        </p:nvSpPr>
        <p:spPr>
          <a:xfrm>
            <a:off x="6903720" y="3374136"/>
            <a:ext cx="73152" cy="1481328"/>
          </a:xfrm>
          <a:prstGeom prst="rect">
            <a:avLst/>
          </a:prstGeom>
          <a:solidFill>
            <a:srgbClr val="C2A14B"/>
          </a:solidFill>
          <a:ln/>
        </p:spPr>
      </p:sp>
      <p:sp>
        <p:nvSpPr>
          <p:cNvPr id="17" name="Text 15"/>
          <p:cNvSpPr/>
          <p:nvPr/>
        </p:nvSpPr>
        <p:spPr>
          <a:xfrm>
            <a:off x="7068312" y="3538728"/>
            <a:ext cx="2011680" cy="713232"/>
          </a:xfrm>
          <a:prstGeom prst="rect">
            <a:avLst/>
          </a:prstGeom>
          <a:noFill/>
          <a:ln/>
        </p:spPr>
        <p:txBody>
          <a:bodyPr wrap="square" lIns="0" tIns="0" rIns="0" bIns="0" rtlCol="0" anchor="ctr"/>
          <a:lstStyle/>
          <a:p>
            <a:pPr marL="0" indent="0">
              <a:buNone/>
            </a:pPr>
            <a:r>
              <a:rPr lang="en-US" sz="4000" b="1" dirty="0">
                <a:solidFill>
                  <a:srgbClr val="15181F"/>
                </a:solidFill>
                <a:latin typeface="Georgia" pitchFamily="34" charset="0"/>
                <a:ea typeface="Georgia" pitchFamily="34" charset="-122"/>
                <a:cs typeface="Georgia" pitchFamily="34" charset="-120"/>
              </a:rPr>
              <a:t>5</a:t>
            </a:r>
            <a:endParaRPr lang="en-US" sz="4000" dirty="0"/>
          </a:p>
        </p:txBody>
      </p:sp>
      <p:sp>
        <p:nvSpPr>
          <p:cNvPr id="18" name="Text 16"/>
          <p:cNvSpPr/>
          <p:nvPr/>
        </p:nvSpPr>
        <p:spPr>
          <a:xfrm>
            <a:off x="7086600" y="4270248"/>
            <a:ext cx="1975104" cy="457200"/>
          </a:xfrm>
          <a:prstGeom prst="rect">
            <a:avLst/>
          </a:prstGeom>
          <a:noFill/>
          <a:ln/>
        </p:spPr>
        <p:txBody>
          <a:bodyPr wrap="square" lIns="0" tIns="0" rIns="0" bIns="0" rtlCol="0" anchor="t"/>
          <a:lstStyle/>
          <a:p>
            <a:pPr marL="0" indent="0">
              <a:buNone/>
            </a:pPr>
            <a:r>
              <a:rPr lang="en-US" sz="1150" dirty="0">
                <a:solidFill>
                  <a:srgbClr val="6E7480"/>
                </a:solidFill>
                <a:latin typeface="Calibri" pitchFamily="34" charset="0"/>
                <a:ea typeface="Calibri" pitchFamily="34" charset="-122"/>
                <a:cs typeface="Calibri" pitchFamily="34" charset="-120"/>
              </a:rPr>
              <a:t>European partners</a:t>
            </a:r>
            <a:endParaRPr lang="en-US" sz="1150" dirty="0"/>
          </a:p>
        </p:txBody>
      </p:sp>
      <p:sp>
        <p:nvSpPr>
          <p:cNvPr id="19" name="Shape 17"/>
          <p:cNvSpPr/>
          <p:nvPr/>
        </p:nvSpPr>
        <p:spPr>
          <a:xfrm>
            <a:off x="9390888" y="3374136"/>
            <a:ext cx="2286000" cy="1481328"/>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20" name="Shape 18"/>
          <p:cNvSpPr/>
          <p:nvPr/>
        </p:nvSpPr>
        <p:spPr>
          <a:xfrm>
            <a:off x="9390888" y="3374136"/>
            <a:ext cx="73152" cy="1481328"/>
          </a:xfrm>
          <a:prstGeom prst="rect">
            <a:avLst/>
          </a:prstGeom>
          <a:solidFill>
            <a:srgbClr val="C2A14B"/>
          </a:solidFill>
          <a:ln/>
        </p:spPr>
      </p:sp>
      <p:sp>
        <p:nvSpPr>
          <p:cNvPr id="21" name="Text 19"/>
          <p:cNvSpPr/>
          <p:nvPr/>
        </p:nvSpPr>
        <p:spPr>
          <a:xfrm>
            <a:off x="9555480" y="3538728"/>
            <a:ext cx="2011680" cy="713232"/>
          </a:xfrm>
          <a:prstGeom prst="rect">
            <a:avLst/>
          </a:prstGeom>
          <a:noFill/>
          <a:ln/>
        </p:spPr>
        <p:txBody>
          <a:bodyPr wrap="square" lIns="0" tIns="0" rIns="0" bIns="0" rtlCol="0" anchor="ctr"/>
          <a:lstStyle/>
          <a:p>
            <a:pPr marL="0" indent="0">
              <a:buNone/>
            </a:pPr>
            <a:r>
              <a:rPr lang="en-US" sz="4000" b="1" dirty="0">
                <a:solidFill>
                  <a:srgbClr val="15181F"/>
                </a:solidFill>
                <a:latin typeface="Georgia" pitchFamily="34" charset="0"/>
                <a:ea typeface="Georgia" pitchFamily="34" charset="-122"/>
                <a:cs typeface="Georgia" pitchFamily="34" charset="-120"/>
              </a:rPr>
              <a:t>6</a:t>
            </a:r>
            <a:endParaRPr lang="en-US" sz="4000" dirty="0"/>
          </a:p>
        </p:txBody>
      </p:sp>
      <p:sp>
        <p:nvSpPr>
          <p:cNvPr id="22" name="Text 20"/>
          <p:cNvSpPr/>
          <p:nvPr/>
        </p:nvSpPr>
        <p:spPr>
          <a:xfrm>
            <a:off x="9573768" y="4270248"/>
            <a:ext cx="1975104" cy="457200"/>
          </a:xfrm>
          <a:prstGeom prst="rect">
            <a:avLst/>
          </a:prstGeom>
          <a:noFill/>
          <a:ln/>
        </p:spPr>
        <p:txBody>
          <a:bodyPr wrap="square" lIns="0" tIns="0" rIns="0" bIns="0" rtlCol="0" anchor="t"/>
          <a:lstStyle/>
          <a:p>
            <a:pPr marL="0" indent="0">
              <a:buNone/>
            </a:pPr>
            <a:r>
              <a:rPr lang="en-US" sz="1150" dirty="0">
                <a:solidFill>
                  <a:srgbClr val="6E7480"/>
                </a:solidFill>
                <a:latin typeface="Calibri" pitchFamily="34" charset="0"/>
                <a:ea typeface="Calibri" pitchFamily="34" charset="-122"/>
                <a:cs typeface="Calibri" pitchFamily="34" charset="-120"/>
              </a:rPr>
              <a:t>Professional certifications</a:t>
            </a:r>
            <a:endParaRPr lang="en-US" sz="1150" dirty="0"/>
          </a:p>
        </p:txBody>
      </p:sp>
      <p:sp>
        <p:nvSpPr>
          <p:cNvPr id="23" name="Text 21"/>
          <p:cNvSpPr/>
          <p:nvPr/>
        </p:nvSpPr>
        <p:spPr>
          <a:xfrm>
            <a:off x="566928" y="6437376"/>
            <a:ext cx="6400800" cy="274320"/>
          </a:xfrm>
          <a:prstGeom prst="rect">
            <a:avLst/>
          </a:prstGeom>
          <a:noFill/>
          <a:ln/>
        </p:spPr>
        <p:txBody>
          <a:bodyPr wrap="square" rtlCol="0" anchor="ctr"/>
          <a:lstStyle/>
          <a:p>
            <a:pPr marL="0" indent="0" algn="l">
              <a:buNone/>
            </a:pPr>
            <a:r>
              <a:rPr lang="en-US" sz="850" kern="0" spc="100" dirty="0">
                <a:solidFill>
                  <a:srgbClr val="6E7480"/>
                </a:solidFill>
                <a:latin typeface="Calibri" pitchFamily="34" charset="0"/>
                <a:ea typeface="Calibri" pitchFamily="34" charset="-122"/>
                <a:cs typeface="Calibri" pitchFamily="34" charset="-120"/>
              </a:rPr>
              <a:t>ART SER - Company Portfolio</a:t>
            </a:r>
            <a:endParaRPr lang="en-US" sz="850" dirty="0"/>
          </a:p>
        </p:txBody>
      </p:sp>
      <p:sp>
        <p:nvSpPr>
          <p:cNvPr id="24" name="Text 22"/>
          <p:cNvSpPr/>
          <p:nvPr/>
        </p:nvSpPr>
        <p:spPr>
          <a:xfrm>
            <a:off x="10707624" y="6437376"/>
            <a:ext cx="914400" cy="274320"/>
          </a:xfrm>
          <a:prstGeom prst="rect">
            <a:avLst/>
          </a:prstGeom>
          <a:noFill/>
          <a:ln/>
        </p:spPr>
        <p:txBody>
          <a:bodyPr wrap="square" rtlCol="0" anchor="ctr"/>
          <a:lstStyle/>
          <a:p>
            <a:pPr marL="0" indent="0" algn="r">
              <a:buNone/>
            </a:pPr>
            <a:r>
              <a:rPr lang="en-US" sz="850" dirty="0">
                <a:solidFill>
                  <a:srgbClr val="6E7480"/>
                </a:solidFill>
                <a:latin typeface="Calibri" pitchFamily="34" charset="0"/>
                <a:ea typeface="Calibri" pitchFamily="34" charset="-122"/>
                <a:cs typeface="Calibri"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566928" y="566928"/>
            <a:ext cx="82296" cy="384048"/>
          </a:xfrm>
          <a:prstGeom prst="rect">
            <a:avLst/>
          </a:prstGeom>
          <a:solidFill>
            <a:srgbClr val="C2A14B"/>
          </a:solidFill>
          <a:ln/>
        </p:spPr>
      </p:sp>
      <p:sp>
        <p:nvSpPr>
          <p:cNvPr id="3" name="Text 1"/>
          <p:cNvSpPr/>
          <p:nvPr/>
        </p:nvSpPr>
        <p:spPr>
          <a:xfrm>
            <a:off x="768096" y="530352"/>
            <a:ext cx="9144000" cy="274320"/>
          </a:xfrm>
          <a:prstGeom prst="rect">
            <a:avLst/>
          </a:prstGeom>
          <a:noFill/>
          <a:ln/>
        </p:spPr>
        <p:txBody>
          <a:bodyPr wrap="square" lIns="0" tIns="0" rIns="0" bIns="0" rtlCol="0" anchor="ctr"/>
          <a:lstStyle/>
          <a:p>
            <a:pPr marL="0" indent="0">
              <a:buNone/>
            </a:pPr>
            <a:r>
              <a:rPr lang="en-US" sz="1100" b="1" kern="0" spc="200" dirty="0">
                <a:solidFill>
                  <a:srgbClr val="C2A14B"/>
                </a:solidFill>
                <a:latin typeface="Calibri" pitchFamily="34" charset="0"/>
                <a:ea typeface="Calibri" pitchFamily="34" charset="-122"/>
                <a:cs typeface="Calibri" pitchFamily="34" charset="-120"/>
              </a:rPr>
              <a:t>EXPERIENCE</a:t>
            </a:r>
            <a:endParaRPr lang="en-US" sz="1100" dirty="0"/>
          </a:p>
        </p:txBody>
      </p:sp>
      <p:sp>
        <p:nvSpPr>
          <p:cNvPr id="4" name="Text 2"/>
          <p:cNvSpPr/>
          <p:nvPr/>
        </p:nvSpPr>
        <p:spPr>
          <a:xfrm>
            <a:off x="749808" y="841248"/>
            <a:ext cx="10515600" cy="603504"/>
          </a:xfrm>
          <a:prstGeom prst="rect">
            <a:avLst/>
          </a:prstGeom>
          <a:noFill/>
          <a:ln/>
        </p:spPr>
        <p:txBody>
          <a:bodyPr wrap="square" lIns="0" tIns="0" rIns="0" bIns="0" rtlCol="0" anchor="ctr"/>
          <a:lstStyle/>
          <a:p>
            <a:pPr marL="0" indent="0">
              <a:buNone/>
            </a:pPr>
            <a:r>
              <a:rPr lang="en-US" sz="3000" b="1" dirty="0">
                <a:solidFill>
                  <a:srgbClr val="15181F"/>
                </a:solidFill>
                <a:latin typeface="Georgia" pitchFamily="34" charset="0"/>
                <a:ea typeface="Georgia" pitchFamily="34" charset="-122"/>
                <a:cs typeface="Georgia" pitchFamily="34" charset="-120"/>
              </a:rPr>
              <a:t>Our Journey</a:t>
            </a:r>
            <a:endParaRPr lang="en-US" sz="3000" dirty="0"/>
          </a:p>
        </p:txBody>
      </p:sp>
      <p:sp>
        <p:nvSpPr>
          <p:cNvPr id="5" name="Shape 3"/>
          <p:cNvSpPr/>
          <p:nvPr/>
        </p:nvSpPr>
        <p:spPr>
          <a:xfrm>
            <a:off x="649224" y="1833371"/>
            <a:ext cx="3456432" cy="3592643"/>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6" name="Shape 4"/>
          <p:cNvSpPr/>
          <p:nvPr/>
        </p:nvSpPr>
        <p:spPr>
          <a:xfrm>
            <a:off x="649224" y="1820104"/>
            <a:ext cx="3456432" cy="64008"/>
          </a:xfrm>
          <a:prstGeom prst="rect">
            <a:avLst/>
          </a:prstGeom>
          <a:solidFill>
            <a:srgbClr val="C2A14B"/>
          </a:solidFill>
          <a:ln/>
        </p:spPr>
      </p:sp>
      <p:sp>
        <p:nvSpPr>
          <p:cNvPr id="7" name="Text 5"/>
          <p:cNvSpPr/>
          <p:nvPr/>
        </p:nvSpPr>
        <p:spPr>
          <a:xfrm>
            <a:off x="768096" y="1930370"/>
            <a:ext cx="2907792" cy="731520"/>
          </a:xfrm>
          <a:prstGeom prst="rect">
            <a:avLst/>
          </a:prstGeom>
          <a:noFill/>
          <a:ln/>
        </p:spPr>
        <p:txBody>
          <a:bodyPr wrap="square" lIns="0" tIns="0" rIns="0" bIns="0" rtlCol="0" anchor="ctr"/>
          <a:lstStyle/>
          <a:p>
            <a:pPr marL="0" indent="0">
              <a:buNone/>
            </a:pPr>
            <a:r>
              <a:rPr lang="en-US" sz="3400" b="1" dirty="0">
                <a:solidFill>
                  <a:srgbClr val="C2A14B"/>
                </a:solidFill>
                <a:latin typeface="Georgia" pitchFamily="34" charset="0"/>
                <a:ea typeface="Georgia" pitchFamily="34" charset="-122"/>
                <a:cs typeface="Georgia" pitchFamily="34" charset="-120"/>
              </a:rPr>
              <a:t>2001</a:t>
            </a:r>
            <a:endParaRPr lang="en-US" sz="3400" dirty="0"/>
          </a:p>
        </p:txBody>
      </p:sp>
      <p:sp>
        <p:nvSpPr>
          <p:cNvPr id="8" name="Text 6"/>
          <p:cNvSpPr/>
          <p:nvPr/>
        </p:nvSpPr>
        <p:spPr>
          <a:xfrm>
            <a:off x="749808" y="2555748"/>
            <a:ext cx="2907792" cy="502920"/>
          </a:xfrm>
          <a:prstGeom prst="rect">
            <a:avLst/>
          </a:prstGeom>
          <a:noFill/>
          <a:ln/>
        </p:spPr>
        <p:txBody>
          <a:bodyPr wrap="square" lIns="0" tIns="0" rIns="0" bIns="0" rtlCol="0" anchor="t"/>
          <a:lstStyle/>
          <a:p>
            <a:pPr marL="0" indent="0">
              <a:buNone/>
            </a:pPr>
            <a:r>
              <a:rPr lang="en-US" sz="1650" b="1" dirty="0">
                <a:solidFill>
                  <a:srgbClr val="15181F"/>
                </a:solidFill>
                <a:latin typeface="Georgia" pitchFamily="34" charset="0"/>
                <a:ea typeface="Georgia" pitchFamily="34" charset="-122"/>
                <a:cs typeface="Georgia" pitchFamily="34" charset="-120"/>
              </a:rPr>
              <a:t>The Beginnings</a:t>
            </a:r>
            <a:endParaRPr lang="en-US" sz="1650" dirty="0"/>
          </a:p>
        </p:txBody>
      </p:sp>
      <p:sp>
        <p:nvSpPr>
          <p:cNvPr id="9" name="Text 7"/>
          <p:cNvSpPr/>
          <p:nvPr/>
        </p:nvSpPr>
        <p:spPr>
          <a:xfrm>
            <a:off x="749807" y="2871216"/>
            <a:ext cx="3255265" cy="2203704"/>
          </a:xfrm>
          <a:prstGeom prst="rect">
            <a:avLst/>
          </a:prstGeom>
          <a:noFill/>
          <a:ln/>
        </p:spPr>
        <p:txBody>
          <a:bodyPr wrap="square" lIns="0" tIns="0" rIns="0" bIns="0" rtlCol="0" anchor="t"/>
          <a:lstStyle/>
          <a:p>
            <a:pPr algn="just"/>
            <a:r>
              <a:rPr lang="it-IT" sz="1200" b="1" dirty="0"/>
              <a:t>Window &amp; Door Fitter / Installer</a:t>
            </a:r>
            <a:r>
              <a:rPr lang="it-IT" sz="1200" dirty="0"/>
              <a:t> |</a:t>
            </a:r>
          </a:p>
          <a:p>
            <a:pPr algn="just"/>
            <a:r>
              <a:rPr lang="it-IT" sz="1200" dirty="0"/>
              <a:t>Entered the aluminium window and door industry with Dal Bosco Serramenti srl, gaining a thorough understanding of the entire product cycle.</a:t>
            </a:r>
          </a:p>
          <a:p>
            <a:pPr algn="just"/>
            <a:endParaRPr lang="it-IT" sz="1200" dirty="0"/>
          </a:p>
          <a:p>
            <a:pPr algn="just"/>
            <a:r>
              <a:rPr lang="it-IT" sz="1200" b="1" dirty="0"/>
              <a:t>Production &amp; Assembly:</a:t>
            </a:r>
            <a:r>
              <a:rPr lang="it-IT" sz="1200" dirty="0"/>
              <a:t> Cutting, machining and assembly of aluminium profiles for window and door frames and facades.</a:t>
            </a:r>
          </a:p>
          <a:p>
            <a:pPr algn="just"/>
            <a:endParaRPr lang="it-IT" sz="1200" dirty="0"/>
          </a:p>
          <a:p>
            <a:pPr algn="just"/>
            <a:r>
              <a:rPr lang="it-IT" sz="1200" b="1" dirty="0"/>
              <a:t>Installation:</a:t>
            </a:r>
            <a:r>
              <a:rPr lang="it-IT" sz="1200" dirty="0"/>
              <a:t> On-site fitting and final assembly of windows and doors for residential and industrial clients, ensuring precision and thermal-acoustic insulation.</a:t>
            </a:r>
          </a:p>
        </p:txBody>
      </p:sp>
      <p:sp>
        <p:nvSpPr>
          <p:cNvPr id="10" name="Shape 8"/>
          <p:cNvSpPr/>
          <p:nvPr/>
        </p:nvSpPr>
        <p:spPr>
          <a:xfrm>
            <a:off x="4382084" y="1828800"/>
            <a:ext cx="3456432" cy="3625822"/>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11" name="Shape 9"/>
          <p:cNvSpPr/>
          <p:nvPr/>
        </p:nvSpPr>
        <p:spPr>
          <a:xfrm>
            <a:off x="4382084" y="1828800"/>
            <a:ext cx="3456432" cy="64008"/>
          </a:xfrm>
          <a:prstGeom prst="rect">
            <a:avLst/>
          </a:prstGeom>
          <a:solidFill>
            <a:srgbClr val="C2A14B"/>
          </a:solidFill>
          <a:ln/>
        </p:spPr>
      </p:sp>
      <p:sp>
        <p:nvSpPr>
          <p:cNvPr id="12" name="Text 10"/>
          <p:cNvSpPr/>
          <p:nvPr/>
        </p:nvSpPr>
        <p:spPr>
          <a:xfrm>
            <a:off x="4553712" y="1892808"/>
            <a:ext cx="2907792" cy="731520"/>
          </a:xfrm>
          <a:prstGeom prst="rect">
            <a:avLst/>
          </a:prstGeom>
          <a:noFill/>
          <a:ln/>
        </p:spPr>
        <p:txBody>
          <a:bodyPr wrap="square" lIns="0" tIns="0" rIns="0" bIns="0" rtlCol="0" anchor="ctr"/>
          <a:lstStyle/>
          <a:p>
            <a:pPr marL="0" indent="0">
              <a:buNone/>
            </a:pPr>
            <a:r>
              <a:rPr lang="en-US" sz="3400" b="1" dirty="0">
                <a:solidFill>
                  <a:srgbClr val="C2A14B"/>
                </a:solidFill>
                <a:latin typeface="Georgia" pitchFamily="34" charset="0"/>
                <a:ea typeface="Georgia" pitchFamily="34" charset="-122"/>
                <a:cs typeface="Georgia" pitchFamily="34" charset="-120"/>
              </a:rPr>
              <a:t>2015</a:t>
            </a:r>
            <a:endParaRPr lang="en-US" sz="3400" dirty="0"/>
          </a:p>
        </p:txBody>
      </p:sp>
      <p:sp>
        <p:nvSpPr>
          <p:cNvPr id="13" name="Text 11"/>
          <p:cNvSpPr/>
          <p:nvPr/>
        </p:nvSpPr>
        <p:spPr>
          <a:xfrm>
            <a:off x="4553712" y="2533157"/>
            <a:ext cx="2907792" cy="502920"/>
          </a:xfrm>
          <a:prstGeom prst="rect">
            <a:avLst/>
          </a:prstGeom>
          <a:noFill/>
          <a:ln/>
        </p:spPr>
        <p:txBody>
          <a:bodyPr wrap="square" lIns="0" tIns="0" rIns="0" bIns="0" rtlCol="0" anchor="t"/>
          <a:lstStyle/>
          <a:p>
            <a:pPr marL="0" indent="0">
              <a:buNone/>
            </a:pPr>
            <a:r>
              <a:rPr lang="en-US" sz="1650" b="1" dirty="0">
                <a:solidFill>
                  <a:srgbClr val="15181F"/>
                </a:solidFill>
                <a:latin typeface="Georgia" pitchFamily="34" charset="0"/>
                <a:ea typeface="Georgia" pitchFamily="34" charset="-122"/>
                <a:cs typeface="Georgia" pitchFamily="34" charset="-120"/>
              </a:rPr>
              <a:t>Independent Practice</a:t>
            </a:r>
            <a:endParaRPr lang="en-US" sz="1650" dirty="0"/>
          </a:p>
        </p:txBody>
      </p:sp>
      <p:sp>
        <p:nvSpPr>
          <p:cNvPr id="14" name="Text 12"/>
          <p:cNvSpPr/>
          <p:nvPr/>
        </p:nvSpPr>
        <p:spPr>
          <a:xfrm>
            <a:off x="4555780" y="2809540"/>
            <a:ext cx="3138876" cy="1460260"/>
          </a:xfrm>
          <a:prstGeom prst="rect">
            <a:avLst/>
          </a:prstGeom>
          <a:noFill/>
          <a:ln/>
        </p:spPr>
        <p:txBody>
          <a:bodyPr wrap="square" lIns="0" tIns="0" rIns="0" bIns="0" rtlCol="0" anchor="t"/>
          <a:lstStyle/>
          <a:p>
            <a:pPr marL="0" indent="0" algn="just">
              <a:lnSpc>
                <a:spcPts val="1900"/>
              </a:lnSpc>
              <a:buNone/>
            </a:pPr>
            <a:r>
              <a:rPr lang="en-US" sz="1250" dirty="0">
                <a:solidFill>
                  <a:srgbClr val="262A31"/>
                </a:solidFill>
                <a:latin typeface="Calibri" pitchFamily="34" charset="0"/>
                <a:ea typeface="Calibri" pitchFamily="34" charset="-122"/>
                <a:cs typeface="Calibri" pitchFamily="34" charset="-120"/>
              </a:rPr>
              <a:t>After obtaining a VAT registration, began independent operations serving commercial and industrial applications.</a:t>
            </a:r>
            <a:endParaRPr lang="en-US" sz="1250" dirty="0"/>
          </a:p>
        </p:txBody>
      </p:sp>
      <p:sp>
        <p:nvSpPr>
          <p:cNvPr id="15" name="Shape 13"/>
          <p:cNvSpPr/>
          <p:nvPr/>
        </p:nvSpPr>
        <p:spPr>
          <a:xfrm>
            <a:off x="8071668" y="1828800"/>
            <a:ext cx="3763774" cy="3625822"/>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16" name="Shape 14"/>
          <p:cNvSpPr/>
          <p:nvPr/>
        </p:nvSpPr>
        <p:spPr>
          <a:xfrm>
            <a:off x="8071668" y="1828800"/>
            <a:ext cx="3763774" cy="64008"/>
          </a:xfrm>
          <a:prstGeom prst="rect">
            <a:avLst/>
          </a:prstGeom>
          <a:solidFill>
            <a:srgbClr val="C2A14B"/>
          </a:solidFill>
          <a:ln/>
        </p:spPr>
      </p:sp>
      <p:sp>
        <p:nvSpPr>
          <p:cNvPr id="17" name="Text 15"/>
          <p:cNvSpPr/>
          <p:nvPr/>
        </p:nvSpPr>
        <p:spPr>
          <a:xfrm>
            <a:off x="8211312" y="1895318"/>
            <a:ext cx="3054096" cy="731520"/>
          </a:xfrm>
          <a:prstGeom prst="rect">
            <a:avLst/>
          </a:prstGeom>
          <a:noFill/>
          <a:ln/>
        </p:spPr>
        <p:txBody>
          <a:bodyPr wrap="square" lIns="0" tIns="0" rIns="0" bIns="0" rtlCol="0" anchor="ctr"/>
          <a:lstStyle/>
          <a:p>
            <a:pPr marL="0" indent="0">
              <a:buNone/>
            </a:pPr>
            <a:r>
              <a:rPr lang="en-US" sz="3400" b="1" dirty="0">
                <a:solidFill>
                  <a:srgbClr val="C2A14B"/>
                </a:solidFill>
                <a:latin typeface="Georgia" pitchFamily="34" charset="0"/>
                <a:ea typeface="Georgia" pitchFamily="34" charset="-122"/>
                <a:cs typeface="Georgia" pitchFamily="34" charset="-120"/>
              </a:rPr>
              <a:t>Today</a:t>
            </a:r>
            <a:endParaRPr lang="en-US" sz="3400" dirty="0"/>
          </a:p>
        </p:txBody>
      </p:sp>
      <p:sp>
        <p:nvSpPr>
          <p:cNvPr id="18" name="Text 16"/>
          <p:cNvSpPr/>
          <p:nvPr/>
        </p:nvSpPr>
        <p:spPr>
          <a:xfrm>
            <a:off x="8311896" y="2537191"/>
            <a:ext cx="3445908" cy="334025"/>
          </a:xfrm>
          <a:prstGeom prst="rect">
            <a:avLst/>
          </a:prstGeom>
          <a:noFill/>
          <a:ln/>
        </p:spPr>
        <p:txBody>
          <a:bodyPr wrap="square" lIns="0" tIns="0" rIns="0" bIns="0" rtlCol="0" anchor="t"/>
          <a:lstStyle/>
          <a:p>
            <a:pPr marL="0" indent="0">
              <a:buNone/>
            </a:pPr>
            <a:r>
              <a:rPr lang="en-US" sz="1650" b="1" dirty="0">
                <a:solidFill>
                  <a:srgbClr val="15181F"/>
                </a:solidFill>
                <a:latin typeface="Georgia" pitchFamily="34" charset="0"/>
                <a:ea typeface="Georgia" pitchFamily="34" charset="-122"/>
                <a:cs typeface="Georgia" pitchFamily="34" charset="-120"/>
              </a:rPr>
              <a:t>ART SER DI SHEHEZAD TARIQ</a:t>
            </a:r>
            <a:endParaRPr lang="en-US" sz="1650" dirty="0"/>
          </a:p>
        </p:txBody>
      </p:sp>
      <p:sp>
        <p:nvSpPr>
          <p:cNvPr id="19" name="Text 17"/>
          <p:cNvSpPr/>
          <p:nvPr/>
        </p:nvSpPr>
        <p:spPr>
          <a:xfrm>
            <a:off x="8366760" y="2807208"/>
            <a:ext cx="3255264" cy="1901505"/>
          </a:xfrm>
          <a:prstGeom prst="rect">
            <a:avLst/>
          </a:prstGeom>
          <a:noFill/>
          <a:ln/>
        </p:spPr>
        <p:txBody>
          <a:bodyPr wrap="square" lIns="0" tIns="0" rIns="0" bIns="0" rtlCol="0" anchor="t"/>
          <a:lstStyle/>
          <a:p>
            <a:pPr algn="just">
              <a:lnSpc>
                <a:spcPts val="1900"/>
              </a:lnSpc>
            </a:pPr>
            <a:r>
              <a:rPr lang="it-IT" sz="1200" dirty="0"/>
              <a:t>Based in Verona, specialising in the production, supply and installation of aluminium and PVC windows and doors, roller shutters and insect screens. The company directly manages every phase of on-site work, combining technical fabrication with professional installation to ensure maximum insulation, energy savings and tailored solutions for every client</a:t>
            </a:r>
            <a:r>
              <a:rPr lang="it-IT" sz="1400" dirty="0"/>
              <a:t>.</a:t>
            </a:r>
            <a:endParaRPr lang="en-US" sz="1250" dirty="0"/>
          </a:p>
        </p:txBody>
      </p:sp>
      <p:sp>
        <p:nvSpPr>
          <p:cNvPr id="20" name="Text 18"/>
          <p:cNvSpPr/>
          <p:nvPr/>
        </p:nvSpPr>
        <p:spPr>
          <a:xfrm>
            <a:off x="768096" y="5717399"/>
            <a:ext cx="10698480" cy="457200"/>
          </a:xfrm>
          <a:prstGeom prst="rect">
            <a:avLst/>
          </a:prstGeom>
          <a:noFill/>
          <a:ln/>
        </p:spPr>
        <p:txBody>
          <a:bodyPr wrap="square" lIns="0" tIns="0" rIns="0" bIns="0" rtlCol="0" anchor="ctr"/>
          <a:lstStyle/>
          <a:p>
            <a:pPr marL="0" indent="0" algn="ctr">
              <a:buNone/>
            </a:pPr>
            <a:r>
              <a:rPr lang="en-US" sz="1300" i="1" dirty="0">
                <a:solidFill>
                  <a:srgbClr val="6E7480"/>
                </a:solidFill>
                <a:latin typeface="Calibri" pitchFamily="34" charset="0"/>
                <a:ea typeface="Calibri" pitchFamily="34" charset="-122"/>
                <a:cs typeface="Calibri" pitchFamily="34" charset="-120"/>
              </a:rPr>
              <a:t>With over 26 years of field experience — built on passion, reliability, precision and technical expertise.</a:t>
            </a:r>
            <a:endParaRPr lang="en-US" sz="1300" dirty="0"/>
          </a:p>
        </p:txBody>
      </p:sp>
      <p:sp>
        <p:nvSpPr>
          <p:cNvPr id="21" name="Text 19"/>
          <p:cNvSpPr/>
          <p:nvPr/>
        </p:nvSpPr>
        <p:spPr>
          <a:xfrm>
            <a:off x="566928" y="6437376"/>
            <a:ext cx="6400800" cy="274320"/>
          </a:xfrm>
          <a:prstGeom prst="rect">
            <a:avLst/>
          </a:prstGeom>
          <a:noFill/>
          <a:ln/>
        </p:spPr>
        <p:txBody>
          <a:bodyPr wrap="square" rtlCol="0" anchor="ctr"/>
          <a:lstStyle/>
          <a:p>
            <a:pPr marL="0" indent="0" algn="l">
              <a:buNone/>
            </a:pPr>
            <a:r>
              <a:rPr lang="en-US" sz="850" kern="0" spc="100" dirty="0">
                <a:solidFill>
                  <a:srgbClr val="6E7480"/>
                </a:solidFill>
                <a:latin typeface="Calibri" pitchFamily="34" charset="0"/>
                <a:ea typeface="Calibri" pitchFamily="34" charset="-122"/>
                <a:cs typeface="Calibri" pitchFamily="34" charset="-120"/>
              </a:rPr>
              <a:t>ART SER - Company Portfolio</a:t>
            </a:r>
            <a:endParaRPr lang="en-US" sz="850" dirty="0"/>
          </a:p>
        </p:txBody>
      </p:sp>
      <p:sp>
        <p:nvSpPr>
          <p:cNvPr id="22" name="Text 20"/>
          <p:cNvSpPr/>
          <p:nvPr/>
        </p:nvSpPr>
        <p:spPr>
          <a:xfrm>
            <a:off x="10707624" y="6437376"/>
            <a:ext cx="914400" cy="274320"/>
          </a:xfrm>
          <a:prstGeom prst="rect">
            <a:avLst/>
          </a:prstGeom>
          <a:noFill/>
          <a:ln/>
        </p:spPr>
        <p:txBody>
          <a:bodyPr wrap="square" rtlCol="0" anchor="ctr"/>
          <a:lstStyle/>
          <a:p>
            <a:pPr marL="0" indent="0" algn="r">
              <a:buNone/>
            </a:pPr>
            <a:r>
              <a:rPr lang="en-US" sz="850" dirty="0">
                <a:solidFill>
                  <a:srgbClr val="6E7480"/>
                </a:solidFill>
                <a:latin typeface="Calibri" pitchFamily="34" charset="0"/>
                <a:ea typeface="Calibri" pitchFamily="34" charset="-122"/>
                <a:cs typeface="Calibri"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566928" y="566928"/>
            <a:ext cx="82296" cy="384048"/>
          </a:xfrm>
          <a:prstGeom prst="rect">
            <a:avLst/>
          </a:prstGeom>
          <a:solidFill>
            <a:srgbClr val="C2A14B"/>
          </a:solidFill>
          <a:ln/>
        </p:spPr>
      </p:sp>
      <p:sp>
        <p:nvSpPr>
          <p:cNvPr id="3" name="Text 1"/>
          <p:cNvSpPr/>
          <p:nvPr/>
        </p:nvSpPr>
        <p:spPr>
          <a:xfrm>
            <a:off x="768096" y="530352"/>
            <a:ext cx="9144000" cy="274320"/>
          </a:xfrm>
          <a:prstGeom prst="rect">
            <a:avLst/>
          </a:prstGeom>
          <a:noFill/>
          <a:ln/>
        </p:spPr>
        <p:txBody>
          <a:bodyPr wrap="square" lIns="0" tIns="0" rIns="0" bIns="0" rtlCol="0" anchor="ctr"/>
          <a:lstStyle/>
          <a:p>
            <a:pPr marL="0" indent="0">
              <a:buNone/>
            </a:pPr>
            <a:r>
              <a:rPr lang="en-US" sz="1100" b="1" kern="0" spc="200" dirty="0">
                <a:solidFill>
                  <a:srgbClr val="C2A14B"/>
                </a:solidFill>
                <a:latin typeface="Calibri" pitchFamily="34" charset="0"/>
                <a:ea typeface="Calibri" pitchFamily="34" charset="-122"/>
                <a:cs typeface="Calibri" pitchFamily="34" charset="-120"/>
              </a:rPr>
              <a:t>SERVICES</a:t>
            </a:r>
            <a:endParaRPr lang="en-US" sz="1100" dirty="0"/>
          </a:p>
        </p:txBody>
      </p:sp>
      <p:sp>
        <p:nvSpPr>
          <p:cNvPr id="4" name="Text 2"/>
          <p:cNvSpPr/>
          <p:nvPr/>
        </p:nvSpPr>
        <p:spPr>
          <a:xfrm>
            <a:off x="749808" y="841248"/>
            <a:ext cx="10515600" cy="603504"/>
          </a:xfrm>
          <a:prstGeom prst="rect">
            <a:avLst/>
          </a:prstGeom>
          <a:noFill/>
          <a:ln/>
        </p:spPr>
        <p:txBody>
          <a:bodyPr wrap="square" lIns="0" tIns="0" rIns="0" bIns="0" rtlCol="0" anchor="ctr"/>
          <a:lstStyle/>
          <a:p>
            <a:pPr marL="0" indent="0">
              <a:buNone/>
            </a:pPr>
            <a:r>
              <a:rPr lang="en-US" sz="3000" b="1" dirty="0">
                <a:solidFill>
                  <a:srgbClr val="15181F"/>
                </a:solidFill>
                <a:latin typeface="Georgia" pitchFamily="34" charset="0"/>
                <a:ea typeface="Georgia" pitchFamily="34" charset="-122"/>
                <a:cs typeface="Georgia" pitchFamily="34" charset="-120"/>
              </a:rPr>
              <a:t>What We Do</a:t>
            </a:r>
            <a:endParaRPr lang="en-US" sz="3000" dirty="0"/>
          </a:p>
        </p:txBody>
      </p:sp>
      <p:sp>
        <p:nvSpPr>
          <p:cNvPr id="5" name="Shape 3"/>
          <p:cNvSpPr/>
          <p:nvPr/>
        </p:nvSpPr>
        <p:spPr>
          <a:xfrm>
            <a:off x="749808" y="1783080"/>
            <a:ext cx="3456432" cy="146304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6" name="Shape 4"/>
          <p:cNvSpPr/>
          <p:nvPr/>
        </p:nvSpPr>
        <p:spPr>
          <a:xfrm>
            <a:off x="1005840" y="2039112"/>
            <a:ext cx="566928" cy="566928"/>
          </a:xfrm>
          <a:prstGeom prst="ellipse">
            <a:avLst/>
          </a:prstGeom>
          <a:solidFill>
            <a:srgbClr val="15181F"/>
          </a:solidFill>
          <a:ln/>
        </p:spPr>
      </p:sp>
      <p:sp>
        <p:nvSpPr>
          <p:cNvPr id="7" name="Text 5"/>
          <p:cNvSpPr/>
          <p:nvPr/>
        </p:nvSpPr>
        <p:spPr>
          <a:xfrm>
            <a:off x="1005840" y="2039112"/>
            <a:ext cx="566928" cy="566928"/>
          </a:xfrm>
          <a:prstGeom prst="rect">
            <a:avLst/>
          </a:prstGeom>
          <a:noFill/>
          <a:ln/>
        </p:spPr>
        <p:txBody>
          <a:bodyPr wrap="square" lIns="0" tIns="0" rIns="0" bIns="0" rtlCol="0" anchor="ctr"/>
          <a:lstStyle/>
          <a:p>
            <a:pPr marL="0" indent="0" algn="ctr">
              <a:buNone/>
            </a:pPr>
            <a:r>
              <a:rPr lang="en-US" sz="1600" b="1" dirty="0">
                <a:solidFill>
                  <a:srgbClr val="E0C778"/>
                </a:solidFill>
                <a:latin typeface="Georgia" pitchFamily="34" charset="0"/>
                <a:ea typeface="Georgia" pitchFamily="34" charset="-122"/>
                <a:cs typeface="Georgia" pitchFamily="34" charset="-120"/>
              </a:rPr>
              <a:t>01</a:t>
            </a:r>
            <a:endParaRPr lang="en-US" sz="1600" dirty="0"/>
          </a:p>
        </p:txBody>
      </p:sp>
      <p:sp>
        <p:nvSpPr>
          <p:cNvPr id="8" name="Text 6"/>
          <p:cNvSpPr/>
          <p:nvPr/>
        </p:nvSpPr>
        <p:spPr>
          <a:xfrm>
            <a:off x="1719072" y="2020824"/>
            <a:ext cx="2304288" cy="603504"/>
          </a:xfrm>
          <a:prstGeom prst="rect">
            <a:avLst/>
          </a:prstGeom>
          <a:noFill/>
          <a:ln/>
        </p:spPr>
        <p:txBody>
          <a:bodyPr wrap="square" lIns="0" tIns="0" rIns="0" bIns="0" rtlCol="0" anchor="ctr"/>
          <a:lstStyle/>
          <a:p>
            <a:pPr marL="0" indent="0">
              <a:buNone/>
            </a:pPr>
            <a:r>
              <a:rPr lang="en-US" sz="1450" b="1" dirty="0">
                <a:solidFill>
                  <a:srgbClr val="15181F"/>
                </a:solidFill>
                <a:latin typeface="Georgia" pitchFamily="34" charset="0"/>
                <a:ea typeface="Georgia" pitchFamily="34" charset="-122"/>
                <a:cs typeface="Georgia" pitchFamily="34" charset="-120"/>
              </a:rPr>
              <a:t>Aluminium Windows &amp; Doors</a:t>
            </a:r>
            <a:endParaRPr lang="en-US" sz="1450" dirty="0"/>
          </a:p>
        </p:txBody>
      </p:sp>
      <p:sp>
        <p:nvSpPr>
          <p:cNvPr id="9" name="Text 7"/>
          <p:cNvSpPr/>
          <p:nvPr/>
        </p:nvSpPr>
        <p:spPr>
          <a:xfrm>
            <a:off x="1024128" y="2679192"/>
            <a:ext cx="2944368" cy="457200"/>
          </a:xfrm>
          <a:prstGeom prst="rect">
            <a:avLst/>
          </a:prstGeom>
          <a:noFill/>
          <a:ln/>
        </p:spPr>
        <p:txBody>
          <a:bodyPr wrap="square" lIns="0" tIns="0" rIns="0" bIns="0" rtlCol="0" anchor="t"/>
          <a:lstStyle/>
          <a:p>
            <a:pPr marL="0" indent="0">
              <a:lnSpc>
                <a:spcPts val="1500"/>
              </a:lnSpc>
              <a:buNone/>
            </a:pPr>
            <a:r>
              <a:rPr lang="en-US" sz="1150" dirty="0">
                <a:solidFill>
                  <a:srgbClr val="6E7480"/>
                </a:solidFill>
                <a:latin typeface="Calibri" pitchFamily="34" charset="0"/>
                <a:ea typeface="Calibri" pitchFamily="34" charset="-122"/>
                <a:cs typeface="Calibri" pitchFamily="34" charset="-120"/>
              </a:rPr>
              <a:t>Production, cutting, assembly and quality-controlled finishing.</a:t>
            </a:r>
            <a:endParaRPr lang="en-US" sz="1150" dirty="0"/>
          </a:p>
        </p:txBody>
      </p:sp>
      <p:sp>
        <p:nvSpPr>
          <p:cNvPr id="10" name="Shape 8"/>
          <p:cNvSpPr/>
          <p:nvPr/>
        </p:nvSpPr>
        <p:spPr>
          <a:xfrm>
            <a:off x="4480560" y="1783080"/>
            <a:ext cx="3456432" cy="146304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11" name="Shape 9"/>
          <p:cNvSpPr/>
          <p:nvPr/>
        </p:nvSpPr>
        <p:spPr>
          <a:xfrm>
            <a:off x="4736592" y="2039112"/>
            <a:ext cx="566928" cy="566928"/>
          </a:xfrm>
          <a:prstGeom prst="ellipse">
            <a:avLst/>
          </a:prstGeom>
          <a:solidFill>
            <a:srgbClr val="15181F"/>
          </a:solidFill>
          <a:ln/>
        </p:spPr>
      </p:sp>
      <p:sp>
        <p:nvSpPr>
          <p:cNvPr id="12" name="Text 10"/>
          <p:cNvSpPr/>
          <p:nvPr/>
        </p:nvSpPr>
        <p:spPr>
          <a:xfrm>
            <a:off x="4736592" y="2039112"/>
            <a:ext cx="566928" cy="566928"/>
          </a:xfrm>
          <a:prstGeom prst="rect">
            <a:avLst/>
          </a:prstGeom>
          <a:noFill/>
          <a:ln/>
        </p:spPr>
        <p:txBody>
          <a:bodyPr wrap="square" lIns="0" tIns="0" rIns="0" bIns="0" rtlCol="0" anchor="ctr"/>
          <a:lstStyle/>
          <a:p>
            <a:pPr marL="0" indent="0" algn="ctr">
              <a:buNone/>
            </a:pPr>
            <a:r>
              <a:rPr lang="en-US" sz="1600" b="1" dirty="0">
                <a:solidFill>
                  <a:srgbClr val="E0C778"/>
                </a:solidFill>
                <a:latin typeface="Georgia" pitchFamily="34" charset="0"/>
                <a:ea typeface="Georgia" pitchFamily="34" charset="-122"/>
                <a:cs typeface="Georgia" pitchFamily="34" charset="-120"/>
              </a:rPr>
              <a:t>02</a:t>
            </a:r>
            <a:endParaRPr lang="en-US" sz="1600" dirty="0"/>
          </a:p>
        </p:txBody>
      </p:sp>
      <p:sp>
        <p:nvSpPr>
          <p:cNvPr id="13" name="Text 11"/>
          <p:cNvSpPr/>
          <p:nvPr/>
        </p:nvSpPr>
        <p:spPr>
          <a:xfrm>
            <a:off x="5449824" y="2020824"/>
            <a:ext cx="2304288" cy="603504"/>
          </a:xfrm>
          <a:prstGeom prst="rect">
            <a:avLst/>
          </a:prstGeom>
          <a:noFill/>
          <a:ln/>
        </p:spPr>
        <p:txBody>
          <a:bodyPr wrap="square" lIns="0" tIns="0" rIns="0" bIns="0" rtlCol="0" anchor="ctr"/>
          <a:lstStyle/>
          <a:p>
            <a:pPr marL="0" indent="0">
              <a:buNone/>
            </a:pPr>
            <a:r>
              <a:rPr lang="en-US" sz="1450" b="1" dirty="0">
                <a:solidFill>
                  <a:srgbClr val="15181F"/>
                </a:solidFill>
                <a:latin typeface="Georgia" pitchFamily="34" charset="0"/>
                <a:ea typeface="Georgia" pitchFamily="34" charset="-122"/>
                <a:cs typeface="Georgia" pitchFamily="34" charset="-120"/>
              </a:rPr>
              <a:t>PVC Windows &amp; Doors</a:t>
            </a:r>
            <a:endParaRPr lang="en-US" sz="1450" dirty="0"/>
          </a:p>
        </p:txBody>
      </p:sp>
      <p:sp>
        <p:nvSpPr>
          <p:cNvPr id="14" name="Text 12"/>
          <p:cNvSpPr/>
          <p:nvPr/>
        </p:nvSpPr>
        <p:spPr>
          <a:xfrm>
            <a:off x="4754880" y="2679192"/>
            <a:ext cx="2944368" cy="457200"/>
          </a:xfrm>
          <a:prstGeom prst="rect">
            <a:avLst/>
          </a:prstGeom>
          <a:noFill/>
          <a:ln/>
        </p:spPr>
        <p:txBody>
          <a:bodyPr wrap="square" lIns="0" tIns="0" rIns="0" bIns="0" rtlCol="0" anchor="t"/>
          <a:lstStyle/>
          <a:p>
            <a:pPr marL="0" indent="0">
              <a:lnSpc>
                <a:spcPts val="1500"/>
              </a:lnSpc>
              <a:buNone/>
            </a:pPr>
            <a:r>
              <a:rPr lang="en-US" sz="1150" dirty="0">
                <a:solidFill>
                  <a:srgbClr val="6E7480"/>
                </a:solidFill>
                <a:latin typeface="Calibri" pitchFamily="34" charset="0"/>
                <a:ea typeface="Calibri" pitchFamily="34" charset="-122"/>
                <a:cs typeface="Calibri" pitchFamily="34" charset="-120"/>
              </a:rPr>
              <a:t>Supply and installation — efficient, cost-effective systems.</a:t>
            </a:r>
            <a:endParaRPr lang="en-US" sz="1150" dirty="0"/>
          </a:p>
        </p:txBody>
      </p:sp>
      <p:sp>
        <p:nvSpPr>
          <p:cNvPr id="15" name="Shape 13"/>
          <p:cNvSpPr/>
          <p:nvPr/>
        </p:nvSpPr>
        <p:spPr>
          <a:xfrm>
            <a:off x="8211312" y="1783080"/>
            <a:ext cx="3591482" cy="146304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16" name="Shape 14"/>
          <p:cNvSpPr/>
          <p:nvPr/>
        </p:nvSpPr>
        <p:spPr>
          <a:xfrm>
            <a:off x="8467344" y="2039112"/>
            <a:ext cx="566928" cy="566928"/>
          </a:xfrm>
          <a:prstGeom prst="ellipse">
            <a:avLst/>
          </a:prstGeom>
          <a:solidFill>
            <a:srgbClr val="15181F"/>
          </a:solidFill>
          <a:ln/>
        </p:spPr>
      </p:sp>
      <p:sp>
        <p:nvSpPr>
          <p:cNvPr id="17" name="Text 15"/>
          <p:cNvSpPr/>
          <p:nvPr/>
        </p:nvSpPr>
        <p:spPr>
          <a:xfrm>
            <a:off x="8467344" y="2039112"/>
            <a:ext cx="566928" cy="566928"/>
          </a:xfrm>
          <a:prstGeom prst="rect">
            <a:avLst/>
          </a:prstGeom>
          <a:noFill/>
          <a:ln/>
        </p:spPr>
        <p:txBody>
          <a:bodyPr wrap="square" lIns="0" tIns="0" rIns="0" bIns="0" rtlCol="0" anchor="ctr"/>
          <a:lstStyle/>
          <a:p>
            <a:pPr marL="0" indent="0" algn="ctr">
              <a:buNone/>
            </a:pPr>
            <a:r>
              <a:rPr lang="en-US" sz="1600" b="1" dirty="0">
                <a:solidFill>
                  <a:srgbClr val="E0C778"/>
                </a:solidFill>
                <a:latin typeface="Georgia" pitchFamily="34" charset="0"/>
                <a:ea typeface="Georgia" pitchFamily="34" charset="-122"/>
                <a:cs typeface="Georgia" pitchFamily="34" charset="-120"/>
              </a:rPr>
              <a:t>03</a:t>
            </a:r>
            <a:endParaRPr lang="en-US" sz="1600" dirty="0"/>
          </a:p>
        </p:txBody>
      </p:sp>
      <p:sp>
        <p:nvSpPr>
          <p:cNvPr id="18" name="Text 16"/>
          <p:cNvSpPr/>
          <p:nvPr/>
        </p:nvSpPr>
        <p:spPr>
          <a:xfrm>
            <a:off x="9180576" y="2020824"/>
            <a:ext cx="2304288" cy="603504"/>
          </a:xfrm>
          <a:prstGeom prst="rect">
            <a:avLst/>
          </a:prstGeom>
          <a:noFill/>
          <a:ln/>
        </p:spPr>
        <p:txBody>
          <a:bodyPr wrap="square" lIns="0" tIns="0" rIns="0" bIns="0" rtlCol="0" anchor="ctr"/>
          <a:lstStyle/>
          <a:p>
            <a:pPr marL="0" indent="0">
              <a:buNone/>
            </a:pPr>
            <a:r>
              <a:rPr lang="en-US" sz="1450" b="1" dirty="0">
                <a:solidFill>
                  <a:srgbClr val="15181F"/>
                </a:solidFill>
                <a:latin typeface="Georgia" pitchFamily="34" charset="0"/>
                <a:ea typeface="Georgia" pitchFamily="34" charset="-122"/>
                <a:cs typeface="Georgia" pitchFamily="34" charset="-120"/>
              </a:rPr>
              <a:t>Installation &amp; Assembly</a:t>
            </a:r>
            <a:endParaRPr lang="en-US" sz="1450" dirty="0"/>
          </a:p>
        </p:txBody>
      </p:sp>
      <p:sp>
        <p:nvSpPr>
          <p:cNvPr id="19" name="Text 17"/>
          <p:cNvSpPr/>
          <p:nvPr/>
        </p:nvSpPr>
        <p:spPr>
          <a:xfrm>
            <a:off x="8485632" y="2679192"/>
            <a:ext cx="2944368" cy="457200"/>
          </a:xfrm>
          <a:prstGeom prst="rect">
            <a:avLst/>
          </a:prstGeom>
          <a:noFill/>
          <a:ln/>
        </p:spPr>
        <p:txBody>
          <a:bodyPr wrap="square" lIns="0" tIns="0" rIns="0" bIns="0" rtlCol="0" anchor="t"/>
          <a:lstStyle/>
          <a:p>
            <a:pPr marL="0" indent="0">
              <a:lnSpc>
                <a:spcPts val="1500"/>
              </a:lnSpc>
              <a:buNone/>
            </a:pPr>
            <a:r>
              <a:rPr lang="en-US" sz="1150" dirty="0">
                <a:solidFill>
                  <a:srgbClr val="6E7480"/>
                </a:solidFill>
                <a:latin typeface="Calibri" pitchFamily="34" charset="0"/>
                <a:ea typeface="Calibri" pitchFamily="34" charset="-122"/>
                <a:cs typeface="Calibri" pitchFamily="34" charset="-120"/>
              </a:rPr>
              <a:t>On-site fitting with certified safety practices.</a:t>
            </a:r>
            <a:endParaRPr lang="en-US" sz="1150" dirty="0"/>
          </a:p>
        </p:txBody>
      </p:sp>
      <p:sp>
        <p:nvSpPr>
          <p:cNvPr id="20" name="Shape 18"/>
          <p:cNvSpPr/>
          <p:nvPr/>
        </p:nvSpPr>
        <p:spPr>
          <a:xfrm>
            <a:off x="749808" y="3483864"/>
            <a:ext cx="3456432" cy="146304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21" name="Shape 19"/>
          <p:cNvSpPr/>
          <p:nvPr/>
        </p:nvSpPr>
        <p:spPr>
          <a:xfrm>
            <a:off x="1005840" y="3739896"/>
            <a:ext cx="566928" cy="566928"/>
          </a:xfrm>
          <a:prstGeom prst="ellipse">
            <a:avLst/>
          </a:prstGeom>
          <a:solidFill>
            <a:srgbClr val="15181F"/>
          </a:solidFill>
          <a:ln/>
        </p:spPr>
      </p:sp>
      <p:sp>
        <p:nvSpPr>
          <p:cNvPr id="22" name="Text 20"/>
          <p:cNvSpPr/>
          <p:nvPr/>
        </p:nvSpPr>
        <p:spPr>
          <a:xfrm>
            <a:off x="1005840" y="3739896"/>
            <a:ext cx="566928" cy="566928"/>
          </a:xfrm>
          <a:prstGeom prst="rect">
            <a:avLst/>
          </a:prstGeom>
          <a:noFill/>
          <a:ln/>
        </p:spPr>
        <p:txBody>
          <a:bodyPr wrap="square" lIns="0" tIns="0" rIns="0" bIns="0" rtlCol="0" anchor="ctr"/>
          <a:lstStyle/>
          <a:p>
            <a:pPr marL="0" indent="0" algn="ctr">
              <a:buNone/>
            </a:pPr>
            <a:r>
              <a:rPr lang="en-US" sz="1600" b="1" dirty="0">
                <a:solidFill>
                  <a:srgbClr val="E0C778"/>
                </a:solidFill>
                <a:latin typeface="Georgia" pitchFamily="34" charset="0"/>
                <a:ea typeface="Georgia" pitchFamily="34" charset="-122"/>
                <a:cs typeface="Georgia" pitchFamily="34" charset="-120"/>
              </a:rPr>
              <a:t>04</a:t>
            </a:r>
            <a:endParaRPr lang="en-US" sz="1600" dirty="0"/>
          </a:p>
        </p:txBody>
      </p:sp>
      <p:sp>
        <p:nvSpPr>
          <p:cNvPr id="23" name="Text 21"/>
          <p:cNvSpPr/>
          <p:nvPr/>
        </p:nvSpPr>
        <p:spPr>
          <a:xfrm>
            <a:off x="1719072" y="3721608"/>
            <a:ext cx="2304288" cy="603504"/>
          </a:xfrm>
          <a:prstGeom prst="rect">
            <a:avLst/>
          </a:prstGeom>
          <a:noFill/>
          <a:ln/>
        </p:spPr>
        <p:txBody>
          <a:bodyPr wrap="square" lIns="0" tIns="0" rIns="0" bIns="0" rtlCol="0" anchor="ctr"/>
          <a:lstStyle/>
          <a:p>
            <a:pPr marL="0" indent="0">
              <a:buNone/>
            </a:pPr>
            <a:r>
              <a:rPr lang="en-US" sz="1450" b="1" dirty="0">
                <a:solidFill>
                  <a:srgbClr val="15181F"/>
                </a:solidFill>
                <a:latin typeface="Georgia" pitchFamily="34" charset="0"/>
                <a:ea typeface="Georgia" pitchFamily="34" charset="-122"/>
                <a:cs typeface="Georgia" pitchFamily="34" charset="-120"/>
              </a:rPr>
              <a:t>Structural Facades &amp; Curtain Walls</a:t>
            </a:r>
            <a:endParaRPr lang="en-US" sz="1450" dirty="0"/>
          </a:p>
        </p:txBody>
      </p:sp>
      <p:sp>
        <p:nvSpPr>
          <p:cNvPr id="24" name="Text 22"/>
          <p:cNvSpPr/>
          <p:nvPr/>
        </p:nvSpPr>
        <p:spPr>
          <a:xfrm>
            <a:off x="1024128" y="4379976"/>
            <a:ext cx="2944368" cy="457200"/>
          </a:xfrm>
          <a:prstGeom prst="rect">
            <a:avLst/>
          </a:prstGeom>
          <a:noFill/>
          <a:ln/>
        </p:spPr>
        <p:txBody>
          <a:bodyPr wrap="square" lIns="0" tIns="0" rIns="0" bIns="0" rtlCol="0" anchor="t"/>
          <a:lstStyle/>
          <a:p>
            <a:pPr marL="0" indent="0">
              <a:lnSpc>
                <a:spcPts val="1500"/>
              </a:lnSpc>
              <a:buNone/>
            </a:pPr>
            <a:r>
              <a:rPr lang="en-US" sz="1150" dirty="0">
                <a:solidFill>
                  <a:srgbClr val="6E7480"/>
                </a:solidFill>
                <a:latin typeface="Calibri" pitchFamily="34" charset="0"/>
                <a:ea typeface="Calibri" pitchFamily="34" charset="-122"/>
                <a:cs typeface="Calibri" pitchFamily="34" charset="-120"/>
              </a:rPr>
              <a:t>Structural glazing for commercial buildings.</a:t>
            </a:r>
            <a:endParaRPr lang="en-US" sz="1150" dirty="0"/>
          </a:p>
        </p:txBody>
      </p:sp>
      <p:sp>
        <p:nvSpPr>
          <p:cNvPr id="25" name="Shape 23"/>
          <p:cNvSpPr/>
          <p:nvPr/>
        </p:nvSpPr>
        <p:spPr>
          <a:xfrm>
            <a:off x="4480560" y="3483864"/>
            <a:ext cx="3456432" cy="146304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26" name="Shape 24"/>
          <p:cNvSpPr/>
          <p:nvPr/>
        </p:nvSpPr>
        <p:spPr>
          <a:xfrm>
            <a:off x="4736592" y="3739896"/>
            <a:ext cx="566928" cy="566928"/>
          </a:xfrm>
          <a:prstGeom prst="ellipse">
            <a:avLst/>
          </a:prstGeom>
          <a:solidFill>
            <a:srgbClr val="15181F"/>
          </a:solidFill>
          <a:ln/>
        </p:spPr>
      </p:sp>
      <p:sp>
        <p:nvSpPr>
          <p:cNvPr id="27" name="Text 25"/>
          <p:cNvSpPr/>
          <p:nvPr/>
        </p:nvSpPr>
        <p:spPr>
          <a:xfrm>
            <a:off x="4736592" y="3739896"/>
            <a:ext cx="566928" cy="566928"/>
          </a:xfrm>
          <a:prstGeom prst="rect">
            <a:avLst/>
          </a:prstGeom>
          <a:noFill/>
          <a:ln/>
        </p:spPr>
        <p:txBody>
          <a:bodyPr wrap="square" lIns="0" tIns="0" rIns="0" bIns="0" rtlCol="0" anchor="ctr"/>
          <a:lstStyle/>
          <a:p>
            <a:pPr marL="0" indent="0" algn="ctr">
              <a:buNone/>
            </a:pPr>
            <a:r>
              <a:rPr lang="en-US" sz="1600" b="1" dirty="0">
                <a:solidFill>
                  <a:srgbClr val="E0C778"/>
                </a:solidFill>
                <a:latin typeface="Georgia" pitchFamily="34" charset="0"/>
                <a:ea typeface="Georgia" pitchFamily="34" charset="-122"/>
                <a:cs typeface="Georgia" pitchFamily="34" charset="-120"/>
              </a:rPr>
              <a:t>05</a:t>
            </a:r>
            <a:endParaRPr lang="en-US" sz="1600" dirty="0"/>
          </a:p>
        </p:txBody>
      </p:sp>
      <p:sp>
        <p:nvSpPr>
          <p:cNvPr id="28" name="Text 26"/>
          <p:cNvSpPr/>
          <p:nvPr/>
        </p:nvSpPr>
        <p:spPr>
          <a:xfrm>
            <a:off x="5449824" y="3721608"/>
            <a:ext cx="2304288" cy="603504"/>
          </a:xfrm>
          <a:prstGeom prst="rect">
            <a:avLst/>
          </a:prstGeom>
          <a:noFill/>
          <a:ln/>
        </p:spPr>
        <p:txBody>
          <a:bodyPr wrap="square" lIns="0" tIns="0" rIns="0" bIns="0" rtlCol="0" anchor="ctr"/>
          <a:lstStyle/>
          <a:p>
            <a:pPr marL="0" indent="0">
              <a:buNone/>
            </a:pPr>
            <a:r>
              <a:rPr lang="en-US" sz="1450" b="1" dirty="0">
                <a:solidFill>
                  <a:srgbClr val="15181F"/>
                </a:solidFill>
                <a:latin typeface="Georgia" pitchFamily="34" charset="0"/>
                <a:ea typeface="Georgia" pitchFamily="34" charset="-122"/>
                <a:cs typeface="Georgia" pitchFamily="34" charset="-120"/>
              </a:rPr>
              <a:t>Sliding &amp; Folding Systems</a:t>
            </a:r>
            <a:endParaRPr lang="en-US" sz="1450" dirty="0"/>
          </a:p>
        </p:txBody>
      </p:sp>
      <p:sp>
        <p:nvSpPr>
          <p:cNvPr id="29" name="Text 27"/>
          <p:cNvSpPr/>
          <p:nvPr/>
        </p:nvSpPr>
        <p:spPr>
          <a:xfrm>
            <a:off x="4754880" y="4379976"/>
            <a:ext cx="2944368" cy="457200"/>
          </a:xfrm>
          <a:prstGeom prst="rect">
            <a:avLst/>
          </a:prstGeom>
          <a:noFill/>
          <a:ln/>
        </p:spPr>
        <p:txBody>
          <a:bodyPr wrap="square" lIns="0" tIns="0" rIns="0" bIns="0" rtlCol="0" anchor="t"/>
          <a:lstStyle/>
          <a:p>
            <a:pPr marL="0" indent="0">
              <a:lnSpc>
                <a:spcPts val="1500"/>
              </a:lnSpc>
              <a:buNone/>
            </a:pPr>
            <a:r>
              <a:rPr lang="en-US" sz="1150" dirty="0">
                <a:solidFill>
                  <a:srgbClr val="6E7480"/>
                </a:solidFill>
                <a:latin typeface="Calibri" pitchFamily="34" charset="0"/>
                <a:ea typeface="Calibri" pitchFamily="34" charset="-122"/>
                <a:cs typeface="Calibri" pitchFamily="34" charset="-120"/>
              </a:rPr>
              <a:t>Seamless indoor-outdoor transitions.</a:t>
            </a:r>
            <a:endParaRPr lang="en-US" sz="1150" dirty="0"/>
          </a:p>
        </p:txBody>
      </p:sp>
      <p:sp>
        <p:nvSpPr>
          <p:cNvPr id="30" name="Shape 28"/>
          <p:cNvSpPr/>
          <p:nvPr/>
        </p:nvSpPr>
        <p:spPr>
          <a:xfrm>
            <a:off x="8211312" y="3483864"/>
            <a:ext cx="3591482" cy="146304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31" name="Shape 29"/>
          <p:cNvSpPr/>
          <p:nvPr/>
        </p:nvSpPr>
        <p:spPr>
          <a:xfrm>
            <a:off x="8467344" y="3739896"/>
            <a:ext cx="566928" cy="566928"/>
          </a:xfrm>
          <a:prstGeom prst="ellipse">
            <a:avLst/>
          </a:prstGeom>
          <a:solidFill>
            <a:srgbClr val="15181F"/>
          </a:solidFill>
          <a:ln/>
        </p:spPr>
      </p:sp>
      <p:sp>
        <p:nvSpPr>
          <p:cNvPr id="32" name="Text 30"/>
          <p:cNvSpPr/>
          <p:nvPr/>
        </p:nvSpPr>
        <p:spPr>
          <a:xfrm>
            <a:off x="8467344" y="3739896"/>
            <a:ext cx="566928" cy="566928"/>
          </a:xfrm>
          <a:prstGeom prst="rect">
            <a:avLst/>
          </a:prstGeom>
          <a:noFill/>
          <a:ln/>
        </p:spPr>
        <p:txBody>
          <a:bodyPr wrap="square" lIns="0" tIns="0" rIns="0" bIns="0" rtlCol="0" anchor="ctr"/>
          <a:lstStyle/>
          <a:p>
            <a:pPr marL="0" indent="0" algn="ctr">
              <a:buNone/>
            </a:pPr>
            <a:r>
              <a:rPr lang="en-US" sz="1600" b="1" dirty="0">
                <a:solidFill>
                  <a:srgbClr val="E0C778"/>
                </a:solidFill>
                <a:latin typeface="Georgia" pitchFamily="34" charset="0"/>
                <a:ea typeface="Georgia" pitchFamily="34" charset="-122"/>
                <a:cs typeface="Georgia" pitchFamily="34" charset="-120"/>
              </a:rPr>
              <a:t>06</a:t>
            </a:r>
            <a:endParaRPr lang="en-US" sz="1600" dirty="0"/>
          </a:p>
        </p:txBody>
      </p:sp>
      <p:sp>
        <p:nvSpPr>
          <p:cNvPr id="33" name="Text 31"/>
          <p:cNvSpPr/>
          <p:nvPr/>
        </p:nvSpPr>
        <p:spPr>
          <a:xfrm>
            <a:off x="9180576" y="3721608"/>
            <a:ext cx="2487168" cy="603504"/>
          </a:xfrm>
          <a:prstGeom prst="rect">
            <a:avLst/>
          </a:prstGeom>
          <a:noFill/>
          <a:ln/>
        </p:spPr>
        <p:txBody>
          <a:bodyPr wrap="square" lIns="0" tIns="0" rIns="0" bIns="0" rtlCol="0" anchor="ctr"/>
          <a:lstStyle/>
          <a:p>
            <a:pPr marL="0" indent="0">
              <a:buNone/>
            </a:pPr>
            <a:r>
              <a:rPr lang="en-US" sz="1450" b="1" dirty="0">
                <a:solidFill>
                  <a:srgbClr val="15181F"/>
                </a:solidFill>
                <a:latin typeface="Georgia" pitchFamily="34" charset="0"/>
                <a:ea typeface="Georgia" pitchFamily="34" charset="-122"/>
                <a:cs typeface="Georgia" pitchFamily="34" charset="-120"/>
              </a:rPr>
              <a:t>Sun Protection, Insect Screens &amp; Roller Shutters</a:t>
            </a:r>
            <a:endParaRPr lang="en-US" sz="1450" dirty="0"/>
          </a:p>
        </p:txBody>
      </p:sp>
      <p:sp>
        <p:nvSpPr>
          <p:cNvPr id="34" name="Text 32"/>
          <p:cNvSpPr/>
          <p:nvPr/>
        </p:nvSpPr>
        <p:spPr>
          <a:xfrm>
            <a:off x="8485632" y="4379976"/>
            <a:ext cx="2944368" cy="457200"/>
          </a:xfrm>
          <a:prstGeom prst="rect">
            <a:avLst/>
          </a:prstGeom>
          <a:noFill/>
          <a:ln/>
        </p:spPr>
        <p:txBody>
          <a:bodyPr wrap="square" lIns="0" tIns="0" rIns="0" bIns="0" rtlCol="0" anchor="t"/>
          <a:lstStyle/>
          <a:p>
            <a:pPr marL="0" indent="0">
              <a:lnSpc>
                <a:spcPts val="1500"/>
              </a:lnSpc>
              <a:buNone/>
            </a:pPr>
            <a:r>
              <a:rPr lang="en-US" sz="1150" dirty="0">
                <a:solidFill>
                  <a:srgbClr val="6E7480"/>
                </a:solidFill>
                <a:latin typeface="Calibri" pitchFamily="34" charset="0"/>
                <a:ea typeface="Calibri" pitchFamily="34" charset="-122"/>
                <a:cs typeface="Calibri" pitchFamily="34" charset="-120"/>
              </a:rPr>
              <a:t>Roller shutters, insect screens, blinds and screening.</a:t>
            </a:r>
            <a:endParaRPr lang="en-US" sz="1150" dirty="0"/>
          </a:p>
        </p:txBody>
      </p:sp>
      <p:sp>
        <p:nvSpPr>
          <p:cNvPr id="35" name="Text 33"/>
          <p:cNvSpPr/>
          <p:nvPr/>
        </p:nvSpPr>
        <p:spPr>
          <a:xfrm>
            <a:off x="566928" y="6437376"/>
            <a:ext cx="6400800" cy="274320"/>
          </a:xfrm>
          <a:prstGeom prst="rect">
            <a:avLst/>
          </a:prstGeom>
          <a:noFill/>
          <a:ln/>
        </p:spPr>
        <p:txBody>
          <a:bodyPr wrap="square" rtlCol="0" anchor="ctr"/>
          <a:lstStyle/>
          <a:p>
            <a:pPr marL="0" indent="0" algn="l">
              <a:buNone/>
            </a:pPr>
            <a:r>
              <a:rPr lang="en-US" sz="850" kern="0" spc="100" dirty="0">
                <a:solidFill>
                  <a:srgbClr val="6E7480"/>
                </a:solidFill>
                <a:latin typeface="Calibri" pitchFamily="34" charset="0"/>
                <a:ea typeface="Calibri" pitchFamily="34" charset="-122"/>
                <a:cs typeface="Calibri" pitchFamily="34" charset="-120"/>
              </a:rPr>
              <a:t>ART SER - Company Portfolio</a:t>
            </a:r>
            <a:endParaRPr lang="en-US" sz="850" dirty="0"/>
          </a:p>
        </p:txBody>
      </p:sp>
      <p:sp>
        <p:nvSpPr>
          <p:cNvPr id="36" name="Text 34"/>
          <p:cNvSpPr/>
          <p:nvPr/>
        </p:nvSpPr>
        <p:spPr>
          <a:xfrm>
            <a:off x="10707624" y="6437376"/>
            <a:ext cx="914400" cy="274320"/>
          </a:xfrm>
          <a:prstGeom prst="rect">
            <a:avLst/>
          </a:prstGeom>
          <a:noFill/>
          <a:ln/>
        </p:spPr>
        <p:txBody>
          <a:bodyPr wrap="square" rtlCol="0" anchor="ctr"/>
          <a:lstStyle/>
          <a:p>
            <a:pPr marL="0" indent="0" algn="r">
              <a:buNone/>
            </a:pPr>
            <a:r>
              <a:rPr lang="en-US" sz="850" dirty="0">
                <a:solidFill>
                  <a:srgbClr val="6E7480"/>
                </a:solidFill>
                <a:latin typeface="Calibri" pitchFamily="34" charset="0"/>
                <a:ea typeface="Calibri" pitchFamily="34" charset="-122"/>
                <a:cs typeface="Calibri"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566928" y="566928"/>
            <a:ext cx="82296" cy="384048"/>
          </a:xfrm>
          <a:prstGeom prst="rect">
            <a:avLst/>
          </a:prstGeom>
          <a:solidFill>
            <a:srgbClr val="C2A14B"/>
          </a:solidFill>
          <a:ln/>
        </p:spPr>
      </p:sp>
      <p:sp>
        <p:nvSpPr>
          <p:cNvPr id="3" name="Text 1"/>
          <p:cNvSpPr/>
          <p:nvPr/>
        </p:nvSpPr>
        <p:spPr>
          <a:xfrm>
            <a:off x="768096" y="530352"/>
            <a:ext cx="9144000" cy="274320"/>
          </a:xfrm>
          <a:prstGeom prst="rect">
            <a:avLst/>
          </a:prstGeom>
          <a:noFill/>
          <a:ln/>
        </p:spPr>
        <p:txBody>
          <a:bodyPr wrap="square" lIns="0" tIns="0" rIns="0" bIns="0" rtlCol="0" anchor="ctr"/>
          <a:lstStyle/>
          <a:p>
            <a:pPr marL="0" indent="0">
              <a:buNone/>
            </a:pPr>
            <a:r>
              <a:rPr lang="en-US" sz="1100" b="1" kern="0" spc="200" dirty="0">
                <a:solidFill>
                  <a:srgbClr val="C2A14B"/>
                </a:solidFill>
                <a:latin typeface="Calibri" pitchFamily="34" charset="0"/>
                <a:ea typeface="Calibri" pitchFamily="34" charset="-122"/>
                <a:cs typeface="Calibri" pitchFamily="34" charset="-120"/>
              </a:rPr>
              <a:t>EXPERTISE</a:t>
            </a:r>
            <a:endParaRPr lang="en-US" sz="1100" dirty="0"/>
          </a:p>
        </p:txBody>
      </p:sp>
      <p:sp>
        <p:nvSpPr>
          <p:cNvPr id="4" name="Text 2"/>
          <p:cNvSpPr/>
          <p:nvPr/>
        </p:nvSpPr>
        <p:spPr>
          <a:xfrm>
            <a:off x="749808" y="841248"/>
            <a:ext cx="10515600" cy="603504"/>
          </a:xfrm>
          <a:prstGeom prst="rect">
            <a:avLst/>
          </a:prstGeom>
          <a:noFill/>
          <a:ln/>
        </p:spPr>
        <p:txBody>
          <a:bodyPr wrap="square" lIns="0" tIns="0" rIns="0" bIns="0" rtlCol="0" anchor="ctr"/>
          <a:lstStyle/>
          <a:p>
            <a:pPr marL="0" indent="0">
              <a:buNone/>
            </a:pPr>
            <a:r>
              <a:rPr lang="en-US" sz="3000" b="1" dirty="0">
                <a:solidFill>
                  <a:srgbClr val="15181F"/>
                </a:solidFill>
                <a:latin typeface="Georgia" pitchFamily="34" charset="0"/>
                <a:ea typeface="Georgia" pitchFamily="34" charset="-122"/>
                <a:cs typeface="Georgia" pitchFamily="34" charset="-120"/>
              </a:rPr>
              <a:t>Expertise &amp; Craftsmanship</a:t>
            </a:r>
            <a:endParaRPr lang="en-US" sz="3000" dirty="0"/>
          </a:p>
        </p:txBody>
      </p:sp>
      <p:sp>
        <p:nvSpPr>
          <p:cNvPr id="5" name="Shape 3"/>
          <p:cNvSpPr/>
          <p:nvPr/>
        </p:nvSpPr>
        <p:spPr>
          <a:xfrm>
            <a:off x="7040880" y="1691640"/>
            <a:ext cx="4572000" cy="443484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pic>
        <p:nvPicPr>
          <p:cNvPr id="6" name="Image 0" descr="/sessions/quirky-great-planck/mnt/outputs/deck/assets/door.jpg"/>
          <p:cNvPicPr>
            <a:picLocks noChangeAspect="1"/>
          </p:cNvPicPr>
          <p:nvPr/>
        </p:nvPicPr>
        <p:blipFill>
          <a:blip r:embed="rId3"/>
          <a:srcRect t="1537" b="1537"/>
          <a:stretch/>
        </p:blipFill>
        <p:spPr>
          <a:xfrm>
            <a:off x="7095744" y="1746504"/>
            <a:ext cx="4462272" cy="4325112"/>
          </a:xfrm>
          <a:prstGeom prst="rect">
            <a:avLst/>
          </a:prstGeom>
        </p:spPr>
      </p:pic>
      <p:sp>
        <p:nvSpPr>
          <p:cNvPr id="7" name="Shape 4"/>
          <p:cNvSpPr/>
          <p:nvPr/>
        </p:nvSpPr>
        <p:spPr>
          <a:xfrm>
            <a:off x="7040880" y="1691640"/>
            <a:ext cx="4572000" cy="64008"/>
          </a:xfrm>
          <a:prstGeom prst="rect">
            <a:avLst/>
          </a:prstGeom>
          <a:solidFill>
            <a:srgbClr val="C2A14B"/>
          </a:solidFill>
          <a:ln/>
        </p:spPr>
      </p:sp>
      <p:sp>
        <p:nvSpPr>
          <p:cNvPr id="8" name="Shape 5"/>
          <p:cNvSpPr/>
          <p:nvPr/>
        </p:nvSpPr>
        <p:spPr>
          <a:xfrm>
            <a:off x="749808" y="1847088"/>
            <a:ext cx="146304" cy="146304"/>
          </a:xfrm>
          <a:prstGeom prst="rect">
            <a:avLst/>
          </a:prstGeom>
          <a:solidFill>
            <a:srgbClr val="C2A14B"/>
          </a:solidFill>
          <a:ln/>
        </p:spPr>
      </p:sp>
      <p:sp>
        <p:nvSpPr>
          <p:cNvPr id="9" name="Text 6"/>
          <p:cNvSpPr/>
          <p:nvPr/>
        </p:nvSpPr>
        <p:spPr>
          <a:xfrm>
            <a:off x="1042416" y="1827276"/>
            <a:ext cx="5943600" cy="320040"/>
          </a:xfrm>
          <a:prstGeom prst="rect">
            <a:avLst/>
          </a:prstGeom>
          <a:noFill/>
          <a:ln/>
        </p:spPr>
        <p:txBody>
          <a:bodyPr wrap="square" lIns="0" tIns="0" rIns="0" bIns="0" rtlCol="0" anchor="t"/>
          <a:lstStyle/>
          <a:p>
            <a:r>
              <a:rPr lang="it-IT" sz="1350" b="1" dirty="0"/>
              <a:t>Excellence in production</a:t>
            </a:r>
            <a:r>
              <a:rPr lang="it-IT" sz="1350" dirty="0"/>
              <a:t>: We manufacture durable, certified aluminium and PVC window and door frames.</a:t>
            </a:r>
            <a:endParaRPr lang="en-US" sz="1350" dirty="0"/>
          </a:p>
        </p:txBody>
      </p:sp>
      <p:sp>
        <p:nvSpPr>
          <p:cNvPr id="10" name="Shape 7"/>
          <p:cNvSpPr/>
          <p:nvPr/>
        </p:nvSpPr>
        <p:spPr>
          <a:xfrm>
            <a:off x="749808" y="2395728"/>
            <a:ext cx="146304" cy="146304"/>
          </a:xfrm>
          <a:prstGeom prst="rect">
            <a:avLst/>
          </a:prstGeom>
          <a:solidFill>
            <a:srgbClr val="C2A14B"/>
          </a:solidFill>
          <a:ln/>
        </p:spPr>
      </p:sp>
      <p:sp>
        <p:nvSpPr>
          <p:cNvPr id="11" name="Text 8"/>
          <p:cNvSpPr/>
          <p:nvPr/>
        </p:nvSpPr>
        <p:spPr>
          <a:xfrm>
            <a:off x="1042416" y="2386584"/>
            <a:ext cx="5943600" cy="310896"/>
          </a:xfrm>
          <a:prstGeom prst="rect">
            <a:avLst/>
          </a:prstGeom>
          <a:noFill/>
          <a:ln/>
        </p:spPr>
        <p:txBody>
          <a:bodyPr wrap="square" lIns="0" tIns="0" rIns="0" bIns="0" rtlCol="0" anchor="t"/>
          <a:lstStyle/>
          <a:p>
            <a:pPr marL="0" indent="0">
              <a:buNone/>
            </a:pPr>
            <a:r>
              <a:rPr lang="en-US" sz="1350" b="1" dirty="0">
                <a:solidFill>
                  <a:srgbClr val="262A31"/>
                </a:solidFill>
                <a:latin typeface="Calibri" pitchFamily="34" charset="0"/>
                <a:ea typeface="Calibri" pitchFamily="34" charset="-122"/>
                <a:cs typeface="Calibri" pitchFamily="34" charset="-120"/>
              </a:rPr>
              <a:t>Supply and installation </a:t>
            </a:r>
            <a:r>
              <a:rPr lang="en-US" sz="1350" dirty="0">
                <a:solidFill>
                  <a:srgbClr val="262A31"/>
                </a:solidFill>
                <a:latin typeface="Calibri" pitchFamily="34" charset="0"/>
                <a:ea typeface="Calibri" pitchFamily="34" charset="-122"/>
                <a:cs typeface="Calibri" pitchFamily="34" charset="-120"/>
              </a:rPr>
              <a:t>of PVC windows and doors, roller shutters and insect screens.</a:t>
            </a:r>
            <a:endParaRPr lang="en-US" sz="1350" dirty="0"/>
          </a:p>
        </p:txBody>
      </p:sp>
      <p:sp>
        <p:nvSpPr>
          <p:cNvPr id="12" name="Shape 9"/>
          <p:cNvSpPr/>
          <p:nvPr/>
        </p:nvSpPr>
        <p:spPr>
          <a:xfrm>
            <a:off x="749808" y="2944368"/>
            <a:ext cx="146304" cy="146304"/>
          </a:xfrm>
          <a:prstGeom prst="rect">
            <a:avLst/>
          </a:prstGeom>
          <a:solidFill>
            <a:srgbClr val="C2A14B"/>
          </a:solidFill>
          <a:ln/>
        </p:spPr>
      </p:sp>
      <p:sp>
        <p:nvSpPr>
          <p:cNvPr id="13" name="Text 10"/>
          <p:cNvSpPr/>
          <p:nvPr/>
        </p:nvSpPr>
        <p:spPr>
          <a:xfrm>
            <a:off x="1042416" y="2942664"/>
            <a:ext cx="5943600" cy="310896"/>
          </a:xfrm>
          <a:prstGeom prst="rect">
            <a:avLst/>
          </a:prstGeom>
          <a:noFill/>
          <a:ln/>
        </p:spPr>
        <p:txBody>
          <a:bodyPr wrap="square" lIns="0" tIns="0" rIns="0" bIns="0" rtlCol="0" anchor="t"/>
          <a:lstStyle/>
          <a:p>
            <a:r>
              <a:rPr lang="it-IT" sz="1350" b="1" dirty="0"/>
              <a:t>Industrial and residential solutions</a:t>
            </a:r>
            <a:r>
              <a:rPr lang="it-IT" sz="1350" dirty="0"/>
              <a:t>: From home windows and doors to large structural facades.</a:t>
            </a:r>
            <a:endParaRPr lang="en-US" sz="1350" dirty="0"/>
          </a:p>
        </p:txBody>
      </p:sp>
      <p:sp>
        <p:nvSpPr>
          <p:cNvPr id="14" name="Shape 11"/>
          <p:cNvSpPr/>
          <p:nvPr/>
        </p:nvSpPr>
        <p:spPr>
          <a:xfrm>
            <a:off x="749808" y="3493008"/>
            <a:ext cx="146304" cy="146304"/>
          </a:xfrm>
          <a:prstGeom prst="rect">
            <a:avLst/>
          </a:prstGeom>
          <a:solidFill>
            <a:srgbClr val="C2A14B"/>
          </a:solidFill>
          <a:ln/>
        </p:spPr>
      </p:sp>
      <p:sp>
        <p:nvSpPr>
          <p:cNvPr id="15" name="Text 12"/>
          <p:cNvSpPr/>
          <p:nvPr/>
        </p:nvSpPr>
        <p:spPr>
          <a:xfrm>
            <a:off x="1042416" y="3479023"/>
            <a:ext cx="5943600" cy="457200"/>
          </a:xfrm>
          <a:prstGeom prst="rect">
            <a:avLst/>
          </a:prstGeom>
          <a:noFill/>
          <a:ln/>
        </p:spPr>
        <p:txBody>
          <a:bodyPr wrap="square" lIns="0" tIns="0" rIns="0" bIns="0" rtlCol="0" anchor="t"/>
          <a:lstStyle/>
          <a:p>
            <a:r>
              <a:rPr lang="it-IT" sz="1350" b="1" dirty="0"/>
              <a:t>Technical execution</a:t>
            </a:r>
            <a:r>
              <a:rPr lang="it-IT" sz="1350" dirty="0"/>
              <a:t>: We manage complex projects with the utmost engineering precision.</a:t>
            </a:r>
            <a:endParaRPr lang="en-US" sz="1350" dirty="0"/>
          </a:p>
        </p:txBody>
      </p:sp>
      <p:sp>
        <p:nvSpPr>
          <p:cNvPr id="16" name="Shape 13"/>
          <p:cNvSpPr/>
          <p:nvPr/>
        </p:nvSpPr>
        <p:spPr>
          <a:xfrm>
            <a:off x="749808" y="4041648"/>
            <a:ext cx="146304" cy="146304"/>
          </a:xfrm>
          <a:prstGeom prst="rect">
            <a:avLst/>
          </a:prstGeom>
          <a:solidFill>
            <a:srgbClr val="C2A14B"/>
          </a:solidFill>
          <a:ln/>
        </p:spPr>
      </p:sp>
      <p:sp>
        <p:nvSpPr>
          <p:cNvPr id="17" name="Text 14"/>
          <p:cNvSpPr/>
          <p:nvPr/>
        </p:nvSpPr>
        <p:spPr>
          <a:xfrm>
            <a:off x="1042416" y="4028201"/>
            <a:ext cx="5943600" cy="457200"/>
          </a:xfrm>
          <a:prstGeom prst="rect">
            <a:avLst/>
          </a:prstGeom>
          <a:noFill/>
          <a:ln/>
        </p:spPr>
        <p:txBody>
          <a:bodyPr wrap="square" lIns="0" tIns="0" rIns="0" bIns="0" rtlCol="0" anchor="t"/>
          <a:lstStyle/>
          <a:p>
            <a:r>
              <a:rPr lang="it-IT" sz="1350" b="1" dirty="0"/>
              <a:t>Skilled installation</a:t>
            </a:r>
            <a:r>
              <a:rPr lang="it-IT" sz="1350" dirty="0"/>
              <a:t>: Workmanlike installation for maximum thermal insulation.</a:t>
            </a:r>
            <a:endParaRPr lang="en-US" sz="1350" dirty="0"/>
          </a:p>
        </p:txBody>
      </p:sp>
      <p:sp>
        <p:nvSpPr>
          <p:cNvPr id="18" name="Shape 15"/>
          <p:cNvSpPr/>
          <p:nvPr/>
        </p:nvSpPr>
        <p:spPr>
          <a:xfrm>
            <a:off x="749808" y="4754880"/>
            <a:ext cx="6080760" cy="1078992"/>
          </a:xfrm>
          <a:prstGeom prst="rect">
            <a:avLst/>
          </a:prstGeom>
          <a:solidFill>
            <a:srgbClr val="15181F"/>
          </a:solidFill>
          <a:ln/>
        </p:spPr>
      </p:sp>
      <p:sp>
        <p:nvSpPr>
          <p:cNvPr id="19" name="Text 16"/>
          <p:cNvSpPr/>
          <p:nvPr/>
        </p:nvSpPr>
        <p:spPr>
          <a:xfrm>
            <a:off x="978408" y="4882896"/>
            <a:ext cx="5486400" cy="274320"/>
          </a:xfrm>
          <a:prstGeom prst="rect">
            <a:avLst/>
          </a:prstGeom>
          <a:noFill/>
          <a:ln/>
        </p:spPr>
        <p:txBody>
          <a:bodyPr wrap="square" lIns="0" tIns="0" rIns="0" bIns="0" rtlCol="0" anchor="ctr"/>
          <a:lstStyle/>
          <a:p>
            <a:pPr marL="0" indent="0">
              <a:buNone/>
            </a:pPr>
            <a:r>
              <a:rPr lang="en-US" sz="1000" b="1" kern="0" spc="200" dirty="0">
                <a:solidFill>
                  <a:srgbClr val="E0C778"/>
                </a:solidFill>
                <a:latin typeface="Calibri" pitchFamily="34" charset="0"/>
                <a:ea typeface="Calibri" pitchFamily="34" charset="-122"/>
                <a:cs typeface="Calibri" pitchFamily="34" charset="-120"/>
              </a:rPr>
              <a:t>QUALIFICATIONS</a:t>
            </a:r>
            <a:endParaRPr lang="en-US" sz="1000" dirty="0"/>
          </a:p>
        </p:txBody>
      </p:sp>
      <p:sp>
        <p:nvSpPr>
          <p:cNvPr id="20" name="Text 17"/>
          <p:cNvSpPr/>
          <p:nvPr/>
        </p:nvSpPr>
        <p:spPr>
          <a:xfrm>
            <a:off x="978408" y="5157216"/>
            <a:ext cx="5669280" cy="548640"/>
          </a:xfrm>
          <a:prstGeom prst="rect">
            <a:avLst/>
          </a:prstGeom>
          <a:noFill/>
          <a:ln/>
        </p:spPr>
        <p:txBody>
          <a:bodyPr wrap="square" lIns="0" tIns="0" rIns="0" bIns="0" rtlCol="0" anchor="t"/>
          <a:lstStyle/>
          <a:p>
            <a:pPr marL="0" indent="0">
              <a:lnSpc>
                <a:spcPts val="1600"/>
              </a:lnSpc>
              <a:buNone/>
            </a:pPr>
            <a:r>
              <a:rPr lang="en-US" sz="1200" dirty="0">
                <a:solidFill>
                  <a:srgbClr val="E8E9EB"/>
                </a:solidFill>
                <a:latin typeface="Calibri" pitchFamily="34" charset="0"/>
                <a:ea typeface="Calibri" pitchFamily="34" charset="-122"/>
                <a:cs typeface="Calibri" pitchFamily="34" charset="-120"/>
              </a:rPr>
              <a:t>Window &amp; door installation - Work at height (Cat. III PPE) - MEWP operation - First aid - Fire safety</a:t>
            </a:r>
            <a:endParaRPr lang="en-US" sz="1200" dirty="0"/>
          </a:p>
        </p:txBody>
      </p:sp>
      <p:sp>
        <p:nvSpPr>
          <p:cNvPr id="21" name="Text 18"/>
          <p:cNvSpPr/>
          <p:nvPr/>
        </p:nvSpPr>
        <p:spPr>
          <a:xfrm>
            <a:off x="566928" y="6437376"/>
            <a:ext cx="6400800" cy="274320"/>
          </a:xfrm>
          <a:prstGeom prst="rect">
            <a:avLst/>
          </a:prstGeom>
          <a:noFill/>
          <a:ln/>
        </p:spPr>
        <p:txBody>
          <a:bodyPr wrap="square" rtlCol="0" anchor="ctr"/>
          <a:lstStyle/>
          <a:p>
            <a:pPr marL="0" indent="0" algn="l">
              <a:buNone/>
            </a:pPr>
            <a:r>
              <a:rPr lang="en-US" sz="850" kern="0" spc="100" dirty="0">
                <a:solidFill>
                  <a:srgbClr val="6E7480"/>
                </a:solidFill>
                <a:latin typeface="Calibri" pitchFamily="34" charset="0"/>
                <a:ea typeface="Calibri" pitchFamily="34" charset="-122"/>
                <a:cs typeface="Calibri" pitchFamily="34" charset="-120"/>
              </a:rPr>
              <a:t>ART SER - Company Portfolio</a:t>
            </a:r>
            <a:endParaRPr lang="en-US" sz="850" dirty="0"/>
          </a:p>
        </p:txBody>
      </p:sp>
      <p:sp>
        <p:nvSpPr>
          <p:cNvPr id="22" name="Text 19"/>
          <p:cNvSpPr/>
          <p:nvPr/>
        </p:nvSpPr>
        <p:spPr>
          <a:xfrm>
            <a:off x="10707624" y="6437376"/>
            <a:ext cx="914400" cy="274320"/>
          </a:xfrm>
          <a:prstGeom prst="rect">
            <a:avLst/>
          </a:prstGeom>
          <a:noFill/>
          <a:ln/>
        </p:spPr>
        <p:txBody>
          <a:bodyPr wrap="square" rtlCol="0" anchor="ctr"/>
          <a:lstStyle/>
          <a:p>
            <a:pPr marL="0" indent="0" algn="r">
              <a:buNone/>
            </a:pPr>
            <a:r>
              <a:rPr lang="en-US" sz="850" dirty="0">
                <a:solidFill>
                  <a:srgbClr val="6E7480"/>
                </a:solidFill>
                <a:latin typeface="Calibri" pitchFamily="34" charset="0"/>
                <a:ea typeface="Calibri" pitchFamily="34" charset="-122"/>
                <a:cs typeface="Calibri"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181F"/>
        </a:solidFill>
        <a:effectLst/>
      </p:bgPr>
    </p:bg>
    <p:spTree>
      <p:nvGrpSpPr>
        <p:cNvPr id="1" name=""/>
        <p:cNvGrpSpPr/>
        <p:nvPr/>
      </p:nvGrpSpPr>
      <p:grpSpPr>
        <a:xfrm>
          <a:off x="0" y="0"/>
          <a:ext cx="0" cy="0"/>
          <a:chOff x="0" y="0"/>
          <a:chExt cx="0" cy="0"/>
        </a:xfrm>
      </p:grpSpPr>
      <p:pic>
        <p:nvPicPr>
          <p:cNvPr id="2" name="Image 0" descr="/sessions/quirky-great-planck/mnt/outputs/deck/assets/iconic.jpg"/>
          <p:cNvPicPr>
            <a:picLocks noChangeAspect="1"/>
          </p:cNvPicPr>
          <p:nvPr/>
        </p:nvPicPr>
        <p:blipFill>
          <a:blip r:embed="rId3"/>
          <a:srcRect/>
          <a:stretch/>
        </p:blipFill>
        <p:spPr>
          <a:xfrm>
            <a:off x="0" y="0"/>
            <a:ext cx="6858000" cy="6858000"/>
          </a:xfrm>
          <a:prstGeom prst="rect">
            <a:avLst/>
          </a:prstGeom>
        </p:spPr>
      </p:pic>
      <p:sp>
        <p:nvSpPr>
          <p:cNvPr id="3" name="Shape 0"/>
          <p:cNvSpPr/>
          <p:nvPr/>
        </p:nvSpPr>
        <p:spPr>
          <a:xfrm>
            <a:off x="6858000" y="0"/>
            <a:ext cx="5330952" cy="6858000"/>
          </a:xfrm>
          <a:prstGeom prst="rect">
            <a:avLst/>
          </a:prstGeom>
          <a:solidFill>
            <a:srgbClr val="15181F"/>
          </a:solidFill>
          <a:ln/>
        </p:spPr>
      </p:sp>
      <p:sp>
        <p:nvSpPr>
          <p:cNvPr id="4" name="Shape 1"/>
          <p:cNvSpPr/>
          <p:nvPr/>
        </p:nvSpPr>
        <p:spPr>
          <a:xfrm>
            <a:off x="6858000" y="0"/>
            <a:ext cx="82296" cy="6858000"/>
          </a:xfrm>
          <a:prstGeom prst="rect">
            <a:avLst/>
          </a:prstGeom>
          <a:solidFill>
            <a:srgbClr val="C2A14B"/>
          </a:solidFill>
          <a:ln/>
        </p:spPr>
      </p:sp>
      <p:sp>
        <p:nvSpPr>
          <p:cNvPr id="5" name="Text 2"/>
          <p:cNvSpPr/>
          <p:nvPr/>
        </p:nvSpPr>
        <p:spPr>
          <a:xfrm>
            <a:off x="7269480" y="777240"/>
            <a:ext cx="4572000" cy="274320"/>
          </a:xfrm>
          <a:prstGeom prst="rect">
            <a:avLst/>
          </a:prstGeom>
          <a:noFill/>
          <a:ln/>
        </p:spPr>
        <p:txBody>
          <a:bodyPr wrap="square" lIns="0" tIns="0" rIns="0" bIns="0" rtlCol="0" anchor="ctr"/>
          <a:lstStyle/>
          <a:p>
            <a:pPr marL="0" indent="0">
              <a:buNone/>
            </a:pPr>
            <a:r>
              <a:rPr lang="en-US" sz="1100" b="1" kern="0" spc="200" dirty="0">
                <a:solidFill>
                  <a:srgbClr val="C2A14B"/>
                </a:solidFill>
                <a:latin typeface="Calibri" pitchFamily="34" charset="0"/>
                <a:ea typeface="Calibri" pitchFamily="34" charset="-122"/>
                <a:cs typeface="Calibri" pitchFamily="34" charset="-120"/>
              </a:rPr>
              <a:t>FEATURED PROJECT</a:t>
            </a:r>
            <a:endParaRPr lang="en-US" sz="1100" dirty="0"/>
          </a:p>
        </p:txBody>
      </p:sp>
      <p:sp>
        <p:nvSpPr>
          <p:cNvPr id="6" name="Text 3"/>
          <p:cNvSpPr/>
          <p:nvPr/>
        </p:nvSpPr>
        <p:spPr>
          <a:xfrm>
            <a:off x="7269480" y="1097280"/>
            <a:ext cx="4572000" cy="914400"/>
          </a:xfrm>
          <a:prstGeom prst="rect">
            <a:avLst/>
          </a:prstGeom>
          <a:noFill/>
          <a:ln/>
        </p:spPr>
        <p:txBody>
          <a:bodyPr wrap="square" lIns="0" tIns="0" rIns="0" bIns="0" rtlCol="0" anchor="t"/>
          <a:lstStyle/>
          <a:p>
            <a:pPr marL="0" indent="0">
              <a:lnSpc>
                <a:spcPts val="2600"/>
              </a:lnSpc>
              <a:buNone/>
            </a:pPr>
            <a:r>
              <a:rPr lang="en-US" sz="2500" b="1" dirty="0">
                <a:solidFill>
                  <a:srgbClr val="FFFFFF"/>
                </a:solidFill>
                <a:latin typeface="Georgia" pitchFamily="34" charset="0"/>
                <a:ea typeface="Georgia" pitchFamily="34" charset="-122"/>
                <a:cs typeface="Georgia" pitchFamily="34" charset="-120"/>
              </a:rPr>
              <a:t>Iconic Commercial Complex</a:t>
            </a:r>
            <a:endParaRPr lang="en-US" sz="2500" dirty="0"/>
          </a:p>
        </p:txBody>
      </p:sp>
      <p:sp>
        <p:nvSpPr>
          <p:cNvPr id="7" name="Text 4"/>
          <p:cNvSpPr/>
          <p:nvPr/>
        </p:nvSpPr>
        <p:spPr>
          <a:xfrm>
            <a:off x="7269480" y="2148840"/>
            <a:ext cx="4572000" cy="640080"/>
          </a:xfrm>
          <a:prstGeom prst="rect">
            <a:avLst/>
          </a:prstGeom>
          <a:noFill/>
          <a:ln/>
        </p:spPr>
        <p:txBody>
          <a:bodyPr wrap="square" lIns="0" tIns="0" rIns="0" bIns="0" rtlCol="0" anchor="t"/>
          <a:lstStyle/>
          <a:p>
            <a:pPr marL="0" indent="0">
              <a:lnSpc>
                <a:spcPts val="1700"/>
              </a:lnSpc>
              <a:buNone/>
            </a:pPr>
            <a:r>
              <a:rPr lang="en-US" sz="1200" b="1" dirty="0">
                <a:solidFill>
                  <a:srgbClr val="E0C778"/>
                </a:solidFill>
                <a:latin typeface="Calibri" pitchFamily="34" charset="0"/>
                <a:ea typeface="Calibri" pitchFamily="34" charset="-122"/>
                <a:cs typeface="Calibri" pitchFamily="34" charset="-120"/>
              </a:rPr>
              <a:t>Facades &amp; Curtain Walls</a:t>
            </a:r>
            <a:endParaRPr lang="en-US" sz="1200" dirty="0"/>
          </a:p>
          <a:p>
            <a:pPr marL="0" indent="0">
              <a:lnSpc>
                <a:spcPts val="1700"/>
              </a:lnSpc>
              <a:buNone/>
            </a:pPr>
            <a:r>
              <a:rPr lang="en-US" sz="1200" dirty="0">
                <a:solidFill>
                  <a:srgbClr val="AEB2B8"/>
                </a:solidFill>
                <a:latin typeface="Calibri" pitchFamily="34" charset="0"/>
                <a:ea typeface="Calibri" pitchFamily="34" charset="-122"/>
                <a:cs typeface="Calibri" pitchFamily="34" charset="-120"/>
              </a:rPr>
              <a:t>Verona, Italy  -  2022</a:t>
            </a:r>
            <a:endParaRPr lang="en-US" sz="1200" dirty="0"/>
          </a:p>
        </p:txBody>
      </p:sp>
      <p:sp>
        <p:nvSpPr>
          <p:cNvPr id="8" name="Text 5"/>
          <p:cNvSpPr/>
          <p:nvPr/>
        </p:nvSpPr>
        <p:spPr>
          <a:xfrm>
            <a:off x="7269480" y="2926080"/>
            <a:ext cx="4526280" cy="2926080"/>
          </a:xfrm>
          <a:prstGeom prst="rect">
            <a:avLst/>
          </a:prstGeom>
          <a:noFill/>
          <a:ln/>
        </p:spPr>
        <p:txBody>
          <a:bodyPr wrap="square" lIns="0" tIns="0" rIns="0" bIns="0" rtlCol="0" anchor="t"/>
          <a:lstStyle/>
          <a:p>
            <a:pPr marL="0" indent="0" algn="just">
              <a:lnSpc>
                <a:spcPts val="1900"/>
              </a:lnSpc>
              <a:buNone/>
            </a:pPr>
            <a:r>
              <a:rPr lang="en-US" sz="1250" dirty="0">
                <a:solidFill>
                  <a:srgbClr val="D7D9DC"/>
                </a:solidFill>
                <a:latin typeface="Calibri" pitchFamily="34" charset="0"/>
                <a:ea typeface="Calibri" pitchFamily="34" charset="-122"/>
                <a:cs typeface="Calibri" pitchFamily="34" charset="-120"/>
              </a:rPr>
              <a:t>Complete production and fabrication of aluminium and glass curtain wall systems for a major commercial complex, in collaboration with ART FER SRL. Precision aluminium frames, structural glazing and connection elements — produced through CNC cutting, certified welding and quality-controlled finishing, engineered to withstand seismic loads while reducing the load on the structure.</a:t>
            </a:r>
            <a:endParaRPr lang="en-US" sz="1250" dirty="0"/>
          </a:p>
        </p:txBody>
      </p:sp>
      <p:sp>
        <p:nvSpPr>
          <p:cNvPr id="9" name="Text 6"/>
          <p:cNvSpPr/>
          <p:nvPr/>
        </p:nvSpPr>
        <p:spPr>
          <a:xfrm>
            <a:off x="10707624" y="6437376"/>
            <a:ext cx="914400" cy="274320"/>
          </a:xfrm>
          <a:prstGeom prst="rect">
            <a:avLst/>
          </a:prstGeom>
          <a:noFill/>
          <a:ln/>
        </p:spPr>
        <p:txBody>
          <a:bodyPr wrap="square" rtlCol="0" anchor="ctr"/>
          <a:lstStyle/>
          <a:p>
            <a:pPr marL="0" indent="0" algn="r">
              <a:buNone/>
            </a:pPr>
            <a:r>
              <a:rPr lang="en-US" sz="850" dirty="0">
                <a:solidFill>
                  <a:srgbClr val="8A8F98"/>
                </a:solidFill>
                <a:latin typeface="Calibri" pitchFamily="34" charset="0"/>
                <a:ea typeface="Calibri" pitchFamily="34" charset="-122"/>
                <a:cs typeface="Calibri"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566928" y="566928"/>
            <a:ext cx="82296" cy="384048"/>
          </a:xfrm>
          <a:prstGeom prst="rect">
            <a:avLst/>
          </a:prstGeom>
          <a:solidFill>
            <a:srgbClr val="C2A14B"/>
          </a:solidFill>
          <a:ln/>
        </p:spPr>
      </p:sp>
      <p:sp>
        <p:nvSpPr>
          <p:cNvPr id="3" name="Text 1"/>
          <p:cNvSpPr/>
          <p:nvPr/>
        </p:nvSpPr>
        <p:spPr>
          <a:xfrm>
            <a:off x="768096" y="530352"/>
            <a:ext cx="9144000" cy="274320"/>
          </a:xfrm>
          <a:prstGeom prst="rect">
            <a:avLst/>
          </a:prstGeom>
          <a:noFill/>
          <a:ln/>
        </p:spPr>
        <p:txBody>
          <a:bodyPr wrap="square" lIns="0" tIns="0" rIns="0" bIns="0" rtlCol="0" anchor="ctr"/>
          <a:lstStyle/>
          <a:p>
            <a:pPr marL="0" indent="0">
              <a:buNone/>
            </a:pPr>
            <a:r>
              <a:rPr lang="en-US" sz="1100" b="1" kern="0" spc="200" dirty="0">
                <a:solidFill>
                  <a:srgbClr val="C2A14B"/>
                </a:solidFill>
                <a:latin typeface="Calibri" pitchFamily="34" charset="0"/>
                <a:ea typeface="Calibri" pitchFamily="34" charset="-122"/>
                <a:cs typeface="Calibri" pitchFamily="34" charset="-120"/>
              </a:rPr>
              <a:t>FEATURED PROJECT</a:t>
            </a:r>
            <a:endParaRPr lang="en-US" sz="1100" dirty="0"/>
          </a:p>
        </p:txBody>
      </p:sp>
      <p:sp>
        <p:nvSpPr>
          <p:cNvPr id="4" name="Text 2"/>
          <p:cNvSpPr/>
          <p:nvPr/>
        </p:nvSpPr>
        <p:spPr>
          <a:xfrm>
            <a:off x="749808" y="841248"/>
            <a:ext cx="10515600" cy="603504"/>
          </a:xfrm>
          <a:prstGeom prst="rect">
            <a:avLst/>
          </a:prstGeom>
          <a:noFill/>
          <a:ln/>
        </p:spPr>
        <p:txBody>
          <a:bodyPr wrap="square" lIns="0" tIns="0" rIns="0" bIns="0" rtlCol="0" anchor="ctr"/>
          <a:lstStyle/>
          <a:p>
            <a:pPr marL="0" indent="0">
              <a:buNone/>
            </a:pPr>
            <a:r>
              <a:rPr lang="en-US" sz="3000" b="1" dirty="0">
                <a:solidFill>
                  <a:srgbClr val="15181F"/>
                </a:solidFill>
                <a:latin typeface="Georgia" pitchFamily="34" charset="0"/>
                <a:ea typeface="Georgia" pitchFamily="34" charset="-122"/>
                <a:cs typeface="Georgia" pitchFamily="34" charset="-120"/>
              </a:rPr>
              <a:t>S. Pietro Residential</a:t>
            </a:r>
            <a:endParaRPr lang="en-US" sz="3000" dirty="0"/>
          </a:p>
        </p:txBody>
      </p:sp>
      <p:sp>
        <p:nvSpPr>
          <p:cNvPr id="5" name="Text 3"/>
          <p:cNvSpPr/>
          <p:nvPr/>
        </p:nvSpPr>
        <p:spPr>
          <a:xfrm>
            <a:off x="749808" y="1481328"/>
            <a:ext cx="10058400" cy="320040"/>
          </a:xfrm>
          <a:prstGeom prst="rect">
            <a:avLst/>
          </a:prstGeom>
          <a:noFill/>
          <a:ln/>
        </p:spPr>
        <p:txBody>
          <a:bodyPr wrap="square" lIns="0" tIns="0" rIns="0" bIns="0" rtlCol="0" anchor="ctr"/>
          <a:lstStyle/>
          <a:p>
            <a:pPr marL="0" indent="0">
              <a:buNone/>
            </a:pPr>
            <a:r>
              <a:rPr lang="en-US" sz="1250" b="1" dirty="0">
                <a:solidFill>
                  <a:srgbClr val="C2A14B"/>
                </a:solidFill>
                <a:latin typeface="Calibri" pitchFamily="34" charset="0"/>
                <a:ea typeface="Calibri" pitchFamily="34" charset="-122"/>
                <a:cs typeface="Calibri" pitchFamily="34" charset="-120"/>
              </a:rPr>
              <a:t>Windows &amp; Doors</a:t>
            </a:r>
            <a:r>
              <a:rPr lang="en-US" sz="1250" dirty="0">
                <a:solidFill>
                  <a:srgbClr val="6E7480"/>
                </a:solidFill>
                <a:latin typeface="Calibri" pitchFamily="34" charset="0"/>
                <a:ea typeface="Calibri" pitchFamily="34" charset="-122"/>
                <a:cs typeface="Calibri" pitchFamily="34" charset="-120"/>
              </a:rPr>
              <a:t>   -   San Pietro, Verona   -   2023</a:t>
            </a:r>
            <a:endParaRPr lang="en-US" sz="1250" dirty="0"/>
          </a:p>
        </p:txBody>
      </p:sp>
      <p:sp>
        <p:nvSpPr>
          <p:cNvPr id="6" name="Text 4"/>
          <p:cNvSpPr/>
          <p:nvPr/>
        </p:nvSpPr>
        <p:spPr>
          <a:xfrm>
            <a:off x="749808" y="1874520"/>
            <a:ext cx="4800600" cy="3840480"/>
          </a:xfrm>
          <a:prstGeom prst="rect">
            <a:avLst/>
          </a:prstGeom>
          <a:noFill/>
          <a:ln/>
        </p:spPr>
        <p:txBody>
          <a:bodyPr wrap="square" lIns="0" tIns="0" rIns="0" bIns="0" rtlCol="0" anchor="t"/>
          <a:lstStyle/>
          <a:p>
            <a:pPr algn="just"/>
            <a:r>
              <a:rPr lang="it-IT" sz="1400" b="1" dirty="0" err="1"/>
              <a:t>Art.Ser</a:t>
            </a:r>
            <a:r>
              <a:rPr lang="it-IT" sz="1400" b="1" dirty="0"/>
              <a:t> di Shehzad Tariq</a:t>
            </a:r>
            <a:r>
              <a:rPr lang="it-IT" sz="1400" dirty="0"/>
              <a:t> completed the production and installation of high-end aluminium windows and doors for a residential building, combining modern performance with classic style.</a:t>
            </a:r>
          </a:p>
          <a:p>
            <a:endParaRPr lang="it-IT" sz="1400" dirty="0"/>
          </a:p>
          <a:p>
            <a:pPr algn="ctr"/>
            <a:r>
              <a:rPr lang="it-IT" sz="1400" b="1" dirty="0"/>
              <a:t>The Tailored Solution</a:t>
            </a:r>
          </a:p>
          <a:p>
            <a:pPr algn="just"/>
            <a:r>
              <a:rPr lang="it-IT" sz="1400" b="1" dirty="0"/>
              <a:t>Casement and hopper windows</a:t>
            </a:r>
            <a:r>
              <a:rPr lang="it-IT" sz="1400" dirty="0"/>
              <a:t>: maximum natural light and controlled ventilation.</a:t>
            </a:r>
          </a:p>
          <a:p>
            <a:pPr algn="just"/>
            <a:r>
              <a:rPr lang="it-IT" sz="1400" b="1" dirty="0"/>
              <a:t>Premium entrance doors</a:t>
            </a:r>
            <a:r>
              <a:rPr lang="it-IT" sz="1400" dirty="0"/>
              <a:t>: advanced security and refined design.</a:t>
            </a:r>
          </a:p>
          <a:p>
            <a:pPr algn="just"/>
            <a:r>
              <a:rPr lang="it-IT" sz="1400" b="1" dirty="0"/>
              <a:t>RAL and wood-effect finishes</a:t>
            </a:r>
            <a:r>
              <a:rPr lang="it-IT" sz="1400" dirty="0"/>
              <a:t>: traditional aesthetic warmth in harmony with the neighbourhood.</a:t>
            </a:r>
          </a:p>
          <a:p>
            <a:pPr algn="just"/>
            <a:endParaRPr lang="it-IT" sz="1400" dirty="0"/>
          </a:p>
          <a:p>
            <a:pPr algn="ctr"/>
            <a:r>
              <a:rPr lang="it-IT" sz="1400" b="1" dirty="0"/>
              <a:t>The Technical Benefits</a:t>
            </a:r>
          </a:p>
          <a:p>
            <a:pPr algn="just"/>
            <a:r>
              <a:rPr lang="it-IT" sz="1400" b="1" dirty="0"/>
              <a:t>Thermal insulation</a:t>
            </a:r>
            <a:r>
              <a:rPr lang="it-IT" sz="1400" dirty="0"/>
              <a:t>: lower consumption and reduced energy bills.</a:t>
            </a:r>
          </a:p>
          <a:p>
            <a:pPr algn="just"/>
            <a:r>
              <a:rPr lang="it-IT" sz="1400" b="1" dirty="0"/>
              <a:t>Acoustic comfort</a:t>
            </a:r>
            <a:r>
              <a:rPr lang="it-IT" sz="1400" dirty="0"/>
              <a:t>: complete protection from external noise.</a:t>
            </a:r>
          </a:p>
          <a:p>
            <a:pPr algn="just"/>
            <a:r>
              <a:rPr lang="it-IT" sz="1400" b="1" dirty="0"/>
              <a:t>Maximum durability</a:t>
            </a:r>
            <a:r>
              <a:rPr lang="it-IT" sz="1400" dirty="0"/>
              <a:t>: premium aluminium lasts over time and eliminates maintenance.</a:t>
            </a:r>
          </a:p>
        </p:txBody>
      </p:sp>
      <p:sp>
        <p:nvSpPr>
          <p:cNvPr id="7" name="Shape 5"/>
          <p:cNvSpPr/>
          <p:nvPr/>
        </p:nvSpPr>
        <p:spPr>
          <a:xfrm>
            <a:off x="5943600" y="1828800"/>
            <a:ext cx="2907792" cy="196596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txBody>
          <a:bodyPr/>
          <a:lstStyle/>
          <a:p>
            <a:endParaRPr lang="en-US" dirty="0"/>
          </a:p>
        </p:txBody>
      </p:sp>
      <p:sp>
        <p:nvSpPr>
          <p:cNvPr id="9" name="Shape 6"/>
          <p:cNvSpPr/>
          <p:nvPr/>
        </p:nvSpPr>
        <p:spPr>
          <a:xfrm>
            <a:off x="5943600" y="1828800"/>
            <a:ext cx="2907792" cy="64008"/>
          </a:xfrm>
          <a:prstGeom prst="rect">
            <a:avLst/>
          </a:prstGeom>
          <a:solidFill>
            <a:srgbClr val="C2A14B"/>
          </a:solidFill>
          <a:ln/>
        </p:spPr>
      </p:sp>
      <p:sp>
        <p:nvSpPr>
          <p:cNvPr id="10" name="Shape 7"/>
          <p:cNvSpPr/>
          <p:nvPr/>
        </p:nvSpPr>
        <p:spPr>
          <a:xfrm>
            <a:off x="8979408" y="1828800"/>
            <a:ext cx="2651760" cy="196596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12" name="Shape 8"/>
          <p:cNvSpPr/>
          <p:nvPr/>
        </p:nvSpPr>
        <p:spPr>
          <a:xfrm>
            <a:off x="8979408" y="1828800"/>
            <a:ext cx="2651760" cy="64008"/>
          </a:xfrm>
          <a:prstGeom prst="rect">
            <a:avLst/>
          </a:prstGeom>
          <a:solidFill>
            <a:srgbClr val="C2A14B"/>
          </a:solidFill>
          <a:ln/>
        </p:spPr>
      </p:sp>
      <p:sp>
        <p:nvSpPr>
          <p:cNvPr id="13" name="Shape 9"/>
          <p:cNvSpPr/>
          <p:nvPr/>
        </p:nvSpPr>
        <p:spPr>
          <a:xfrm>
            <a:off x="5943600" y="4001318"/>
            <a:ext cx="5687568" cy="2430667"/>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15" name="Shape 10"/>
          <p:cNvSpPr/>
          <p:nvPr/>
        </p:nvSpPr>
        <p:spPr>
          <a:xfrm>
            <a:off x="5943600" y="3950208"/>
            <a:ext cx="5687568" cy="45719"/>
          </a:xfrm>
          <a:prstGeom prst="rect">
            <a:avLst/>
          </a:prstGeom>
          <a:solidFill>
            <a:srgbClr val="C2A14B"/>
          </a:solidFill>
          <a:ln/>
        </p:spPr>
      </p:sp>
      <p:sp>
        <p:nvSpPr>
          <p:cNvPr id="16" name="Text 11"/>
          <p:cNvSpPr/>
          <p:nvPr/>
        </p:nvSpPr>
        <p:spPr>
          <a:xfrm>
            <a:off x="566928" y="6437376"/>
            <a:ext cx="6400800" cy="274320"/>
          </a:xfrm>
          <a:prstGeom prst="rect">
            <a:avLst/>
          </a:prstGeom>
          <a:noFill/>
          <a:ln/>
        </p:spPr>
        <p:txBody>
          <a:bodyPr wrap="square" rtlCol="0" anchor="ctr"/>
          <a:lstStyle/>
          <a:p>
            <a:pPr marL="0" indent="0" algn="l">
              <a:buNone/>
            </a:pPr>
            <a:r>
              <a:rPr lang="en-US" sz="850" kern="0" spc="100" dirty="0">
                <a:solidFill>
                  <a:srgbClr val="6E7480"/>
                </a:solidFill>
                <a:latin typeface="Calibri" pitchFamily="34" charset="0"/>
                <a:ea typeface="Calibri" pitchFamily="34" charset="-122"/>
                <a:cs typeface="Calibri" pitchFamily="34" charset="-120"/>
              </a:rPr>
              <a:t>ART SER - Company Portfolio</a:t>
            </a:r>
            <a:endParaRPr lang="en-US" sz="850" dirty="0"/>
          </a:p>
        </p:txBody>
      </p:sp>
      <p:sp>
        <p:nvSpPr>
          <p:cNvPr id="17" name="Text 12"/>
          <p:cNvSpPr/>
          <p:nvPr/>
        </p:nvSpPr>
        <p:spPr>
          <a:xfrm>
            <a:off x="10707624" y="6437376"/>
            <a:ext cx="914400" cy="274320"/>
          </a:xfrm>
          <a:prstGeom prst="rect">
            <a:avLst/>
          </a:prstGeom>
          <a:noFill/>
          <a:ln/>
        </p:spPr>
        <p:txBody>
          <a:bodyPr wrap="square" rtlCol="0" anchor="ctr"/>
          <a:lstStyle/>
          <a:p>
            <a:pPr marL="0" indent="0" algn="r">
              <a:buNone/>
            </a:pPr>
            <a:r>
              <a:rPr lang="en-US" sz="850" dirty="0">
                <a:solidFill>
                  <a:srgbClr val="6E7480"/>
                </a:solidFill>
                <a:latin typeface="Calibri" pitchFamily="34" charset="0"/>
                <a:ea typeface="Calibri" pitchFamily="34" charset="-122"/>
                <a:cs typeface="Calibri" pitchFamily="34" charset="-120"/>
              </a:rPr>
              <a:t>07</a:t>
            </a:r>
            <a:endParaRPr lang="en-US" sz="850" dirty="0"/>
          </a:p>
        </p:txBody>
      </p:sp>
      <p:pic>
        <p:nvPicPr>
          <p:cNvPr id="19" name="Picture 18">
            <a:extLst>
              <a:ext uri="{FF2B5EF4-FFF2-40B4-BE49-F238E27FC236}">
                <a16:creationId xmlns:a16="http://schemas.microsoft.com/office/drawing/2014/main" id="{7D7B26F7-D39D-467F-AB33-9B1DC548EDE2}"/>
              </a:ext>
            </a:extLst>
          </p:cNvPr>
          <p:cNvPicPr>
            <a:picLocks noChangeAspect="1"/>
          </p:cNvPicPr>
          <p:nvPr/>
        </p:nvPicPr>
        <p:blipFill>
          <a:blip r:embed="rId3"/>
          <a:stretch>
            <a:fillRect/>
          </a:stretch>
        </p:blipFill>
        <p:spPr>
          <a:xfrm>
            <a:off x="7360920" y="3995927"/>
            <a:ext cx="4226846" cy="2441449"/>
          </a:xfrm>
          <a:prstGeom prst="rect">
            <a:avLst/>
          </a:prstGeom>
        </p:spPr>
      </p:pic>
      <p:pic>
        <p:nvPicPr>
          <p:cNvPr id="21" name="Picture 20">
            <a:extLst>
              <a:ext uri="{FF2B5EF4-FFF2-40B4-BE49-F238E27FC236}">
                <a16:creationId xmlns:a16="http://schemas.microsoft.com/office/drawing/2014/main" id="{A338F4DF-BCB0-48AB-B6A4-D937BF97D985}"/>
              </a:ext>
            </a:extLst>
          </p:cNvPr>
          <p:cNvPicPr>
            <a:picLocks noChangeAspect="1"/>
          </p:cNvPicPr>
          <p:nvPr/>
        </p:nvPicPr>
        <p:blipFill>
          <a:blip r:embed="rId4"/>
          <a:stretch>
            <a:fillRect/>
          </a:stretch>
        </p:blipFill>
        <p:spPr>
          <a:xfrm>
            <a:off x="5961378" y="1908988"/>
            <a:ext cx="2872236" cy="1885771"/>
          </a:xfrm>
          <a:prstGeom prst="rect">
            <a:avLst/>
          </a:prstGeom>
        </p:spPr>
      </p:pic>
      <p:pic>
        <p:nvPicPr>
          <p:cNvPr id="20" name="Immagine 19">
            <a:extLst>
              <a:ext uri="{FF2B5EF4-FFF2-40B4-BE49-F238E27FC236}">
                <a16:creationId xmlns:a16="http://schemas.microsoft.com/office/drawing/2014/main" id="{E3C09761-803D-0FD2-D258-21AF943BD900}"/>
              </a:ext>
            </a:extLst>
          </p:cNvPr>
          <p:cNvPicPr>
            <a:picLocks noChangeAspect="1"/>
          </p:cNvPicPr>
          <p:nvPr/>
        </p:nvPicPr>
        <p:blipFill>
          <a:blip r:embed="rId5"/>
          <a:stretch>
            <a:fillRect/>
          </a:stretch>
        </p:blipFill>
        <p:spPr>
          <a:xfrm>
            <a:off x="5943600" y="3995926"/>
            <a:ext cx="1417320" cy="2436059"/>
          </a:xfrm>
          <a:prstGeom prst="rect">
            <a:avLst/>
          </a:prstGeom>
        </p:spPr>
      </p:pic>
      <p:pic>
        <p:nvPicPr>
          <p:cNvPr id="11" name="Picture 10">
            <a:extLst>
              <a:ext uri="{FF2B5EF4-FFF2-40B4-BE49-F238E27FC236}">
                <a16:creationId xmlns:a16="http://schemas.microsoft.com/office/drawing/2014/main" id="{5A641B2A-CDEA-4C81-A19A-9F7E148C0C06}"/>
              </a:ext>
            </a:extLst>
          </p:cNvPr>
          <p:cNvPicPr>
            <a:picLocks noChangeAspect="1"/>
          </p:cNvPicPr>
          <p:nvPr/>
        </p:nvPicPr>
        <p:blipFill>
          <a:blip r:embed="rId6"/>
          <a:stretch>
            <a:fillRect/>
          </a:stretch>
        </p:blipFill>
        <p:spPr>
          <a:xfrm>
            <a:off x="8979408" y="1924681"/>
            <a:ext cx="2595211" cy="18700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566928" y="566928"/>
            <a:ext cx="82296" cy="384048"/>
          </a:xfrm>
          <a:prstGeom prst="rect">
            <a:avLst/>
          </a:prstGeom>
          <a:solidFill>
            <a:srgbClr val="C2A14B"/>
          </a:solidFill>
          <a:ln/>
        </p:spPr>
      </p:sp>
      <p:sp>
        <p:nvSpPr>
          <p:cNvPr id="3" name="Text 1"/>
          <p:cNvSpPr/>
          <p:nvPr/>
        </p:nvSpPr>
        <p:spPr>
          <a:xfrm>
            <a:off x="768096" y="530352"/>
            <a:ext cx="9144000" cy="274320"/>
          </a:xfrm>
          <a:prstGeom prst="rect">
            <a:avLst/>
          </a:prstGeom>
          <a:noFill/>
          <a:ln/>
        </p:spPr>
        <p:txBody>
          <a:bodyPr wrap="square" lIns="0" tIns="0" rIns="0" bIns="0" rtlCol="0" anchor="ctr"/>
          <a:lstStyle/>
          <a:p>
            <a:pPr marL="0" indent="0">
              <a:buNone/>
            </a:pPr>
            <a:r>
              <a:rPr lang="en-US" sz="1100" b="1" kern="0" spc="200" dirty="0">
                <a:solidFill>
                  <a:srgbClr val="C2A14B"/>
                </a:solidFill>
                <a:latin typeface="Calibri" pitchFamily="34" charset="0"/>
                <a:ea typeface="Calibri" pitchFamily="34" charset="-122"/>
                <a:cs typeface="Calibri" pitchFamily="34" charset="-120"/>
              </a:rPr>
              <a:t>PREMIUM SYSTEMS</a:t>
            </a:r>
            <a:endParaRPr lang="en-US" sz="1100" dirty="0"/>
          </a:p>
        </p:txBody>
      </p:sp>
      <p:sp>
        <p:nvSpPr>
          <p:cNvPr id="4" name="Text 2"/>
          <p:cNvSpPr/>
          <p:nvPr/>
        </p:nvSpPr>
        <p:spPr>
          <a:xfrm>
            <a:off x="749808" y="841248"/>
            <a:ext cx="10515600" cy="603504"/>
          </a:xfrm>
          <a:prstGeom prst="rect">
            <a:avLst/>
          </a:prstGeom>
          <a:noFill/>
          <a:ln/>
        </p:spPr>
        <p:txBody>
          <a:bodyPr wrap="square" lIns="0" tIns="0" rIns="0" bIns="0" rtlCol="0" anchor="ctr"/>
          <a:lstStyle/>
          <a:p>
            <a:pPr marL="0" indent="0">
              <a:buNone/>
            </a:pPr>
            <a:r>
              <a:rPr lang="en-US" sz="3000" b="1" dirty="0">
                <a:solidFill>
                  <a:srgbClr val="15181F"/>
                </a:solidFill>
                <a:latin typeface="Georgia" pitchFamily="34" charset="0"/>
                <a:ea typeface="Georgia" pitchFamily="34" charset="-122"/>
                <a:cs typeface="Georgia" pitchFamily="34" charset="-120"/>
              </a:rPr>
              <a:t>Built With Europe’s Best</a:t>
            </a:r>
            <a:endParaRPr lang="en-US" sz="3000" dirty="0"/>
          </a:p>
        </p:txBody>
      </p:sp>
      <p:sp>
        <p:nvSpPr>
          <p:cNvPr id="5" name="Shape 3"/>
          <p:cNvSpPr/>
          <p:nvPr/>
        </p:nvSpPr>
        <p:spPr>
          <a:xfrm>
            <a:off x="749808" y="1920240"/>
            <a:ext cx="2139696" cy="329184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6" name="Shape 4"/>
          <p:cNvSpPr/>
          <p:nvPr/>
        </p:nvSpPr>
        <p:spPr>
          <a:xfrm>
            <a:off x="749808" y="1920240"/>
            <a:ext cx="2139696" cy="1554480"/>
          </a:xfrm>
          <a:prstGeom prst="rect">
            <a:avLst/>
          </a:prstGeom>
          <a:solidFill>
            <a:srgbClr val="FFFFFF"/>
          </a:solidFill>
          <a:ln/>
        </p:spPr>
      </p:sp>
      <p:pic>
        <p:nvPicPr>
          <p:cNvPr id="7" name="Image 0" descr="/sessions/quirky-great-planck/mnt/outputs/deck/assets/sup_aluk.jpg"/>
          <p:cNvPicPr>
            <a:picLocks noChangeAspect="1"/>
          </p:cNvPicPr>
          <p:nvPr/>
        </p:nvPicPr>
        <p:blipFill>
          <a:blip r:embed="rId3"/>
          <a:srcRect l="-19231" r="-19231"/>
          <a:stretch/>
        </p:blipFill>
        <p:spPr>
          <a:xfrm>
            <a:off x="996696" y="2121408"/>
            <a:ext cx="1645920" cy="1188720"/>
          </a:xfrm>
          <a:prstGeom prst="rect">
            <a:avLst/>
          </a:prstGeom>
        </p:spPr>
      </p:pic>
      <p:sp>
        <p:nvSpPr>
          <p:cNvPr id="8" name="Shape 5"/>
          <p:cNvSpPr/>
          <p:nvPr/>
        </p:nvSpPr>
        <p:spPr>
          <a:xfrm>
            <a:off x="1024128" y="3621024"/>
            <a:ext cx="365760" cy="41148"/>
          </a:xfrm>
          <a:prstGeom prst="rect">
            <a:avLst/>
          </a:prstGeom>
          <a:solidFill>
            <a:srgbClr val="C2A14B"/>
          </a:solidFill>
          <a:ln/>
        </p:spPr>
      </p:sp>
      <p:sp>
        <p:nvSpPr>
          <p:cNvPr id="9" name="Text 6"/>
          <p:cNvSpPr/>
          <p:nvPr/>
        </p:nvSpPr>
        <p:spPr>
          <a:xfrm>
            <a:off x="987552" y="3749040"/>
            <a:ext cx="1682496" cy="365760"/>
          </a:xfrm>
          <a:prstGeom prst="rect">
            <a:avLst/>
          </a:prstGeom>
          <a:noFill/>
          <a:ln/>
        </p:spPr>
        <p:txBody>
          <a:bodyPr wrap="square" lIns="0" tIns="0" rIns="0" bIns="0" rtlCol="0" anchor="t"/>
          <a:lstStyle/>
          <a:p>
            <a:pPr marL="0" indent="0">
              <a:buNone/>
            </a:pPr>
            <a:r>
              <a:rPr lang="en-US" sz="1450" b="1" dirty="0">
                <a:solidFill>
                  <a:srgbClr val="15181F"/>
                </a:solidFill>
                <a:latin typeface="Georgia" pitchFamily="34" charset="0"/>
                <a:ea typeface="Georgia" pitchFamily="34" charset="-122"/>
                <a:cs typeface="Georgia" pitchFamily="34" charset="-120"/>
              </a:rPr>
              <a:t>AluK</a:t>
            </a:r>
            <a:endParaRPr lang="en-US" sz="1450" dirty="0"/>
          </a:p>
        </p:txBody>
      </p:sp>
      <p:sp>
        <p:nvSpPr>
          <p:cNvPr id="10" name="Text 7"/>
          <p:cNvSpPr/>
          <p:nvPr/>
        </p:nvSpPr>
        <p:spPr>
          <a:xfrm>
            <a:off x="996696" y="4133088"/>
            <a:ext cx="1682496" cy="256032"/>
          </a:xfrm>
          <a:prstGeom prst="rect">
            <a:avLst/>
          </a:prstGeom>
          <a:noFill/>
          <a:ln/>
        </p:spPr>
        <p:txBody>
          <a:bodyPr wrap="square" lIns="0" tIns="0" rIns="0" bIns="0" rtlCol="0" anchor="ctr"/>
          <a:lstStyle/>
          <a:p>
            <a:pPr marL="0" indent="0">
              <a:buNone/>
            </a:pPr>
            <a:r>
              <a:rPr lang="en-US" sz="950" b="1" kern="0" spc="100" dirty="0">
                <a:solidFill>
                  <a:srgbClr val="C2A14B"/>
                </a:solidFill>
                <a:latin typeface="Calibri" pitchFamily="34" charset="0"/>
                <a:ea typeface="Calibri" pitchFamily="34" charset="-122"/>
                <a:cs typeface="Calibri" pitchFamily="34" charset="-120"/>
              </a:rPr>
              <a:t>ITALY</a:t>
            </a:r>
            <a:endParaRPr lang="en-US" sz="950" dirty="0"/>
          </a:p>
        </p:txBody>
      </p:sp>
      <p:sp>
        <p:nvSpPr>
          <p:cNvPr id="11" name="Text 8"/>
          <p:cNvSpPr/>
          <p:nvPr/>
        </p:nvSpPr>
        <p:spPr>
          <a:xfrm>
            <a:off x="996696" y="4407408"/>
            <a:ext cx="1682496" cy="713232"/>
          </a:xfrm>
          <a:prstGeom prst="rect">
            <a:avLst/>
          </a:prstGeom>
          <a:noFill/>
          <a:ln/>
        </p:spPr>
        <p:txBody>
          <a:bodyPr wrap="square" lIns="0" tIns="0" rIns="0" bIns="0" rtlCol="0" anchor="t"/>
          <a:lstStyle/>
          <a:p>
            <a:pPr marL="0" indent="0">
              <a:lnSpc>
                <a:spcPts val="1400"/>
              </a:lnSpc>
              <a:buNone/>
            </a:pPr>
            <a:r>
              <a:rPr lang="en-US" sz="1100" dirty="0">
                <a:solidFill>
                  <a:srgbClr val="6E7480"/>
                </a:solidFill>
                <a:latin typeface="Calibri" pitchFamily="34" charset="0"/>
                <a:ea typeface="Calibri" pitchFamily="34" charset="-122"/>
                <a:cs typeface="Calibri" pitchFamily="34" charset="-120"/>
              </a:rPr>
              <a:t>Aluminium systems - 70+ years</a:t>
            </a:r>
            <a:endParaRPr lang="en-US" sz="1100" dirty="0"/>
          </a:p>
        </p:txBody>
      </p:sp>
      <p:sp>
        <p:nvSpPr>
          <p:cNvPr id="12" name="Shape 9"/>
          <p:cNvSpPr/>
          <p:nvPr/>
        </p:nvSpPr>
        <p:spPr>
          <a:xfrm>
            <a:off x="3035808" y="1920240"/>
            <a:ext cx="2139696" cy="329184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13" name="Shape 10"/>
          <p:cNvSpPr/>
          <p:nvPr/>
        </p:nvSpPr>
        <p:spPr>
          <a:xfrm>
            <a:off x="3035808" y="1920240"/>
            <a:ext cx="2139696" cy="1554480"/>
          </a:xfrm>
          <a:prstGeom prst="rect">
            <a:avLst/>
          </a:prstGeom>
          <a:solidFill>
            <a:srgbClr val="FFFFFF"/>
          </a:solidFill>
          <a:ln/>
        </p:spPr>
      </p:sp>
      <p:pic>
        <p:nvPicPr>
          <p:cNvPr id="14" name="Image 1" descr="/sessions/quirky-great-planck/mnt/outputs/deck/assets/sup_paesani.png"/>
          <p:cNvPicPr>
            <a:picLocks noChangeAspect="1"/>
          </p:cNvPicPr>
          <p:nvPr/>
        </p:nvPicPr>
        <p:blipFill>
          <a:blip r:embed="rId4"/>
          <a:srcRect l="-19231" r="-19231"/>
          <a:stretch/>
        </p:blipFill>
        <p:spPr>
          <a:xfrm>
            <a:off x="3282696" y="2121408"/>
            <a:ext cx="1645920" cy="1188720"/>
          </a:xfrm>
          <a:prstGeom prst="rect">
            <a:avLst/>
          </a:prstGeom>
        </p:spPr>
      </p:pic>
      <p:sp>
        <p:nvSpPr>
          <p:cNvPr id="15" name="Shape 11"/>
          <p:cNvSpPr/>
          <p:nvPr/>
        </p:nvSpPr>
        <p:spPr>
          <a:xfrm>
            <a:off x="3310128" y="3621024"/>
            <a:ext cx="365760" cy="41148"/>
          </a:xfrm>
          <a:prstGeom prst="rect">
            <a:avLst/>
          </a:prstGeom>
          <a:solidFill>
            <a:srgbClr val="C2A14B"/>
          </a:solidFill>
          <a:ln/>
        </p:spPr>
      </p:sp>
      <p:sp>
        <p:nvSpPr>
          <p:cNvPr id="16" name="Text 12"/>
          <p:cNvSpPr/>
          <p:nvPr/>
        </p:nvSpPr>
        <p:spPr>
          <a:xfrm>
            <a:off x="3273552" y="3749040"/>
            <a:ext cx="1682496" cy="365760"/>
          </a:xfrm>
          <a:prstGeom prst="rect">
            <a:avLst/>
          </a:prstGeom>
          <a:noFill/>
          <a:ln/>
        </p:spPr>
        <p:txBody>
          <a:bodyPr wrap="square" lIns="0" tIns="0" rIns="0" bIns="0" rtlCol="0" anchor="t"/>
          <a:lstStyle/>
          <a:p>
            <a:pPr marL="0" indent="0">
              <a:buNone/>
            </a:pPr>
            <a:r>
              <a:rPr lang="en-US" sz="1450" b="1" dirty="0">
                <a:solidFill>
                  <a:srgbClr val="15181F"/>
                </a:solidFill>
                <a:latin typeface="Georgia" pitchFamily="34" charset="0"/>
                <a:ea typeface="Georgia" pitchFamily="34" charset="-122"/>
                <a:cs typeface="Georgia" pitchFamily="34" charset="-120"/>
              </a:rPr>
              <a:t>Paesani Group</a:t>
            </a:r>
            <a:endParaRPr lang="en-US" sz="1450" dirty="0"/>
          </a:p>
        </p:txBody>
      </p:sp>
      <p:sp>
        <p:nvSpPr>
          <p:cNvPr id="17" name="Text 13"/>
          <p:cNvSpPr/>
          <p:nvPr/>
        </p:nvSpPr>
        <p:spPr>
          <a:xfrm>
            <a:off x="3282696" y="4133088"/>
            <a:ext cx="1682496" cy="256032"/>
          </a:xfrm>
          <a:prstGeom prst="rect">
            <a:avLst/>
          </a:prstGeom>
          <a:noFill/>
          <a:ln/>
        </p:spPr>
        <p:txBody>
          <a:bodyPr wrap="square" lIns="0" tIns="0" rIns="0" bIns="0" rtlCol="0" anchor="ctr"/>
          <a:lstStyle/>
          <a:p>
            <a:pPr marL="0" indent="0">
              <a:buNone/>
            </a:pPr>
            <a:r>
              <a:rPr lang="en-US" sz="950" b="1" kern="0" spc="100" dirty="0">
                <a:solidFill>
                  <a:srgbClr val="C2A14B"/>
                </a:solidFill>
                <a:latin typeface="Calibri" pitchFamily="34" charset="0"/>
                <a:ea typeface="Calibri" pitchFamily="34" charset="-122"/>
                <a:cs typeface="Calibri" pitchFamily="34" charset="-120"/>
              </a:rPr>
              <a:t>ITALY</a:t>
            </a:r>
            <a:endParaRPr lang="en-US" sz="950" dirty="0"/>
          </a:p>
        </p:txBody>
      </p:sp>
      <p:sp>
        <p:nvSpPr>
          <p:cNvPr id="18" name="Text 14"/>
          <p:cNvSpPr/>
          <p:nvPr/>
        </p:nvSpPr>
        <p:spPr>
          <a:xfrm>
            <a:off x="3282696" y="4407408"/>
            <a:ext cx="1682496" cy="713232"/>
          </a:xfrm>
          <a:prstGeom prst="rect">
            <a:avLst/>
          </a:prstGeom>
          <a:noFill/>
          <a:ln/>
        </p:spPr>
        <p:txBody>
          <a:bodyPr wrap="square" lIns="0" tIns="0" rIns="0" bIns="0" rtlCol="0" anchor="t"/>
          <a:lstStyle/>
          <a:p>
            <a:pPr marL="0" indent="0">
              <a:lnSpc>
                <a:spcPts val="1400"/>
              </a:lnSpc>
              <a:buNone/>
            </a:pPr>
            <a:r>
              <a:rPr lang="en-US" sz="1100" dirty="0">
                <a:solidFill>
                  <a:srgbClr val="6E7480"/>
                </a:solidFill>
                <a:latin typeface="Calibri" pitchFamily="34" charset="0"/>
                <a:ea typeface="Calibri" pitchFamily="34" charset="-122"/>
                <a:cs typeface="Calibri" pitchFamily="34" charset="-120"/>
              </a:rPr>
              <a:t>Aluminium - 100% Made in Italy</a:t>
            </a:r>
            <a:endParaRPr lang="en-US" sz="1100" dirty="0"/>
          </a:p>
        </p:txBody>
      </p:sp>
      <p:sp>
        <p:nvSpPr>
          <p:cNvPr id="19" name="Shape 15"/>
          <p:cNvSpPr/>
          <p:nvPr/>
        </p:nvSpPr>
        <p:spPr>
          <a:xfrm>
            <a:off x="5321808" y="1920240"/>
            <a:ext cx="2139696" cy="329184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20" name="Shape 16"/>
          <p:cNvSpPr/>
          <p:nvPr/>
        </p:nvSpPr>
        <p:spPr>
          <a:xfrm>
            <a:off x="5321808" y="1920240"/>
            <a:ext cx="2139696" cy="1554480"/>
          </a:xfrm>
          <a:prstGeom prst="rect">
            <a:avLst/>
          </a:prstGeom>
          <a:solidFill>
            <a:srgbClr val="FFFFFF"/>
          </a:solidFill>
          <a:ln/>
        </p:spPr>
      </p:sp>
      <p:pic>
        <p:nvPicPr>
          <p:cNvPr id="21" name="Image 2" descr="/sessions/quirky-great-planck/mnt/outputs/deck/assets/sup_reynaers.jpg"/>
          <p:cNvPicPr>
            <a:picLocks noChangeAspect="1"/>
          </p:cNvPicPr>
          <p:nvPr/>
        </p:nvPicPr>
        <p:blipFill>
          <a:blip r:embed="rId5"/>
          <a:srcRect l="-19231" r="-19231"/>
          <a:stretch/>
        </p:blipFill>
        <p:spPr>
          <a:xfrm>
            <a:off x="5568696" y="2121408"/>
            <a:ext cx="1645920" cy="1188720"/>
          </a:xfrm>
          <a:prstGeom prst="rect">
            <a:avLst/>
          </a:prstGeom>
        </p:spPr>
      </p:pic>
      <p:sp>
        <p:nvSpPr>
          <p:cNvPr id="22" name="Shape 17"/>
          <p:cNvSpPr/>
          <p:nvPr/>
        </p:nvSpPr>
        <p:spPr>
          <a:xfrm>
            <a:off x="5596128" y="3621024"/>
            <a:ext cx="365760" cy="41148"/>
          </a:xfrm>
          <a:prstGeom prst="rect">
            <a:avLst/>
          </a:prstGeom>
          <a:solidFill>
            <a:srgbClr val="C2A14B"/>
          </a:solidFill>
          <a:ln/>
        </p:spPr>
      </p:sp>
      <p:sp>
        <p:nvSpPr>
          <p:cNvPr id="23" name="Text 18"/>
          <p:cNvSpPr/>
          <p:nvPr/>
        </p:nvSpPr>
        <p:spPr>
          <a:xfrm>
            <a:off x="5559552" y="3749040"/>
            <a:ext cx="1682496" cy="365760"/>
          </a:xfrm>
          <a:prstGeom prst="rect">
            <a:avLst/>
          </a:prstGeom>
          <a:noFill/>
          <a:ln/>
        </p:spPr>
        <p:txBody>
          <a:bodyPr wrap="square" lIns="0" tIns="0" rIns="0" bIns="0" rtlCol="0" anchor="t"/>
          <a:lstStyle/>
          <a:p>
            <a:pPr marL="0" indent="0">
              <a:buNone/>
            </a:pPr>
            <a:r>
              <a:rPr lang="en-US" sz="1450" b="1" dirty="0">
                <a:solidFill>
                  <a:srgbClr val="15181F"/>
                </a:solidFill>
                <a:latin typeface="Georgia" pitchFamily="34" charset="0"/>
                <a:ea typeface="Georgia" pitchFamily="34" charset="-122"/>
                <a:cs typeface="Georgia" pitchFamily="34" charset="-120"/>
              </a:rPr>
              <a:t>Reynaers</a:t>
            </a:r>
            <a:endParaRPr lang="en-US" sz="1450" dirty="0"/>
          </a:p>
        </p:txBody>
      </p:sp>
      <p:sp>
        <p:nvSpPr>
          <p:cNvPr id="24" name="Text 19"/>
          <p:cNvSpPr/>
          <p:nvPr/>
        </p:nvSpPr>
        <p:spPr>
          <a:xfrm>
            <a:off x="5568696" y="4133088"/>
            <a:ext cx="1682496" cy="256032"/>
          </a:xfrm>
          <a:prstGeom prst="rect">
            <a:avLst/>
          </a:prstGeom>
          <a:noFill/>
          <a:ln/>
        </p:spPr>
        <p:txBody>
          <a:bodyPr wrap="square" lIns="0" tIns="0" rIns="0" bIns="0" rtlCol="0" anchor="ctr"/>
          <a:lstStyle/>
          <a:p>
            <a:pPr marL="0" indent="0">
              <a:buNone/>
            </a:pPr>
            <a:r>
              <a:rPr lang="en-US" sz="950" b="1" kern="0" spc="100" dirty="0">
                <a:solidFill>
                  <a:srgbClr val="C2A14B"/>
                </a:solidFill>
                <a:latin typeface="Calibri" pitchFamily="34" charset="0"/>
                <a:ea typeface="Calibri" pitchFamily="34" charset="-122"/>
                <a:cs typeface="Calibri" pitchFamily="34" charset="-120"/>
              </a:rPr>
              <a:t>BELGIUM</a:t>
            </a:r>
            <a:endParaRPr lang="en-US" sz="950" dirty="0"/>
          </a:p>
        </p:txBody>
      </p:sp>
      <p:sp>
        <p:nvSpPr>
          <p:cNvPr id="25" name="Text 20"/>
          <p:cNvSpPr/>
          <p:nvPr/>
        </p:nvSpPr>
        <p:spPr>
          <a:xfrm>
            <a:off x="5568696" y="4407408"/>
            <a:ext cx="1682496" cy="713232"/>
          </a:xfrm>
          <a:prstGeom prst="rect">
            <a:avLst/>
          </a:prstGeom>
          <a:noFill/>
          <a:ln/>
        </p:spPr>
        <p:txBody>
          <a:bodyPr wrap="square" lIns="0" tIns="0" rIns="0" bIns="0" rtlCol="0" anchor="t"/>
          <a:lstStyle/>
          <a:p>
            <a:pPr marL="0" indent="0">
              <a:lnSpc>
                <a:spcPts val="1400"/>
              </a:lnSpc>
              <a:buNone/>
            </a:pPr>
            <a:r>
              <a:rPr lang="en-US" sz="1100" dirty="0">
                <a:solidFill>
                  <a:srgbClr val="6E7480"/>
                </a:solidFill>
                <a:latin typeface="Calibri" pitchFamily="34" charset="0"/>
                <a:ea typeface="Calibri" pitchFamily="34" charset="-122"/>
                <a:cs typeface="Calibri" pitchFamily="34" charset="-120"/>
              </a:rPr>
              <a:t>European leader - curtain walls</a:t>
            </a:r>
            <a:endParaRPr lang="en-US" sz="1100" dirty="0"/>
          </a:p>
        </p:txBody>
      </p:sp>
      <p:sp>
        <p:nvSpPr>
          <p:cNvPr id="26" name="Shape 21"/>
          <p:cNvSpPr/>
          <p:nvPr/>
        </p:nvSpPr>
        <p:spPr>
          <a:xfrm>
            <a:off x="7607808" y="1920240"/>
            <a:ext cx="2139696" cy="329184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27" name="Shape 22"/>
          <p:cNvSpPr/>
          <p:nvPr/>
        </p:nvSpPr>
        <p:spPr>
          <a:xfrm>
            <a:off x="7607808" y="1920240"/>
            <a:ext cx="2139696" cy="1554480"/>
          </a:xfrm>
          <a:prstGeom prst="rect">
            <a:avLst/>
          </a:prstGeom>
          <a:solidFill>
            <a:srgbClr val="FFFFFF"/>
          </a:solidFill>
          <a:ln/>
        </p:spPr>
      </p:sp>
      <p:pic>
        <p:nvPicPr>
          <p:cNvPr id="28" name="Image 3" descr="/sessions/quirky-great-planck/mnt/outputs/deck/assets/sup_ekookna.jpg"/>
          <p:cNvPicPr>
            <a:picLocks noChangeAspect="1"/>
          </p:cNvPicPr>
          <p:nvPr/>
        </p:nvPicPr>
        <p:blipFill>
          <a:blip r:embed="rId6"/>
          <a:srcRect l="-19231" r="-19231"/>
          <a:stretch/>
        </p:blipFill>
        <p:spPr>
          <a:xfrm>
            <a:off x="7854696" y="2121408"/>
            <a:ext cx="1645920" cy="1188720"/>
          </a:xfrm>
          <a:prstGeom prst="rect">
            <a:avLst/>
          </a:prstGeom>
        </p:spPr>
      </p:pic>
      <p:sp>
        <p:nvSpPr>
          <p:cNvPr id="29" name="Shape 23"/>
          <p:cNvSpPr/>
          <p:nvPr/>
        </p:nvSpPr>
        <p:spPr>
          <a:xfrm>
            <a:off x="7882128" y="3621024"/>
            <a:ext cx="365760" cy="41148"/>
          </a:xfrm>
          <a:prstGeom prst="rect">
            <a:avLst/>
          </a:prstGeom>
          <a:solidFill>
            <a:srgbClr val="C2A14B"/>
          </a:solidFill>
          <a:ln/>
        </p:spPr>
      </p:sp>
      <p:sp>
        <p:nvSpPr>
          <p:cNvPr id="30" name="Text 24"/>
          <p:cNvSpPr/>
          <p:nvPr/>
        </p:nvSpPr>
        <p:spPr>
          <a:xfrm>
            <a:off x="7845552" y="3749040"/>
            <a:ext cx="1682496" cy="365760"/>
          </a:xfrm>
          <a:prstGeom prst="rect">
            <a:avLst/>
          </a:prstGeom>
          <a:noFill/>
          <a:ln/>
        </p:spPr>
        <p:txBody>
          <a:bodyPr wrap="square" lIns="0" tIns="0" rIns="0" bIns="0" rtlCol="0" anchor="t"/>
          <a:lstStyle/>
          <a:p>
            <a:pPr marL="0" indent="0">
              <a:buNone/>
            </a:pPr>
            <a:r>
              <a:rPr lang="en-US" sz="1450" b="1" dirty="0">
                <a:solidFill>
                  <a:srgbClr val="15181F"/>
                </a:solidFill>
                <a:latin typeface="Georgia" pitchFamily="34" charset="0"/>
                <a:ea typeface="Georgia" pitchFamily="34" charset="-122"/>
                <a:cs typeface="Georgia" pitchFamily="34" charset="-120"/>
              </a:rPr>
              <a:t>Eko-Okna</a:t>
            </a:r>
            <a:endParaRPr lang="en-US" sz="1450" dirty="0"/>
          </a:p>
        </p:txBody>
      </p:sp>
      <p:sp>
        <p:nvSpPr>
          <p:cNvPr id="31" name="Text 25"/>
          <p:cNvSpPr/>
          <p:nvPr/>
        </p:nvSpPr>
        <p:spPr>
          <a:xfrm>
            <a:off x="7854696" y="4133088"/>
            <a:ext cx="1682496" cy="256032"/>
          </a:xfrm>
          <a:prstGeom prst="rect">
            <a:avLst/>
          </a:prstGeom>
          <a:noFill/>
          <a:ln/>
        </p:spPr>
        <p:txBody>
          <a:bodyPr wrap="square" lIns="0" tIns="0" rIns="0" bIns="0" rtlCol="0" anchor="ctr"/>
          <a:lstStyle/>
          <a:p>
            <a:pPr marL="0" indent="0">
              <a:buNone/>
            </a:pPr>
            <a:r>
              <a:rPr lang="en-US" sz="950" b="1" kern="0" spc="100" dirty="0">
                <a:solidFill>
                  <a:srgbClr val="C2A14B"/>
                </a:solidFill>
                <a:latin typeface="Calibri" pitchFamily="34" charset="0"/>
                <a:ea typeface="Calibri" pitchFamily="34" charset="-122"/>
                <a:cs typeface="Calibri" pitchFamily="34" charset="-120"/>
              </a:rPr>
              <a:t>POLAND</a:t>
            </a:r>
            <a:endParaRPr lang="en-US" sz="950" dirty="0"/>
          </a:p>
        </p:txBody>
      </p:sp>
      <p:sp>
        <p:nvSpPr>
          <p:cNvPr id="32" name="Text 26"/>
          <p:cNvSpPr/>
          <p:nvPr/>
        </p:nvSpPr>
        <p:spPr>
          <a:xfrm>
            <a:off x="7854696" y="4407408"/>
            <a:ext cx="1682496" cy="713232"/>
          </a:xfrm>
          <a:prstGeom prst="rect">
            <a:avLst/>
          </a:prstGeom>
          <a:noFill/>
          <a:ln/>
        </p:spPr>
        <p:txBody>
          <a:bodyPr wrap="square" lIns="0" tIns="0" rIns="0" bIns="0" rtlCol="0" anchor="t"/>
          <a:lstStyle/>
          <a:p>
            <a:pPr marL="0" indent="0">
              <a:lnSpc>
                <a:spcPts val="1400"/>
              </a:lnSpc>
              <a:buNone/>
            </a:pPr>
            <a:r>
              <a:rPr lang="en-US" sz="1100" dirty="0">
                <a:solidFill>
                  <a:srgbClr val="6E7480"/>
                </a:solidFill>
                <a:latin typeface="Calibri" pitchFamily="34" charset="0"/>
                <a:ea typeface="Calibri" pitchFamily="34" charset="-122"/>
                <a:cs typeface="Calibri" pitchFamily="34" charset="-120"/>
              </a:rPr>
              <a:t>PVC &amp; aluminium - 40+ markets</a:t>
            </a:r>
            <a:endParaRPr lang="en-US" sz="1100" dirty="0"/>
          </a:p>
        </p:txBody>
      </p:sp>
      <p:sp>
        <p:nvSpPr>
          <p:cNvPr id="33" name="Shape 27"/>
          <p:cNvSpPr/>
          <p:nvPr/>
        </p:nvSpPr>
        <p:spPr>
          <a:xfrm>
            <a:off x="9893808" y="1920240"/>
            <a:ext cx="2139696" cy="329184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34" name="Shape 28"/>
          <p:cNvSpPr/>
          <p:nvPr/>
        </p:nvSpPr>
        <p:spPr>
          <a:xfrm>
            <a:off x="9893808" y="1920240"/>
            <a:ext cx="2139696" cy="1554480"/>
          </a:xfrm>
          <a:prstGeom prst="rect">
            <a:avLst/>
          </a:prstGeom>
          <a:solidFill>
            <a:srgbClr val="FFFFFF"/>
          </a:solidFill>
          <a:ln/>
        </p:spPr>
      </p:sp>
      <p:pic>
        <p:nvPicPr>
          <p:cNvPr id="35" name="Image 4" descr="/sessions/quirky-great-planck/mnt/outputs/deck/assets/sup_effezeta.png"/>
          <p:cNvPicPr>
            <a:picLocks noChangeAspect="1"/>
          </p:cNvPicPr>
          <p:nvPr/>
        </p:nvPicPr>
        <p:blipFill>
          <a:blip r:embed="rId7"/>
          <a:srcRect l="-19231" r="-19231"/>
          <a:stretch/>
        </p:blipFill>
        <p:spPr>
          <a:xfrm>
            <a:off x="10140696" y="2121408"/>
            <a:ext cx="1645920" cy="1188720"/>
          </a:xfrm>
          <a:prstGeom prst="rect">
            <a:avLst/>
          </a:prstGeom>
        </p:spPr>
      </p:pic>
      <p:sp>
        <p:nvSpPr>
          <p:cNvPr id="36" name="Shape 29"/>
          <p:cNvSpPr/>
          <p:nvPr/>
        </p:nvSpPr>
        <p:spPr>
          <a:xfrm>
            <a:off x="10168128" y="3621024"/>
            <a:ext cx="365760" cy="41148"/>
          </a:xfrm>
          <a:prstGeom prst="rect">
            <a:avLst/>
          </a:prstGeom>
          <a:solidFill>
            <a:srgbClr val="C2A14B"/>
          </a:solidFill>
          <a:ln/>
        </p:spPr>
      </p:sp>
      <p:sp>
        <p:nvSpPr>
          <p:cNvPr id="37" name="Text 30"/>
          <p:cNvSpPr/>
          <p:nvPr/>
        </p:nvSpPr>
        <p:spPr>
          <a:xfrm>
            <a:off x="10131552" y="3749040"/>
            <a:ext cx="1682496" cy="365760"/>
          </a:xfrm>
          <a:prstGeom prst="rect">
            <a:avLst/>
          </a:prstGeom>
          <a:noFill/>
          <a:ln/>
        </p:spPr>
        <p:txBody>
          <a:bodyPr wrap="square" lIns="0" tIns="0" rIns="0" bIns="0" rtlCol="0" anchor="t"/>
          <a:lstStyle/>
          <a:p>
            <a:pPr marL="0" indent="0">
              <a:buNone/>
            </a:pPr>
            <a:r>
              <a:rPr lang="en-US" sz="1450" b="1" dirty="0">
                <a:solidFill>
                  <a:srgbClr val="15181F"/>
                </a:solidFill>
                <a:latin typeface="Georgia" pitchFamily="34" charset="0"/>
                <a:ea typeface="Georgia" pitchFamily="34" charset="-122"/>
                <a:cs typeface="Georgia" pitchFamily="34" charset="-120"/>
              </a:rPr>
              <a:t>Effezeta (FZ)</a:t>
            </a:r>
            <a:endParaRPr lang="en-US" sz="1450" dirty="0"/>
          </a:p>
        </p:txBody>
      </p:sp>
      <p:sp>
        <p:nvSpPr>
          <p:cNvPr id="38" name="Text 31"/>
          <p:cNvSpPr/>
          <p:nvPr/>
        </p:nvSpPr>
        <p:spPr>
          <a:xfrm>
            <a:off x="10140696" y="4133088"/>
            <a:ext cx="1682496" cy="256032"/>
          </a:xfrm>
          <a:prstGeom prst="rect">
            <a:avLst/>
          </a:prstGeom>
          <a:noFill/>
          <a:ln/>
        </p:spPr>
        <p:txBody>
          <a:bodyPr wrap="square" lIns="0" tIns="0" rIns="0" bIns="0" rtlCol="0" anchor="ctr"/>
          <a:lstStyle/>
          <a:p>
            <a:pPr marL="0" indent="0">
              <a:buNone/>
            </a:pPr>
            <a:r>
              <a:rPr lang="en-US" sz="950" b="1" kern="0" spc="100" dirty="0">
                <a:solidFill>
                  <a:srgbClr val="C2A14B"/>
                </a:solidFill>
                <a:latin typeface="Calibri" pitchFamily="34" charset="0"/>
                <a:ea typeface="Calibri" pitchFamily="34" charset="-122"/>
                <a:cs typeface="Calibri" pitchFamily="34" charset="-120"/>
              </a:rPr>
              <a:t>ITALY</a:t>
            </a:r>
            <a:endParaRPr lang="en-US" sz="950" dirty="0"/>
          </a:p>
        </p:txBody>
      </p:sp>
      <p:sp>
        <p:nvSpPr>
          <p:cNvPr id="39" name="Text 32"/>
          <p:cNvSpPr/>
          <p:nvPr/>
        </p:nvSpPr>
        <p:spPr>
          <a:xfrm>
            <a:off x="10140696" y="4407408"/>
            <a:ext cx="1682496" cy="713232"/>
          </a:xfrm>
          <a:prstGeom prst="rect">
            <a:avLst/>
          </a:prstGeom>
          <a:noFill/>
          <a:ln/>
        </p:spPr>
        <p:txBody>
          <a:bodyPr wrap="square" lIns="0" tIns="0" rIns="0" bIns="0" rtlCol="0" anchor="t"/>
          <a:lstStyle/>
          <a:p>
            <a:pPr marL="0" indent="0">
              <a:lnSpc>
                <a:spcPts val="1400"/>
              </a:lnSpc>
              <a:buNone/>
            </a:pPr>
            <a:r>
              <a:rPr lang="en-US" sz="1100" dirty="0">
                <a:solidFill>
                  <a:srgbClr val="6E7480"/>
                </a:solidFill>
                <a:latin typeface="Calibri" pitchFamily="34" charset="0"/>
                <a:ea typeface="Calibri" pitchFamily="34" charset="-122"/>
                <a:cs typeface="Calibri" pitchFamily="34" charset="-120"/>
              </a:rPr>
              <a:t>Roller shutters - insect screens - sun protection</a:t>
            </a:r>
            <a:endParaRPr lang="en-US" sz="1100" dirty="0"/>
          </a:p>
        </p:txBody>
      </p:sp>
      <p:sp>
        <p:nvSpPr>
          <p:cNvPr id="40" name="Text 33"/>
          <p:cNvSpPr/>
          <p:nvPr/>
        </p:nvSpPr>
        <p:spPr>
          <a:xfrm>
            <a:off x="566928" y="6437376"/>
            <a:ext cx="6400800" cy="274320"/>
          </a:xfrm>
          <a:prstGeom prst="rect">
            <a:avLst/>
          </a:prstGeom>
          <a:noFill/>
          <a:ln/>
        </p:spPr>
        <p:txBody>
          <a:bodyPr wrap="square" rtlCol="0" anchor="ctr"/>
          <a:lstStyle/>
          <a:p>
            <a:pPr marL="0" indent="0" algn="l">
              <a:buNone/>
            </a:pPr>
            <a:r>
              <a:rPr lang="en-US" sz="850" kern="0" spc="100" dirty="0">
                <a:solidFill>
                  <a:srgbClr val="6E7480"/>
                </a:solidFill>
                <a:latin typeface="Calibri" pitchFamily="34" charset="0"/>
                <a:ea typeface="Calibri" pitchFamily="34" charset="-122"/>
                <a:cs typeface="Calibri" pitchFamily="34" charset="-120"/>
              </a:rPr>
              <a:t>ART SER - Company Portfolio</a:t>
            </a:r>
            <a:endParaRPr lang="en-US" sz="850" dirty="0"/>
          </a:p>
        </p:txBody>
      </p:sp>
      <p:sp>
        <p:nvSpPr>
          <p:cNvPr id="41" name="Text 34"/>
          <p:cNvSpPr/>
          <p:nvPr/>
        </p:nvSpPr>
        <p:spPr>
          <a:xfrm>
            <a:off x="10707624" y="6437376"/>
            <a:ext cx="914400" cy="274320"/>
          </a:xfrm>
          <a:prstGeom prst="rect">
            <a:avLst/>
          </a:prstGeom>
          <a:noFill/>
          <a:ln/>
        </p:spPr>
        <p:txBody>
          <a:bodyPr wrap="square" rtlCol="0" anchor="ctr"/>
          <a:lstStyle/>
          <a:p>
            <a:pPr marL="0" indent="0" algn="r">
              <a:buNone/>
            </a:pPr>
            <a:r>
              <a:rPr lang="en-US" sz="850" b="1" dirty="0">
                <a:solidFill>
                  <a:srgbClr val="6E7480"/>
                </a:solidFill>
                <a:latin typeface="Calibri" pitchFamily="34" charset="0"/>
                <a:ea typeface="Calibri" pitchFamily="34" charset="-122"/>
                <a:cs typeface="Calibri" pitchFamily="34" charset="-120"/>
              </a:rPr>
              <a:t>08</a:t>
            </a:r>
            <a:endParaRPr lang="en-US" sz="85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566928" y="566928"/>
            <a:ext cx="82296" cy="384048"/>
          </a:xfrm>
          <a:prstGeom prst="rect">
            <a:avLst/>
          </a:prstGeom>
          <a:solidFill>
            <a:srgbClr val="C2A14B"/>
          </a:solidFill>
          <a:ln/>
        </p:spPr>
      </p:sp>
      <p:sp>
        <p:nvSpPr>
          <p:cNvPr id="3" name="Text 1"/>
          <p:cNvSpPr/>
          <p:nvPr/>
        </p:nvSpPr>
        <p:spPr>
          <a:xfrm>
            <a:off x="768096" y="530352"/>
            <a:ext cx="9144000" cy="274320"/>
          </a:xfrm>
          <a:prstGeom prst="rect">
            <a:avLst/>
          </a:prstGeom>
          <a:noFill/>
          <a:ln/>
        </p:spPr>
        <p:txBody>
          <a:bodyPr wrap="square" lIns="0" tIns="0" rIns="0" bIns="0" rtlCol="0" anchor="ctr"/>
          <a:lstStyle/>
          <a:p>
            <a:pPr marL="0" indent="0">
              <a:buNone/>
            </a:pPr>
            <a:r>
              <a:rPr lang="en-US" sz="1100" b="1" kern="0" spc="200" dirty="0">
                <a:solidFill>
                  <a:srgbClr val="C2A14B"/>
                </a:solidFill>
                <a:latin typeface="Calibri" pitchFamily="34" charset="0"/>
                <a:ea typeface="Calibri" pitchFamily="34" charset="-122"/>
                <a:cs typeface="Calibri" pitchFamily="34" charset="-120"/>
              </a:rPr>
              <a:t>COLLABORATIONS</a:t>
            </a:r>
            <a:endParaRPr lang="en-US" sz="1100" dirty="0"/>
          </a:p>
        </p:txBody>
      </p:sp>
      <p:sp>
        <p:nvSpPr>
          <p:cNvPr id="4" name="Text 2"/>
          <p:cNvSpPr/>
          <p:nvPr/>
        </p:nvSpPr>
        <p:spPr>
          <a:xfrm>
            <a:off x="749808" y="841248"/>
            <a:ext cx="10515600" cy="603504"/>
          </a:xfrm>
          <a:prstGeom prst="rect">
            <a:avLst/>
          </a:prstGeom>
          <a:noFill/>
          <a:ln/>
        </p:spPr>
        <p:txBody>
          <a:bodyPr wrap="square" lIns="0" tIns="0" rIns="0" bIns="0" rtlCol="0" anchor="ctr"/>
          <a:lstStyle/>
          <a:p>
            <a:pPr marL="0" indent="0">
              <a:buNone/>
            </a:pPr>
            <a:r>
              <a:rPr lang="en-US" sz="3000" b="1" dirty="0">
                <a:solidFill>
                  <a:srgbClr val="15181F"/>
                </a:solidFill>
                <a:latin typeface="Georgia" pitchFamily="34" charset="0"/>
                <a:ea typeface="Georgia" pitchFamily="34" charset="-122"/>
                <a:cs typeface="Georgia" pitchFamily="34" charset="-120"/>
              </a:rPr>
              <a:t>Trusted Collaborations</a:t>
            </a:r>
            <a:endParaRPr lang="en-US" sz="3000" dirty="0"/>
          </a:p>
        </p:txBody>
      </p:sp>
      <p:sp>
        <p:nvSpPr>
          <p:cNvPr id="5" name="Text 3"/>
          <p:cNvSpPr/>
          <p:nvPr/>
        </p:nvSpPr>
        <p:spPr>
          <a:xfrm>
            <a:off x="749808" y="1572768"/>
            <a:ext cx="9692640" cy="868680"/>
          </a:xfrm>
          <a:prstGeom prst="rect">
            <a:avLst/>
          </a:prstGeom>
          <a:noFill/>
          <a:ln/>
        </p:spPr>
        <p:txBody>
          <a:bodyPr wrap="square" lIns="0" tIns="0" rIns="0" bIns="0" rtlCol="0" anchor="t"/>
          <a:lstStyle/>
          <a:p>
            <a:pPr marL="0" indent="0" algn="just">
              <a:lnSpc>
                <a:spcPts val="2100"/>
              </a:lnSpc>
              <a:buNone/>
            </a:pPr>
            <a:r>
              <a:rPr lang="en-US" sz="1350" dirty="0">
                <a:solidFill>
                  <a:srgbClr val="262A31"/>
                </a:solidFill>
                <a:latin typeface="Calibri" pitchFamily="34" charset="0"/>
                <a:ea typeface="Calibri" pitchFamily="34" charset="-122"/>
                <a:cs typeface="Calibri" pitchFamily="34" charset="-120"/>
              </a:rPr>
              <a:t>Over more than 26 years, ART SER has collaborated with established Italian aluminium companies - contributing to production, assembly, installation and projects on a residential and industrial scale, according to the technical specifications of each project.</a:t>
            </a:r>
            <a:endParaRPr lang="en-US" sz="1350" dirty="0"/>
          </a:p>
        </p:txBody>
      </p:sp>
      <p:sp>
        <p:nvSpPr>
          <p:cNvPr id="6" name="Shape 4"/>
          <p:cNvSpPr/>
          <p:nvPr/>
        </p:nvSpPr>
        <p:spPr>
          <a:xfrm>
            <a:off x="749808" y="2697480"/>
            <a:ext cx="2615184" cy="274320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7" name="Shape 5"/>
          <p:cNvSpPr/>
          <p:nvPr/>
        </p:nvSpPr>
        <p:spPr>
          <a:xfrm>
            <a:off x="749808" y="5376672"/>
            <a:ext cx="2615184" cy="64008"/>
          </a:xfrm>
          <a:prstGeom prst="rect">
            <a:avLst/>
          </a:prstGeom>
          <a:solidFill>
            <a:srgbClr val="C2A14B"/>
          </a:solidFill>
          <a:ln/>
        </p:spPr>
      </p:sp>
      <p:pic>
        <p:nvPicPr>
          <p:cNvPr id="8" name="Image 0" descr="/sessions/quirky-great-planck/mnt/outputs/deck/assets/cli_artfer.jpg"/>
          <p:cNvPicPr>
            <a:picLocks noChangeAspect="1"/>
          </p:cNvPicPr>
          <p:nvPr/>
        </p:nvPicPr>
        <p:blipFill>
          <a:blip r:embed="rId3"/>
          <a:srcRect l="-18667" r="-18667"/>
          <a:stretch/>
        </p:blipFill>
        <p:spPr>
          <a:xfrm>
            <a:off x="1115568" y="3017520"/>
            <a:ext cx="1883664" cy="1371600"/>
          </a:xfrm>
          <a:prstGeom prst="rect">
            <a:avLst/>
          </a:prstGeom>
        </p:spPr>
      </p:pic>
      <p:sp>
        <p:nvSpPr>
          <p:cNvPr id="9" name="Text 6"/>
          <p:cNvSpPr/>
          <p:nvPr/>
        </p:nvSpPr>
        <p:spPr>
          <a:xfrm>
            <a:off x="932688" y="4572000"/>
            <a:ext cx="2249424" cy="365760"/>
          </a:xfrm>
          <a:prstGeom prst="rect">
            <a:avLst/>
          </a:prstGeom>
          <a:noFill/>
          <a:ln/>
        </p:spPr>
        <p:txBody>
          <a:bodyPr wrap="square" lIns="0" tIns="0" rIns="0" bIns="0" rtlCol="0" anchor="ctr"/>
          <a:lstStyle/>
          <a:p>
            <a:pPr marL="0" indent="0" algn="ctr">
              <a:buNone/>
            </a:pPr>
            <a:r>
              <a:rPr lang="en-US" sz="1400" b="1" dirty="0">
                <a:solidFill>
                  <a:srgbClr val="15181F"/>
                </a:solidFill>
                <a:latin typeface="Georgia" pitchFamily="34" charset="0"/>
                <a:ea typeface="Georgia" pitchFamily="34" charset="-122"/>
                <a:cs typeface="Georgia" pitchFamily="34" charset="-120"/>
              </a:rPr>
              <a:t>ART FER SRL</a:t>
            </a:r>
            <a:endParaRPr lang="en-US" sz="1400" dirty="0"/>
          </a:p>
        </p:txBody>
      </p:sp>
      <p:sp>
        <p:nvSpPr>
          <p:cNvPr id="10" name="Text 7"/>
          <p:cNvSpPr/>
          <p:nvPr/>
        </p:nvSpPr>
        <p:spPr>
          <a:xfrm>
            <a:off x="932688" y="4965192"/>
            <a:ext cx="2249424" cy="274320"/>
          </a:xfrm>
          <a:prstGeom prst="rect">
            <a:avLst/>
          </a:prstGeom>
          <a:noFill/>
          <a:ln/>
        </p:spPr>
        <p:txBody>
          <a:bodyPr wrap="square" lIns="0" tIns="0" rIns="0" bIns="0" rtlCol="0" anchor="ctr"/>
          <a:lstStyle/>
          <a:p>
            <a:pPr marL="0" indent="0" algn="ctr">
              <a:buNone/>
            </a:pPr>
            <a:r>
              <a:rPr lang="en-US" sz="950" b="1" kern="0" spc="150" dirty="0">
                <a:solidFill>
                  <a:srgbClr val="C2A14B"/>
                </a:solidFill>
                <a:latin typeface="Calibri" pitchFamily="34" charset="0"/>
                <a:ea typeface="Calibri" pitchFamily="34" charset="-122"/>
                <a:cs typeface="Calibri" pitchFamily="34" charset="-120"/>
              </a:rPr>
              <a:t>MANUFACTURING</a:t>
            </a:r>
            <a:endParaRPr lang="en-US" sz="950" dirty="0"/>
          </a:p>
        </p:txBody>
      </p:sp>
      <p:sp>
        <p:nvSpPr>
          <p:cNvPr id="11" name="Shape 8"/>
          <p:cNvSpPr/>
          <p:nvPr/>
        </p:nvSpPr>
        <p:spPr>
          <a:xfrm>
            <a:off x="3584448" y="2697480"/>
            <a:ext cx="2615184" cy="274320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12" name="Shape 9"/>
          <p:cNvSpPr/>
          <p:nvPr/>
        </p:nvSpPr>
        <p:spPr>
          <a:xfrm>
            <a:off x="3584448" y="5376672"/>
            <a:ext cx="2615184" cy="64008"/>
          </a:xfrm>
          <a:prstGeom prst="rect">
            <a:avLst/>
          </a:prstGeom>
          <a:solidFill>
            <a:srgbClr val="C2A14B"/>
          </a:solidFill>
          <a:ln/>
        </p:spPr>
      </p:sp>
      <p:pic>
        <p:nvPicPr>
          <p:cNvPr id="13" name="Image 1" descr="/sessions/quirky-great-planck/mnt/outputs/deck/assets/cli_corradini.png"/>
          <p:cNvPicPr>
            <a:picLocks noChangeAspect="1"/>
          </p:cNvPicPr>
          <p:nvPr/>
        </p:nvPicPr>
        <p:blipFill>
          <a:blip r:embed="rId4"/>
          <a:srcRect l="-18667" r="-18667"/>
          <a:stretch/>
        </p:blipFill>
        <p:spPr>
          <a:xfrm>
            <a:off x="3584448" y="3017520"/>
            <a:ext cx="2615184" cy="1371600"/>
          </a:xfrm>
          <a:prstGeom prst="rect">
            <a:avLst/>
          </a:prstGeom>
        </p:spPr>
      </p:pic>
      <p:sp>
        <p:nvSpPr>
          <p:cNvPr id="14" name="Text 10"/>
          <p:cNvSpPr/>
          <p:nvPr/>
        </p:nvSpPr>
        <p:spPr>
          <a:xfrm>
            <a:off x="3767328" y="4572000"/>
            <a:ext cx="2249424" cy="365760"/>
          </a:xfrm>
          <a:prstGeom prst="rect">
            <a:avLst/>
          </a:prstGeom>
          <a:noFill/>
          <a:ln/>
        </p:spPr>
        <p:txBody>
          <a:bodyPr wrap="square" lIns="0" tIns="0" rIns="0" bIns="0" rtlCol="0" anchor="ctr"/>
          <a:lstStyle/>
          <a:p>
            <a:pPr marL="0" indent="0" algn="ctr">
              <a:buNone/>
            </a:pPr>
            <a:r>
              <a:rPr lang="en-US" sz="1400" b="1" dirty="0">
                <a:solidFill>
                  <a:srgbClr val="15181F"/>
                </a:solidFill>
                <a:latin typeface="Georgia" pitchFamily="34" charset="0"/>
                <a:ea typeface="Georgia" pitchFamily="34" charset="-122"/>
                <a:cs typeface="Georgia" pitchFamily="34" charset="-120"/>
              </a:rPr>
              <a:t>CORRADINI SRL</a:t>
            </a:r>
            <a:endParaRPr lang="en-US" sz="1400" dirty="0"/>
          </a:p>
        </p:txBody>
      </p:sp>
      <p:sp>
        <p:nvSpPr>
          <p:cNvPr id="15" name="Text 11"/>
          <p:cNvSpPr/>
          <p:nvPr/>
        </p:nvSpPr>
        <p:spPr>
          <a:xfrm>
            <a:off x="3767328" y="4965192"/>
            <a:ext cx="2249424" cy="274320"/>
          </a:xfrm>
          <a:prstGeom prst="rect">
            <a:avLst/>
          </a:prstGeom>
          <a:noFill/>
          <a:ln/>
        </p:spPr>
        <p:txBody>
          <a:bodyPr wrap="square" lIns="0" tIns="0" rIns="0" bIns="0" rtlCol="0" anchor="ctr"/>
          <a:lstStyle/>
          <a:p>
            <a:pPr marL="0" indent="0" algn="ctr">
              <a:buNone/>
            </a:pPr>
            <a:r>
              <a:rPr lang="en-US" sz="950" b="1" kern="0" spc="150" dirty="0">
                <a:solidFill>
                  <a:srgbClr val="C2A14B"/>
                </a:solidFill>
                <a:latin typeface="Calibri" pitchFamily="34" charset="0"/>
                <a:ea typeface="Calibri" pitchFamily="34" charset="-122"/>
                <a:cs typeface="Calibri" pitchFamily="34" charset="-120"/>
              </a:rPr>
              <a:t>CONSTRUCTION</a:t>
            </a:r>
            <a:endParaRPr lang="en-US" sz="950" dirty="0"/>
          </a:p>
        </p:txBody>
      </p:sp>
      <p:sp>
        <p:nvSpPr>
          <p:cNvPr id="16" name="Shape 12"/>
          <p:cNvSpPr/>
          <p:nvPr/>
        </p:nvSpPr>
        <p:spPr>
          <a:xfrm>
            <a:off x="6419088" y="2697480"/>
            <a:ext cx="2615184" cy="274320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17" name="Shape 13"/>
          <p:cNvSpPr/>
          <p:nvPr/>
        </p:nvSpPr>
        <p:spPr>
          <a:xfrm>
            <a:off x="6419088" y="5376672"/>
            <a:ext cx="2615184" cy="64008"/>
          </a:xfrm>
          <a:prstGeom prst="rect">
            <a:avLst/>
          </a:prstGeom>
          <a:solidFill>
            <a:srgbClr val="C2A14B"/>
          </a:solidFill>
          <a:ln/>
        </p:spPr>
      </p:sp>
      <p:pic>
        <p:nvPicPr>
          <p:cNvPr id="18" name="Image 2" descr="/sessions/quirky-great-planck/mnt/outputs/deck/assets/cli_massignani.png"/>
          <p:cNvPicPr>
            <a:picLocks noChangeAspect="1"/>
          </p:cNvPicPr>
          <p:nvPr/>
        </p:nvPicPr>
        <p:blipFill>
          <a:blip r:embed="rId5"/>
          <a:srcRect l="-18667" r="-18667"/>
          <a:stretch/>
        </p:blipFill>
        <p:spPr>
          <a:xfrm>
            <a:off x="6419088" y="3017520"/>
            <a:ext cx="2432304" cy="1371600"/>
          </a:xfrm>
          <a:prstGeom prst="rect">
            <a:avLst/>
          </a:prstGeom>
        </p:spPr>
      </p:pic>
      <p:sp>
        <p:nvSpPr>
          <p:cNvPr id="19" name="Text 14"/>
          <p:cNvSpPr/>
          <p:nvPr/>
        </p:nvSpPr>
        <p:spPr>
          <a:xfrm>
            <a:off x="6601968" y="4572000"/>
            <a:ext cx="2249424" cy="365760"/>
          </a:xfrm>
          <a:prstGeom prst="rect">
            <a:avLst/>
          </a:prstGeom>
          <a:noFill/>
          <a:ln/>
        </p:spPr>
        <p:txBody>
          <a:bodyPr wrap="square" lIns="0" tIns="0" rIns="0" bIns="0" rtlCol="0" anchor="ctr"/>
          <a:lstStyle/>
          <a:p>
            <a:pPr marL="0" indent="0" algn="ctr">
              <a:buNone/>
            </a:pPr>
            <a:r>
              <a:rPr lang="en-US" sz="1400" b="1" dirty="0">
                <a:solidFill>
                  <a:srgbClr val="15181F"/>
                </a:solidFill>
                <a:latin typeface="Georgia" pitchFamily="34" charset="0"/>
                <a:ea typeface="Georgia" pitchFamily="34" charset="-122"/>
                <a:cs typeface="Georgia" pitchFamily="34" charset="-120"/>
              </a:rPr>
              <a:t>MASSIGNANI &amp; C.</a:t>
            </a:r>
            <a:endParaRPr lang="en-US" sz="1400" dirty="0"/>
          </a:p>
        </p:txBody>
      </p:sp>
      <p:sp>
        <p:nvSpPr>
          <p:cNvPr id="20" name="Text 15"/>
          <p:cNvSpPr/>
          <p:nvPr/>
        </p:nvSpPr>
        <p:spPr>
          <a:xfrm>
            <a:off x="6601968" y="4965192"/>
            <a:ext cx="2249424" cy="274320"/>
          </a:xfrm>
          <a:prstGeom prst="rect">
            <a:avLst/>
          </a:prstGeom>
          <a:noFill/>
          <a:ln/>
        </p:spPr>
        <p:txBody>
          <a:bodyPr wrap="square" lIns="0" tIns="0" rIns="0" bIns="0" rtlCol="0" anchor="ctr"/>
          <a:lstStyle/>
          <a:p>
            <a:pPr marL="0" indent="0" algn="ctr">
              <a:buNone/>
            </a:pPr>
            <a:r>
              <a:rPr lang="en-US" sz="950" b="1" kern="0" spc="150" dirty="0">
                <a:solidFill>
                  <a:srgbClr val="C2A14B"/>
                </a:solidFill>
                <a:latin typeface="Calibri" pitchFamily="34" charset="0"/>
                <a:ea typeface="Calibri" pitchFamily="34" charset="-122"/>
                <a:cs typeface="Calibri" pitchFamily="34" charset="-120"/>
              </a:rPr>
              <a:t>MANUFACTURING</a:t>
            </a:r>
            <a:endParaRPr lang="en-US" sz="950" dirty="0"/>
          </a:p>
        </p:txBody>
      </p:sp>
      <p:sp>
        <p:nvSpPr>
          <p:cNvPr id="21" name="Shape 16"/>
          <p:cNvSpPr/>
          <p:nvPr/>
        </p:nvSpPr>
        <p:spPr>
          <a:xfrm>
            <a:off x="9253728" y="2697480"/>
            <a:ext cx="2615184" cy="274320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22" name="Shape 17"/>
          <p:cNvSpPr/>
          <p:nvPr/>
        </p:nvSpPr>
        <p:spPr>
          <a:xfrm>
            <a:off x="9253728" y="5376672"/>
            <a:ext cx="2615184" cy="64008"/>
          </a:xfrm>
          <a:prstGeom prst="rect">
            <a:avLst/>
          </a:prstGeom>
          <a:solidFill>
            <a:srgbClr val="C2A14B"/>
          </a:solidFill>
          <a:ln/>
        </p:spPr>
      </p:sp>
      <p:pic>
        <p:nvPicPr>
          <p:cNvPr id="23" name="Image 3" descr="/sessions/quirky-great-planck/mnt/outputs/deck/assets/cli_soave.png"/>
          <p:cNvPicPr>
            <a:picLocks noChangeAspect="1"/>
          </p:cNvPicPr>
          <p:nvPr/>
        </p:nvPicPr>
        <p:blipFill>
          <a:blip r:embed="rId6"/>
          <a:srcRect l="-18667" r="-18667"/>
          <a:stretch/>
        </p:blipFill>
        <p:spPr>
          <a:xfrm>
            <a:off x="9619488" y="3017520"/>
            <a:ext cx="1883664" cy="1371600"/>
          </a:xfrm>
          <a:prstGeom prst="rect">
            <a:avLst/>
          </a:prstGeom>
        </p:spPr>
      </p:pic>
      <p:sp>
        <p:nvSpPr>
          <p:cNvPr id="24" name="Text 18"/>
          <p:cNvSpPr/>
          <p:nvPr/>
        </p:nvSpPr>
        <p:spPr>
          <a:xfrm>
            <a:off x="9436608" y="4572000"/>
            <a:ext cx="2249424" cy="365760"/>
          </a:xfrm>
          <a:prstGeom prst="rect">
            <a:avLst/>
          </a:prstGeom>
          <a:noFill/>
          <a:ln/>
        </p:spPr>
        <p:txBody>
          <a:bodyPr wrap="square" lIns="0" tIns="0" rIns="0" bIns="0" rtlCol="0" anchor="ctr"/>
          <a:lstStyle/>
          <a:p>
            <a:pPr marL="0" indent="0" algn="ctr">
              <a:buNone/>
            </a:pPr>
            <a:r>
              <a:rPr lang="en-US" sz="1400" b="1" dirty="0">
                <a:solidFill>
                  <a:srgbClr val="15181F"/>
                </a:solidFill>
                <a:latin typeface="Georgia" pitchFamily="34" charset="0"/>
                <a:ea typeface="Georgia" pitchFamily="34" charset="-122"/>
                <a:cs typeface="Georgia" pitchFamily="34" charset="-120"/>
              </a:rPr>
              <a:t>SOAVE SERRAMENTI</a:t>
            </a:r>
            <a:endParaRPr lang="en-US" sz="1400" dirty="0"/>
          </a:p>
        </p:txBody>
      </p:sp>
      <p:sp>
        <p:nvSpPr>
          <p:cNvPr id="25" name="Text 19"/>
          <p:cNvSpPr/>
          <p:nvPr/>
        </p:nvSpPr>
        <p:spPr>
          <a:xfrm>
            <a:off x="9436608" y="4965192"/>
            <a:ext cx="2249424" cy="274320"/>
          </a:xfrm>
          <a:prstGeom prst="rect">
            <a:avLst/>
          </a:prstGeom>
          <a:noFill/>
          <a:ln/>
        </p:spPr>
        <p:txBody>
          <a:bodyPr wrap="square" lIns="0" tIns="0" rIns="0" bIns="0" rtlCol="0" anchor="ctr"/>
          <a:lstStyle/>
          <a:p>
            <a:pPr marL="0" indent="0" algn="ctr">
              <a:buNone/>
            </a:pPr>
            <a:r>
              <a:rPr lang="en-US" sz="950" b="1" kern="0" spc="150" dirty="0">
                <a:solidFill>
                  <a:srgbClr val="C2A14B"/>
                </a:solidFill>
                <a:latin typeface="Calibri" pitchFamily="34" charset="0"/>
                <a:ea typeface="Calibri" pitchFamily="34" charset="-122"/>
                <a:cs typeface="Calibri" pitchFamily="34" charset="-120"/>
              </a:rPr>
              <a:t>WINDOWS &amp; DOORS</a:t>
            </a:r>
            <a:endParaRPr lang="en-US" sz="950" dirty="0"/>
          </a:p>
        </p:txBody>
      </p:sp>
      <p:sp>
        <p:nvSpPr>
          <p:cNvPr id="26" name="Text 20"/>
          <p:cNvSpPr/>
          <p:nvPr/>
        </p:nvSpPr>
        <p:spPr>
          <a:xfrm>
            <a:off x="566928" y="6437376"/>
            <a:ext cx="6400800" cy="274320"/>
          </a:xfrm>
          <a:prstGeom prst="rect">
            <a:avLst/>
          </a:prstGeom>
          <a:noFill/>
          <a:ln/>
        </p:spPr>
        <p:txBody>
          <a:bodyPr wrap="square" rtlCol="0" anchor="ctr"/>
          <a:lstStyle/>
          <a:p>
            <a:pPr marL="0" indent="0" algn="l">
              <a:buNone/>
            </a:pPr>
            <a:r>
              <a:rPr lang="en-US" sz="850" kern="0" spc="100" dirty="0">
                <a:solidFill>
                  <a:srgbClr val="6E7480"/>
                </a:solidFill>
                <a:latin typeface="Calibri" pitchFamily="34" charset="0"/>
                <a:ea typeface="Calibri" pitchFamily="34" charset="-122"/>
                <a:cs typeface="Calibri" pitchFamily="34" charset="-120"/>
              </a:rPr>
              <a:t>ART SER - Company Portfolio</a:t>
            </a:r>
            <a:endParaRPr lang="en-US" sz="850" dirty="0"/>
          </a:p>
        </p:txBody>
      </p:sp>
      <p:sp>
        <p:nvSpPr>
          <p:cNvPr id="27" name="Text 21"/>
          <p:cNvSpPr/>
          <p:nvPr/>
        </p:nvSpPr>
        <p:spPr>
          <a:xfrm>
            <a:off x="10707624" y="6437376"/>
            <a:ext cx="914400" cy="274320"/>
          </a:xfrm>
          <a:prstGeom prst="rect">
            <a:avLst/>
          </a:prstGeom>
          <a:noFill/>
          <a:ln/>
        </p:spPr>
        <p:txBody>
          <a:bodyPr wrap="square" rtlCol="0" anchor="ctr"/>
          <a:lstStyle/>
          <a:p>
            <a:pPr marL="0" indent="0" algn="r">
              <a:buNone/>
            </a:pPr>
            <a:r>
              <a:rPr lang="en-US" sz="850" dirty="0">
                <a:solidFill>
                  <a:srgbClr val="6E7480"/>
                </a:solidFill>
                <a:latin typeface="Calibri" pitchFamily="34" charset="0"/>
                <a:ea typeface="Calibri" pitchFamily="34" charset="-122"/>
                <a:cs typeface="Calibri"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Shape 0"/>
          <p:cNvSpPr/>
          <p:nvPr/>
        </p:nvSpPr>
        <p:spPr>
          <a:xfrm>
            <a:off x="566928" y="566928"/>
            <a:ext cx="82296" cy="384048"/>
          </a:xfrm>
          <a:prstGeom prst="rect">
            <a:avLst/>
          </a:prstGeom>
          <a:solidFill>
            <a:srgbClr val="C2A14B"/>
          </a:solidFill>
          <a:ln/>
        </p:spPr>
      </p:sp>
      <p:sp>
        <p:nvSpPr>
          <p:cNvPr id="3" name="Text 1"/>
          <p:cNvSpPr/>
          <p:nvPr/>
        </p:nvSpPr>
        <p:spPr>
          <a:xfrm>
            <a:off x="768096" y="530352"/>
            <a:ext cx="9144000" cy="274320"/>
          </a:xfrm>
          <a:prstGeom prst="rect">
            <a:avLst/>
          </a:prstGeom>
          <a:noFill/>
          <a:ln/>
        </p:spPr>
        <p:txBody>
          <a:bodyPr wrap="square" lIns="0" tIns="0" rIns="0" bIns="0" rtlCol="0" anchor="ctr"/>
          <a:lstStyle/>
          <a:p>
            <a:pPr marL="0" indent="0">
              <a:buNone/>
            </a:pPr>
            <a:r>
              <a:rPr lang="en-US" sz="1100" b="1" kern="0" spc="200" dirty="0">
                <a:solidFill>
                  <a:srgbClr val="C2A14B"/>
                </a:solidFill>
                <a:latin typeface="Calibri" pitchFamily="34" charset="0"/>
                <a:ea typeface="Calibri" pitchFamily="34" charset="-122"/>
                <a:cs typeface="Calibri" pitchFamily="34" charset="-120"/>
              </a:rPr>
              <a:t>COMPLIANCE</a:t>
            </a:r>
            <a:endParaRPr lang="en-US" sz="1100" dirty="0"/>
          </a:p>
        </p:txBody>
      </p:sp>
      <p:sp>
        <p:nvSpPr>
          <p:cNvPr id="4" name="Text 2"/>
          <p:cNvSpPr/>
          <p:nvPr/>
        </p:nvSpPr>
        <p:spPr>
          <a:xfrm>
            <a:off x="749808" y="841248"/>
            <a:ext cx="10515600" cy="603504"/>
          </a:xfrm>
          <a:prstGeom prst="rect">
            <a:avLst/>
          </a:prstGeom>
          <a:noFill/>
          <a:ln/>
        </p:spPr>
        <p:txBody>
          <a:bodyPr wrap="square" lIns="0" tIns="0" rIns="0" bIns="0" rtlCol="0" anchor="ctr"/>
          <a:lstStyle/>
          <a:p>
            <a:pPr marL="0" indent="0">
              <a:buNone/>
            </a:pPr>
            <a:r>
              <a:rPr lang="en-US" sz="3000" b="1" dirty="0">
                <a:solidFill>
                  <a:srgbClr val="15181F"/>
                </a:solidFill>
                <a:latin typeface="Georgia" pitchFamily="34" charset="0"/>
                <a:ea typeface="Georgia" pitchFamily="34" charset="-122"/>
                <a:cs typeface="Georgia" pitchFamily="34" charset="-120"/>
              </a:rPr>
              <a:t>Certifications &amp; Safety</a:t>
            </a:r>
            <a:endParaRPr lang="en-US" sz="3000" dirty="0"/>
          </a:p>
        </p:txBody>
      </p:sp>
      <p:sp>
        <p:nvSpPr>
          <p:cNvPr id="5" name="Shape 3"/>
          <p:cNvSpPr/>
          <p:nvPr/>
        </p:nvSpPr>
        <p:spPr>
          <a:xfrm>
            <a:off x="749808" y="1783080"/>
            <a:ext cx="3456432" cy="128016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6" name="Shape 4"/>
          <p:cNvSpPr/>
          <p:nvPr/>
        </p:nvSpPr>
        <p:spPr>
          <a:xfrm>
            <a:off x="749808" y="1783080"/>
            <a:ext cx="73152" cy="1280160"/>
          </a:xfrm>
          <a:prstGeom prst="rect">
            <a:avLst/>
          </a:prstGeom>
          <a:solidFill>
            <a:srgbClr val="C2A14B"/>
          </a:solidFill>
          <a:ln/>
        </p:spPr>
      </p:sp>
      <p:sp>
        <p:nvSpPr>
          <p:cNvPr id="7" name="Shape 5"/>
          <p:cNvSpPr/>
          <p:nvPr/>
        </p:nvSpPr>
        <p:spPr>
          <a:xfrm>
            <a:off x="987552" y="2194560"/>
            <a:ext cx="457200" cy="457200"/>
          </a:xfrm>
          <a:prstGeom prst="ellipse">
            <a:avLst/>
          </a:prstGeom>
          <a:solidFill>
            <a:srgbClr val="C2A14B"/>
          </a:solidFill>
          <a:ln/>
        </p:spPr>
      </p:sp>
      <p:sp>
        <p:nvSpPr>
          <p:cNvPr id="8" name="Text 6"/>
          <p:cNvSpPr/>
          <p:nvPr/>
        </p:nvSpPr>
        <p:spPr>
          <a:xfrm>
            <a:off x="987552" y="2194560"/>
            <a:ext cx="457200" cy="457200"/>
          </a:xfrm>
          <a:prstGeom prst="rect">
            <a:avLst/>
          </a:prstGeom>
          <a:noFill/>
          <a:ln/>
        </p:spPr>
        <p:txBody>
          <a:bodyPr wrap="square" lIns="0" tIns="0" rIns="0" bIns="0" rtlCol="0" anchor="ctr"/>
          <a:lstStyle/>
          <a:p>
            <a:pPr marL="0" indent="0" algn="ctr">
              <a:buNone/>
            </a:pPr>
            <a:r>
              <a:rPr lang="en-US" sz="1300" b="1" dirty="0">
                <a:solidFill>
                  <a:srgbClr val="15181F"/>
                </a:solidFill>
                <a:latin typeface="Georgia" pitchFamily="34" charset="0"/>
                <a:ea typeface="Georgia" pitchFamily="34" charset="-122"/>
                <a:cs typeface="Georgia" pitchFamily="34" charset="-120"/>
              </a:rPr>
              <a:t>01</a:t>
            </a:r>
            <a:endParaRPr lang="en-US" sz="1300" dirty="0"/>
          </a:p>
        </p:txBody>
      </p:sp>
      <p:sp>
        <p:nvSpPr>
          <p:cNvPr id="9" name="Text 7"/>
          <p:cNvSpPr/>
          <p:nvPr/>
        </p:nvSpPr>
        <p:spPr>
          <a:xfrm>
            <a:off x="1517904" y="2002536"/>
            <a:ext cx="2496312" cy="640080"/>
          </a:xfrm>
          <a:prstGeom prst="rect">
            <a:avLst/>
          </a:prstGeom>
          <a:noFill/>
          <a:ln/>
        </p:spPr>
        <p:txBody>
          <a:bodyPr wrap="square" lIns="0" tIns="0" rIns="0" bIns="0" rtlCol="0" anchor="ctr"/>
          <a:lstStyle/>
          <a:p>
            <a:pPr marL="0" indent="0">
              <a:lnSpc>
                <a:spcPts val="1600"/>
              </a:lnSpc>
              <a:buNone/>
            </a:pPr>
            <a:r>
              <a:rPr lang="en-US" sz="1300" b="1" dirty="0">
                <a:solidFill>
                  <a:srgbClr val="15181F"/>
                </a:solidFill>
                <a:latin typeface="Georgia" pitchFamily="34" charset="0"/>
                <a:ea typeface="Georgia" pitchFamily="34" charset="-122"/>
                <a:cs typeface="Georgia" pitchFamily="34" charset="-120"/>
              </a:rPr>
              <a:t>External Window &amp; Door Installation</a:t>
            </a:r>
            <a:endParaRPr lang="en-US" sz="1300" dirty="0"/>
          </a:p>
        </p:txBody>
      </p:sp>
      <p:sp>
        <p:nvSpPr>
          <p:cNvPr id="10" name="Text 8"/>
          <p:cNvSpPr/>
          <p:nvPr/>
        </p:nvSpPr>
        <p:spPr>
          <a:xfrm>
            <a:off x="1517904" y="2642616"/>
            <a:ext cx="2496312" cy="292608"/>
          </a:xfrm>
          <a:prstGeom prst="rect">
            <a:avLst/>
          </a:prstGeom>
          <a:noFill/>
          <a:ln/>
        </p:spPr>
        <p:txBody>
          <a:bodyPr wrap="square" lIns="0" tIns="0" rIns="0" bIns="0" rtlCol="0" anchor="ctr"/>
          <a:lstStyle/>
          <a:p>
            <a:pPr marL="0" indent="0">
              <a:buNone/>
            </a:pPr>
            <a:r>
              <a:rPr lang="en-US" sz="1000" dirty="0">
                <a:solidFill>
                  <a:srgbClr val="6E7480"/>
                </a:solidFill>
                <a:latin typeface="Calibri" pitchFamily="34" charset="0"/>
                <a:ea typeface="Calibri" pitchFamily="34" charset="-122"/>
                <a:cs typeface="Calibri" pitchFamily="34" charset="-120"/>
              </a:rPr>
              <a:t>O.P.N. Italia Lavoro / CNL</a:t>
            </a:r>
            <a:endParaRPr lang="en-US" sz="1000" dirty="0"/>
          </a:p>
        </p:txBody>
      </p:sp>
      <p:sp>
        <p:nvSpPr>
          <p:cNvPr id="11" name="Shape 9"/>
          <p:cNvSpPr/>
          <p:nvPr/>
        </p:nvSpPr>
        <p:spPr>
          <a:xfrm>
            <a:off x="4480560" y="1783080"/>
            <a:ext cx="3456432" cy="128016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12" name="Shape 10"/>
          <p:cNvSpPr/>
          <p:nvPr/>
        </p:nvSpPr>
        <p:spPr>
          <a:xfrm>
            <a:off x="4480560" y="1783080"/>
            <a:ext cx="73152" cy="1280160"/>
          </a:xfrm>
          <a:prstGeom prst="rect">
            <a:avLst/>
          </a:prstGeom>
          <a:solidFill>
            <a:srgbClr val="C2A14B"/>
          </a:solidFill>
          <a:ln/>
        </p:spPr>
      </p:sp>
      <p:sp>
        <p:nvSpPr>
          <p:cNvPr id="13" name="Shape 11"/>
          <p:cNvSpPr/>
          <p:nvPr/>
        </p:nvSpPr>
        <p:spPr>
          <a:xfrm>
            <a:off x="4718304" y="2194560"/>
            <a:ext cx="457200" cy="457200"/>
          </a:xfrm>
          <a:prstGeom prst="ellipse">
            <a:avLst/>
          </a:prstGeom>
          <a:solidFill>
            <a:srgbClr val="C2A14B"/>
          </a:solidFill>
          <a:ln/>
        </p:spPr>
      </p:sp>
      <p:sp>
        <p:nvSpPr>
          <p:cNvPr id="14" name="Text 12"/>
          <p:cNvSpPr/>
          <p:nvPr/>
        </p:nvSpPr>
        <p:spPr>
          <a:xfrm>
            <a:off x="4718304" y="2194560"/>
            <a:ext cx="457200" cy="457200"/>
          </a:xfrm>
          <a:prstGeom prst="rect">
            <a:avLst/>
          </a:prstGeom>
          <a:noFill/>
          <a:ln/>
        </p:spPr>
        <p:txBody>
          <a:bodyPr wrap="square" lIns="0" tIns="0" rIns="0" bIns="0" rtlCol="0" anchor="ctr"/>
          <a:lstStyle/>
          <a:p>
            <a:pPr marL="0" indent="0" algn="ctr">
              <a:buNone/>
            </a:pPr>
            <a:r>
              <a:rPr lang="en-US" sz="1300" b="1" dirty="0">
                <a:solidFill>
                  <a:srgbClr val="15181F"/>
                </a:solidFill>
                <a:latin typeface="Georgia" pitchFamily="34" charset="0"/>
                <a:ea typeface="Georgia" pitchFamily="34" charset="-122"/>
                <a:cs typeface="Georgia" pitchFamily="34" charset="-120"/>
              </a:rPr>
              <a:t>02</a:t>
            </a:r>
            <a:endParaRPr lang="en-US" sz="1300" dirty="0"/>
          </a:p>
        </p:txBody>
      </p:sp>
      <p:sp>
        <p:nvSpPr>
          <p:cNvPr id="15" name="Text 13"/>
          <p:cNvSpPr/>
          <p:nvPr/>
        </p:nvSpPr>
        <p:spPr>
          <a:xfrm>
            <a:off x="5248656" y="2002536"/>
            <a:ext cx="2496312" cy="640080"/>
          </a:xfrm>
          <a:prstGeom prst="rect">
            <a:avLst/>
          </a:prstGeom>
          <a:noFill/>
          <a:ln/>
        </p:spPr>
        <p:txBody>
          <a:bodyPr wrap="square" lIns="0" tIns="0" rIns="0" bIns="0" rtlCol="0" anchor="ctr"/>
          <a:lstStyle/>
          <a:p>
            <a:pPr marL="0" indent="0">
              <a:lnSpc>
                <a:spcPts val="1600"/>
              </a:lnSpc>
              <a:buNone/>
            </a:pPr>
            <a:r>
              <a:rPr lang="en-US" sz="1300" b="1" dirty="0">
                <a:solidFill>
                  <a:srgbClr val="15181F"/>
                </a:solidFill>
                <a:latin typeface="Georgia" pitchFamily="34" charset="0"/>
                <a:ea typeface="Georgia" pitchFamily="34" charset="-122"/>
                <a:cs typeface="Georgia" pitchFamily="34" charset="-120"/>
              </a:rPr>
              <a:t>Prevention &amp; Protection Officer (RSPP)</a:t>
            </a:r>
            <a:endParaRPr lang="en-US" sz="1300" dirty="0"/>
          </a:p>
        </p:txBody>
      </p:sp>
      <p:sp>
        <p:nvSpPr>
          <p:cNvPr id="16" name="Text 14"/>
          <p:cNvSpPr/>
          <p:nvPr/>
        </p:nvSpPr>
        <p:spPr>
          <a:xfrm>
            <a:off x="5248656" y="2642616"/>
            <a:ext cx="2496312" cy="292608"/>
          </a:xfrm>
          <a:prstGeom prst="rect">
            <a:avLst/>
          </a:prstGeom>
          <a:noFill/>
          <a:ln/>
        </p:spPr>
        <p:txBody>
          <a:bodyPr wrap="square" lIns="0" tIns="0" rIns="0" bIns="0" rtlCol="0" anchor="ctr"/>
          <a:lstStyle/>
          <a:p>
            <a:pPr marL="0" indent="0">
              <a:buNone/>
            </a:pPr>
            <a:r>
              <a:rPr lang="en-US" sz="1000" dirty="0">
                <a:solidFill>
                  <a:srgbClr val="6E7480"/>
                </a:solidFill>
                <a:latin typeface="Calibri" pitchFamily="34" charset="0"/>
                <a:ea typeface="Calibri" pitchFamily="34" charset="-122"/>
                <a:cs typeface="Calibri" pitchFamily="34" charset="-120"/>
              </a:rPr>
              <a:t>UESE Italia / E.N.Bi.Form.</a:t>
            </a:r>
            <a:endParaRPr lang="en-US" sz="1000" dirty="0"/>
          </a:p>
        </p:txBody>
      </p:sp>
      <p:sp>
        <p:nvSpPr>
          <p:cNvPr id="17" name="Shape 15"/>
          <p:cNvSpPr/>
          <p:nvPr/>
        </p:nvSpPr>
        <p:spPr>
          <a:xfrm>
            <a:off x="8211312" y="1783080"/>
            <a:ext cx="3456432" cy="128016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18" name="Shape 16"/>
          <p:cNvSpPr/>
          <p:nvPr/>
        </p:nvSpPr>
        <p:spPr>
          <a:xfrm>
            <a:off x="8211312" y="1783080"/>
            <a:ext cx="73152" cy="1280160"/>
          </a:xfrm>
          <a:prstGeom prst="rect">
            <a:avLst/>
          </a:prstGeom>
          <a:solidFill>
            <a:srgbClr val="C2A14B"/>
          </a:solidFill>
          <a:ln/>
        </p:spPr>
      </p:sp>
      <p:sp>
        <p:nvSpPr>
          <p:cNvPr id="19" name="Shape 17"/>
          <p:cNvSpPr/>
          <p:nvPr/>
        </p:nvSpPr>
        <p:spPr>
          <a:xfrm>
            <a:off x="8449056" y="2194560"/>
            <a:ext cx="457200" cy="457200"/>
          </a:xfrm>
          <a:prstGeom prst="ellipse">
            <a:avLst/>
          </a:prstGeom>
          <a:solidFill>
            <a:srgbClr val="C2A14B"/>
          </a:solidFill>
          <a:ln/>
        </p:spPr>
      </p:sp>
      <p:sp>
        <p:nvSpPr>
          <p:cNvPr id="20" name="Text 18"/>
          <p:cNvSpPr/>
          <p:nvPr/>
        </p:nvSpPr>
        <p:spPr>
          <a:xfrm>
            <a:off x="8449056" y="2194560"/>
            <a:ext cx="457200" cy="457200"/>
          </a:xfrm>
          <a:prstGeom prst="rect">
            <a:avLst/>
          </a:prstGeom>
          <a:noFill/>
          <a:ln/>
        </p:spPr>
        <p:txBody>
          <a:bodyPr wrap="square" lIns="0" tIns="0" rIns="0" bIns="0" rtlCol="0" anchor="ctr"/>
          <a:lstStyle/>
          <a:p>
            <a:pPr marL="0" indent="0" algn="ctr">
              <a:buNone/>
            </a:pPr>
            <a:r>
              <a:rPr lang="en-US" sz="1300" b="1" dirty="0">
                <a:solidFill>
                  <a:srgbClr val="15181F"/>
                </a:solidFill>
                <a:latin typeface="Georgia" pitchFamily="34" charset="0"/>
                <a:ea typeface="Georgia" pitchFamily="34" charset="-122"/>
                <a:cs typeface="Georgia" pitchFamily="34" charset="-120"/>
              </a:rPr>
              <a:t>03</a:t>
            </a:r>
            <a:endParaRPr lang="en-US" sz="1300" dirty="0"/>
          </a:p>
        </p:txBody>
      </p:sp>
      <p:sp>
        <p:nvSpPr>
          <p:cNvPr id="21" name="Text 19"/>
          <p:cNvSpPr/>
          <p:nvPr/>
        </p:nvSpPr>
        <p:spPr>
          <a:xfrm>
            <a:off x="8979408" y="2002536"/>
            <a:ext cx="2496312" cy="640080"/>
          </a:xfrm>
          <a:prstGeom prst="rect">
            <a:avLst/>
          </a:prstGeom>
          <a:noFill/>
          <a:ln/>
        </p:spPr>
        <p:txBody>
          <a:bodyPr wrap="square" lIns="0" tIns="0" rIns="0" bIns="0" rtlCol="0" anchor="ctr"/>
          <a:lstStyle/>
          <a:p>
            <a:pPr marL="0" indent="0">
              <a:lnSpc>
                <a:spcPts val="1600"/>
              </a:lnSpc>
              <a:buNone/>
            </a:pPr>
            <a:r>
              <a:rPr lang="en-US" sz="1300" b="1" dirty="0">
                <a:solidFill>
                  <a:srgbClr val="15181F"/>
                </a:solidFill>
                <a:latin typeface="Georgia" pitchFamily="34" charset="0"/>
                <a:ea typeface="Georgia" pitchFamily="34" charset="-122"/>
                <a:cs typeface="Georgia" pitchFamily="34" charset="-120"/>
              </a:rPr>
              <a:t>Work at Height &amp; Cat. III PPE</a:t>
            </a:r>
            <a:endParaRPr lang="en-US" sz="1300" dirty="0"/>
          </a:p>
        </p:txBody>
      </p:sp>
      <p:sp>
        <p:nvSpPr>
          <p:cNvPr id="22" name="Text 20"/>
          <p:cNvSpPr/>
          <p:nvPr/>
        </p:nvSpPr>
        <p:spPr>
          <a:xfrm>
            <a:off x="8979408" y="2642616"/>
            <a:ext cx="2496312" cy="292608"/>
          </a:xfrm>
          <a:prstGeom prst="rect">
            <a:avLst/>
          </a:prstGeom>
          <a:noFill/>
          <a:ln/>
        </p:spPr>
        <p:txBody>
          <a:bodyPr wrap="square" lIns="0" tIns="0" rIns="0" bIns="0" rtlCol="0" anchor="ctr"/>
          <a:lstStyle/>
          <a:p>
            <a:pPr marL="0" indent="0">
              <a:buNone/>
            </a:pPr>
            <a:r>
              <a:rPr lang="en-US" sz="1000" dirty="0">
                <a:solidFill>
                  <a:srgbClr val="6E7480"/>
                </a:solidFill>
                <a:latin typeface="Calibri" pitchFamily="34" charset="0"/>
                <a:ea typeface="Calibri" pitchFamily="34" charset="-122"/>
                <a:cs typeface="Calibri" pitchFamily="34" charset="-120"/>
              </a:rPr>
              <a:t>UESE Italia / A.N.P.I.</a:t>
            </a:r>
            <a:endParaRPr lang="en-US" sz="1000" dirty="0"/>
          </a:p>
        </p:txBody>
      </p:sp>
      <p:sp>
        <p:nvSpPr>
          <p:cNvPr id="23" name="Shape 21"/>
          <p:cNvSpPr/>
          <p:nvPr/>
        </p:nvSpPr>
        <p:spPr>
          <a:xfrm>
            <a:off x="749808" y="3300984"/>
            <a:ext cx="3456432" cy="128016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24" name="Shape 22"/>
          <p:cNvSpPr/>
          <p:nvPr/>
        </p:nvSpPr>
        <p:spPr>
          <a:xfrm>
            <a:off x="749808" y="3300984"/>
            <a:ext cx="73152" cy="1280160"/>
          </a:xfrm>
          <a:prstGeom prst="rect">
            <a:avLst/>
          </a:prstGeom>
          <a:solidFill>
            <a:srgbClr val="C2A14B"/>
          </a:solidFill>
          <a:ln/>
        </p:spPr>
      </p:sp>
      <p:sp>
        <p:nvSpPr>
          <p:cNvPr id="25" name="Shape 23"/>
          <p:cNvSpPr/>
          <p:nvPr/>
        </p:nvSpPr>
        <p:spPr>
          <a:xfrm>
            <a:off x="987552" y="3712464"/>
            <a:ext cx="457200" cy="457200"/>
          </a:xfrm>
          <a:prstGeom prst="ellipse">
            <a:avLst/>
          </a:prstGeom>
          <a:solidFill>
            <a:srgbClr val="C2A14B"/>
          </a:solidFill>
          <a:ln/>
        </p:spPr>
      </p:sp>
      <p:sp>
        <p:nvSpPr>
          <p:cNvPr id="26" name="Text 24"/>
          <p:cNvSpPr/>
          <p:nvPr/>
        </p:nvSpPr>
        <p:spPr>
          <a:xfrm>
            <a:off x="987552" y="3712464"/>
            <a:ext cx="457200" cy="457200"/>
          </a:xfrm>
          <a:prstGeom prst="rect">
            <a:avLst/>
          </a:prstGeom>
          <a:noFill/>
          <a:ln/>
        </p:spPr>
        <p:txBody>
          <a:bodyPr wrap="square" lIns="0" tIns="0" rIns="0" bIns="0" rtlCol="0" anchor="ctr"/>
          <a:lstStyle/>
          <a:p>
            <a:pPr marL="0" indent="0" algn="ctr">
              <a:buNone/>
            </a:pPr>
            <a:r>
              <a:rPr lang="en-US" sz="1300" b="1" dirty="0">
                <a:solidFill>
                  <a:srgbClr val="15181F"/>
                </a:solidFill>
                <a:latin typeface="Georgia" pitchFamily="34" charset="0"/>
                <a:ea typeface="Georgia" pitchFamily="34" charset="-122"/>
                <a:cs typeface="Georgia" pitchFamily="34" charset="-120"/>
              </a:rPr>
              <a:t>04</a:t>
            </a:r>
            <a:endParaRPr lang="en-US" sz="1300" dirty="0"/>
          </a:p>
        </p:txBody>
      </p:sp>
      <p:sp>
        <p:nvSpPr>
          <p:cNvPr id="27" name="Text 25"/>
          <p:cNvSpPr/>
          <p:nvPr/>
        </p:nvSpPr>
        <p:spPr>
          <a:xfrm>
            <a:off x="1517904" y="3520440"/>
            <a:ext cx="2496312" cy="640080"/>
          </a:xfrm>
          <a:prstGeom prst="rect">
            <a:avLst/>
          </a:prstGeom>
          <a:noFill/>
          <a:ln/>
        </p:spPr>
        <p:txBody>
          <a:bodyPr wrap="square" lIns="0" tIns="0" rIns="0" bIns="0" rtlCol="0" anchor="ctr"/>
          <a:lstStyle/>
          <a:p>
            <a:pPr marL="0" indent="0">
              <a:lnSpc>
                <a:spcPts val="1600"/>
              </a:lnSpc>
              <a:buNone/>
            </a:pPr>
            <a:r>
              <a:rPr lang="en-US" sz="1300" b="1" dirty="0">
                <a:solidFill>
                  <a:srgbClr val="15181F"/>
                </a:solidFill>
                <a:latin typeface="Georgia" pitchFamily="34" charset="0"/>
                <a:ea typeface="Georgia" pitchFamily="34" charset="-122"/>
                <a:cs typeface="Georgia" pitchFamily="34" charset="-120"/>
              </a:rPr>
              <a:t>Aerial Platform Operation (PLE)</a:t>
            </a:r>
            <a:endParaRPr lang="en-US" sz="1300" dirty="0"/>
          </a:p>
        </p:txBody>
      </p:sp>
      <p:sp>
        <p:nvSpPr>
          <p:cNvPr id="28" name="Text 26"/>
          <p:cNvSpPr/>
          <p:nvPr/>
        </p:nvSpPr>
        <p:spPr>
          <a:xfrm>
            <a:off x="1517904" y="4160520"/>
            <a:ext cx="2496312" cy="292608"/>
          </a:xfrm>
          <a:prstGeom prst="rect">
            <a:avLst/>
          </a:prstGeom>
          <a:noFill/>
          <a:ln/>
        </p:spPr>
        <p:txBody>
          <a:bodyPr wrap="square" lIns="0" tIns="0" rIns="0" bIns="0" rtlCol="0" anchor="ctr"/>
          <a:lstStyle/>
          <a:p>
            <a:pPr marL="0" indent="0">
              <a:buNone/>
            </a:pPr>
            <a:r>
              <a:rPr lang="en-US" sz="1000" dirty="0">
                <a:solidFill>
                  <a:srgbClr val="6E7480"/>
                </a:solidFill>
                <a:latin typeface="Calibri" pitchFamily="34" charset="0"/>
                <a:ea typeface="Calibri" pitchFamily="34" charset="-122"/>
                <a:cs typeface="Calibri" pitchFamily="34" charset="-120"/>
              </a:rPr>
              <a:t>UESE Italia / A.N.P.I.</a:t>
            </a:r>
            <a:endParaRPr lang="en-US" sz="1000" dirty="0"/>
          </a:p>
        </p:txBody>
      </p:sp>
      <p:sp>
        <p:nvSpPr>
          <p:cNvPr id="29" name="Shape 27"/>
          <p:cNvSpPr/>
          <p:nvPr/>
        </p:nvSpPr>
        <p:spPr>
          <a:xfrm>
            <a:off x="4480560" y="3300984"/>
            <a:ext cx="3456432" cy="128016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30" name="Shape 28"/>
          <p:cNvSpPr/>
          <p:nvPr/>
        </p:nvSpPr>
        <p:spPr>
          <a:xfrm>
            <a:off x="4480560" y="3300984"/>
            <a:ext cx="73152" cy="1280160"/>
          </a:xfrm>
          <a:prstGeom prst="rect">
            <a:avLst/>
          </a:prstGeom>
          <a:solidFill>
            <a:srgbClr val="C2A14B"/>
          </a:solidFill>
          <a:ln/>
        </p:spPr>
      </p:sp>
      <p:sp>
        <p:nvSpPr>
          <p:cNvPr id="31" name="Shape 29"/>
          <p:cNvSpPr/>
          <p:nvPr/>
        </p:nvSpPr>
        <p:spPr>
          <a:xfrm>
            <a:off x="4718304" y="3712464"/>
            <a:ext cx="457200" cy="457200"/>
          </a:xfrm>
          <a:prstGeom prst="ellipse">
            <a:avLst/>
          </a:prstGeom>
          <a:solidFill>
            <a:srgbClr val="C2A14B"/>
          </a:solidFill>
          <a:ln/>
        </p:spPr>
      </p:sp>
      <p:sp>
        <p:nvSpPr>
          <p:cNvPr id="32" name="Text 30"/>
          <p:cNvSpPr/>
          <p:nvPr/>
        </p:nvSpPr>
        <p:spPr>
          <a:xfrm>
            <a:off x="4718304" y="3712464"/>
            <a:ext cx="457200" cy="457200"/>
          </a:xfrm>
          <a:prstGeom prst="rect">
            <a:avLst/>
          </a:prstGeom>
          <a:noFill/>
          <a:ln/>
        </p:spPr>
        <p:txBody>
          <a:bodyPr wrap="square" lIns="0" tIns="0" rIns="0" bIns="0" rtlCol="0" anchor="ctr"/>
          <a:lstStyle/>
          <a:p>
            <a:pPr marL="0" indent="0" algn="ctr">
              <a:buNone/>
            </a:pPr>
            <a:r>
              <a:rPr lang="en-US" sz="1300" b="1" dirty="0">
                <a:solidFill>
                  <a:srgbClr val="15181F"/>
                </a:solidFill>
                <a:latin typeface="Georgia" pitchFamily="34" charset="0"/>
                <a:ea typeface="Georgia" pitchFamily="34" charset="-122"/>
                <a:cs typeface="Georgia" pitchFamily="34" charset="-120"/>
              </a:rPr>
              <a:t>05</a:t>
            </a:r>
            <a:endParaRPr lang="en-US" sz="1300" dirty="0"/>
          </a:p>
        </p:txBody>
      </p:sp>
      <p:sp>
        <p:nvSpPr>
          <p:cNvPr id="33" name="Text 31"/>
          <p:cNvSpPr/>
          <p:nvPr/>
        </p:nvSpPr>
        <p:spPr>
          <a:xfrm>
            <a:off x="5248656" y="3520440"/>
            <a:ext cx="2496312" cy="640080"/>
          </a:xfrm>
          <a:prstGeom prst="rect">
            <a:avLst/>
          </a:prstGeom>
          <a:noFill/>
          <a:ln/>
        </p:spPr>
        <p:txBody>
          <a:bodyPr wrap="square" lIns="0" tIns="0" rIns="0" bIns="0" rtlCol="0" anchor="ctr"/>
          <a:lstStyle/>
          <a:p>
            <a:pPr marL="0" indent="0">
              <a:lnSpc>
                <a:spcPts val="1600"/>
              </a:lnSpc>
              <a:buNone/>
            </a:pPr>
            <a:r>
              <a:rPr lang="en-US" sz="1300" b="1" dirty="0">
                <a:solidFill>
                  <a:srgbClr val="15181F"/>
                </a:solidFill>
                <a:latin typeface="Georgia" pitchFamily="34" charset="0"/>
                <a:ea typeface="Georgia" pitchFamily="34" charset="-122"/>
                <a:cs typeface="Georgia" pitchFamily="34" charset="-120"/>
              </a:rPr>
              <a:t>First Aid</a:t>
            </a:r>
            <a:endParaRPr lang="en-US" sz="1300" dirty="0"/>
          </a:p>
        </p:txBody>
      </p:sp>
      <p:sp>
        <p:nvSpPr>
          <p:cNvPr id="34" name="Text 32"/>
          <p:cNvSpPr/>
          <p:nvPr/>
        </p:nvSpPr>
        <p:spPr>
          <a:xfrm>
            <a:off x="5248656" y="4160520"/>
            <a:ext cx="2496312" cy="292608"/>
          </a:xfrm>
          <a:prstGeom prst="rect">
            <a:avLst/>
          </a:prstGeom>
          <a:noFill/>
          <a:ln/>
        </p:spPr>
        <p:txBody>
          <a:bodyPr wrap="square" lIns="0" tIns="0" rIns="0" bIns="0" rtlCol="0" anchor="ctr"/>
          <a:lstStyle/>
          <a:p>
            <a:pPr marL="0" indent="0">
              <a:buNone/>
            </a:pPr>
            <a:r>
              <a:rPr lang="en-US" sz="1000" dirty="0">
                <a:solidFill>
                  <a:srgbClr val="6E7480"/>
                </a:solidFill>
                <a:latin typeface="Calibri" pitchFamily="34" charset="0"/>
                <a:ea typeface="Calibri" pitchFamily="34" charset="-122"/>
                <a:cs typeface="Calibri" pitchFamily="34" charset="-120"/>
              </a:rPr>
              <a:t>UESE Italia / E.N.Bi.Form.</a:t>
            </a:r>
            <a:endParaRPr lang="en-US" sz="1000" dirty="0"/>
          </a:p>
        </p:txBody>
      </p:sp>
      <p:sp>
        <p:nvSpPr>
          <p:cNvPr id="35" name="Shape 33"/>
          <p:cNvSpPr/>
          <p:nvPr/>
        </p:nvSpPr>
        <p:spPr>
          <a:xfrm>
            <a:off x="8211312" y="3300984"/>
            <a:ext cx="3456432" cy="1280160"/>
          </a:xfrm>
          <a:prstGeom prst="rect">
            <a:avLst/>
          </a:prstGeom>
          <a:solidFill>
            <a:srgbClr val="FFFFFF"/>
          </a:solidFill>
          <a:ln w="12700">
            <a:solidFill>
              <a:srgbClr val="E2DED4"/>
            </a:solidFill>
            <a:prstDash val="solid"/>
          </a:ln>
          <a:effectLst>
            <a:outerShdw blurRad="114300" dist="38100" dir="5400000" algn="bl" rotWithShape="0">
              <a:srgbClr val="000000">
                <a:alpha val="16000"/>
              </a:srgbClr>
            </a:outerShdw>
          </a:effectLst>
        </p:spPr>
      </p:sp>
      <p:sp>
        <p:nvSpPr>
          <p:cNvPr id="36" name="Shape 34"/>
          <p:cNvSpPr/>
          <p:nvPr/>
        </p:nvSpPr>
        <p:spPr>
          <a:xfrm>
            <a:off x="8211312" y="3300984"/>
            <a:ext cx="73152" cy="1280160"/>
          </a:xfrm>
          <a:prstGeom prst="rect">
            <a:avLst/>
          </a:prstGeom>
          <a:solidFill>
            <a:srgbClr val="C2A14B"/>
          </a:solidFill>
          <a:ln/>
        </p:spPr>
      </p:sp>
      <p:sp>
        <p:nvSpPr>
          <p:cNvPr id="37" name="Shape 35"/>
          <p:cNvSpPr/>
          <p:nvPr/>
        </p:nvSpPr>
        <p:spPr>
          <a:xfrm>
            <a:off x="8449056" y="3712464"/>
            <a:ext cx="457200" cy="457200"/>
          </a:xfrm>
          <a:prstGeom prst="ellipse">
            <a:avLst/>
          </a:prstGeom>
          <a:solidFill>
            <a:srgbClr val="C2A14B"/>
          </a:solidFill>
          <a:ln/>
        </p:spPr>
      </p:sp>
      <p:sp>
        <p:nvSpPr>
          <p:cNvPr id="38" name="Text 36"/>
          <p:cNvSpPr/>
          <p:nvPr/>
        </p:nvSpPr>
        <p:spPr>
          <a:xfrm>
            <a:off x="8449056" y="3712464"/>
            <a:ext cx="457200" cy="457200"/>
          </a:xfrm>
          <a:prstGeom prst="rect">
            <a:avLst/>
          </a:prstGeom>
          <a:noFill/>
          <a:ln/>
        </p:spPr>
        <p:txBody>
          <a:bodyPr wrap="square" lIns="0" tIns="0" rIns="0" bIns="0" rtlCol="0" anchor="ctr"/>
          <a:lstStyle/>
          <a:p>
            <a:pPr marL="0" indent="0" algn="ctr">
              <a:buNone/>
            </a:pPr>
            <a:r>
              <a:rPr lang="en-US" sz="1300" b="1" dirty="0">
                <a:solidFill>
                  <a:srgbClr val="15181F"/>
                </a:solidFill>
                <a:latin typeface="Georgia" pitchFamily="34" charset="0"/>
                <a:ea typeface="Georgia" pitchFamily="34" charset="-122"/>
                <a:cs typeface="Georgia" pitchFamily="34" charset="-120"/>
              </a:rPr>
              <a:t>06</a:t>
            </a:r>
            <a:endParaRPr lang="en-US" sz="1300" dirty="0"/>
          </a:p>
        </p:txBody>
      </p:sp>
      <p:sp>
        <p:nvSpPr>
          <p:cNvPr id="39" name="Text 37"/>
          <p:cNvSpPr/>
          <p:nvPr/>
        </p:nvSpPr>
        <p:spPr>
          <a:xfrm>
            <a:off x="8979408" y="3520440"/>
            <a:ext cx="2496312" cy="640080"/>
          </a:xfrm>
          <a:prstGeom prst="rect">
            <a:avLst/>
          </a:prstGeom>
          <a:noFill/>
          <a:ln/>
        </p:spPr>
        <p:txBody>
          <a:bodyPr wrap="square" lIns="0" tIns="0" rIns="0" bIns="0" rtlCol="0" anchor="ctr"/>
          <a:lstStyle/>
          <a:p>
            <a:pPr marL="0" indent="0">
              <a:lnSpc>
                <a:spcPts val="1600"/>
              </a:lnSpc>
              <a:buNone/>
            </a:pPr>
            <a:r>
              <a:rPr lang="en-US" sz="1300" b="1" dirty="0">
                <a:solidFill>
                  <a:srgbClr val="15181F"/>
                </a:solidFill>
                <a:latin typeface="Georgia" pitchFamily="34" charset="0"/>
                <a:ea typeface="Georgia" pitchFamily="34" charset="-122"/>
                <a:cs typeface="Georgia" pitchFamily="34" charset="-120"/>
              </a:rPr>
              <a:t>Fire Safety - Level 1</a:t>
            </a:r>
            <a:endParaRPr lang="en-US" sz="1300" dirty="0"/>
          </a:p>
        </p:txBody>
      </p:sp>
      <p:sp>
        <p:nvSpPr>
          <p:cNvPr id="40" name="Text 38"/>
          <p:cNvSpPr/>
          <p:nvPr/>
        </p:nvSpPr>
        <p:spPr>
          <a:xfrm>
            <a:off x="8979408" y="4160520"/>
            <a:ext cx="2496312" cy="292608"/>
          </a:xfrm>
          <a:prstGeom prst="rect">
            <a:avLst/>
          </a:prstGeom>
          <a:noFill/>
          <a:ln/>
        </p:spPr>
        <p:txBody>
          <a:bodyPr wrap="square" lIns="0" tIns="0" rIns="0" bIns="0" rtlCol="0" anchor="ctr"/>
          <a:lstStyle/>
          <a:p>
            <a:pPr marL="0" indent="0">
              <a:buNone/>
            </a:pPr>
            <a:r>
              <a:rPr lang="en-US" sz="1000" dirty="0">
                <a:solidFill>
                  <a:srgbClr val="6E7480"/>
                </a:solidFill>
                <a:latin typeface="Calibri" pitchFamily="34" charset="0"/>
                <a:ea typeface="Calibri" pitchFamily="34" charset="-122"/>
                <a:cs typeface="Calibri" pitchFamily="34" charset="-120"/>
              </a:rPr>
              <a:t>O.P.N. Italia Lavoro / CNL</a:t>
            </a:r>
            <a:endParaRPr lang="en-US" sz="1000" dirty="0"/>
          </a:p>
        </p:txBody>
      </p:sp>
      <p:sp>
        <p:nvSpPr>
          <p:cNvPr id="41" name="Text 39"/>
          <p:cNvSpPr/>
          <p:nvPr/>
        </p:nvSpPr>
        <p:spPr>
          <a:xfrm>
            <a:off x="749808" y="5440680"/>
            <a:ext cx="10698480" cy="365760"/>
          </a:xfrm>
          <a:prstGeom prst="rect">
            <a:avLst/>
          </a:prstGeom>
          <a:noFill/>
          <a:ln/>
        </p:spPr>
        <p:txBody>
          <a:bodyPr wrap="square" lIns="0" tIns="0" rIns="0" bIns="0" rtlCol="0" anchor="ctr"/>
          <a:lstStyle/>
          <a:p>
            <a:pPr marL="0" indent="0" algn="ctr">
              <a:buNone/>
            </a:pPr>
            <a:r>
              <a:rPr lang="en-US" sz="1400" i="1" dirty="0">
                <a:solidFill>
                  <a:srgbClr val="6E7480"/>
                </a:solidFill>
                <a:latin typeface="Calibri" pitchFamily="34" charset="0"/>
                <a:ea typeface="Calibri" pitchFamily="34" charset="-122"/>
                <a:cs typeface="Calibri" pitchFamily="34" charset="-120"/>
              </a:rPr>
              <a:t>All certifications issued in 2023 - Italy</a:t>
            </a:r>
            <a:endParaRPr lang="en-US" sz="1400" dirty="0"/>
          </a:p>
        </p:txBody>
      </p:sp>
      <p:sp>
        <p:nvSpPr>
          <p:cNvPr id="42" name="Text 40"/>
          <p:cNvSpPr/>
          <p:nvPr/>
        </p:nvSpPr>
        <p:spPr>
          <a:xfrm>
            <a:off x="566928" y="6437376"/>
            <a:ext cx="6400800" cy="274320"/>
          </a:xfrm>
          <a:prstGeom prst="rect">
            <a:avLst/>
          </a:prstGeom>
          <a:noFill/>
          <a:ln/>
        </p:spPr>
        <p:txBody>
          <a:bodyPr wrap="square" rtlCol="0" anchor="ctr"/>
          <a:lstStyle/>
          <a:p>
            <a:pPr marL="0" indent="0" algn="l">
              <a:buNone/>
            </a:pPr>
            <a:r>
              <a:rPr lang="en-US" sz="850" kern="0" spc="100" dirty="0">
                <a:solidFill>
                  <a:srgbClr val="6E7480"/>
                </a:solidFill>
                <a:latin typeface="Calibri" pitchFamily="34" charset="0"/>
                <a:ea typeface="Calibri" pitchFamily="34" charset="-122"/>
                <a:cs typeface="Calibri" pitchFamily="34" charset="-120"/>
              </a:rPr>
              <a:t>ART SER - Company Portfolio</a:t>
            </a:r>
            <a:endParaRPr lang="en-US" sz="850" dirty="0"/>
          </a:p>
        </p:txBody>
      </p:sp>
      <p:sp>
        <p:nvSpPr>
          <p:cNvPr id="43" name="Text 41"/>
          <p:cNvSpPr/>
          <p:nvPr/>
        </p:nvSpPr>
        <p:spPr>
          <a:xfrm>
            <a:off x="10707624" y="6437376"/>
            <a:ext cx="914400" cy="274320"/>
          </a:xfrm>
          <a:prstGeom prst="rect">
            <a:avLst/>
          </a:prstGeom>
          <a:noFill/>
          <a:ln/>
        </p:spPr>
        <p:txBody>
          <a:bodyPr wrap="square" rtlCol="0" anchor="ctr"/>
          <a:lstStyle/>
          <a:p>
            <a:pPr marL="0" indent="0" algn="r">
              <a:buNone/>
            </a:pPr>
            <a:r>
              <a:rPr lang="en-US" sz="850" dirty="0">
                <a:solidFill>
                  <a:srgbClr val="6E7480"/>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81F"/>
        </a:solidFill>
        <a:effectLst/>
      </p:bgPr>
    </p:bg>
    <p:spTree>
      <p:nvGrpSpPr>
        <p:cNvPr id="1" name=""/>
        <p:cNvGrpSpPr/>
        <p:nvPr/>
      </p:nvGrpSpPr>
      <p:grpSpPr>
        <a:xfrm>
          <a:off x="0" y="0"/>
          <a:ext cx="0" cy="0"/>
          <a:chOff x="0" y="0"/>
          <a:chExt cx="0" cy="0"/>
        </a:xfrm>
      </p:grpSpPr>
      <p:sp>
        <p:nvSpPr>
          <p:cNvPr id="2" name="Shape 0"/>
          <p:cNvSpPr/>
          <p:nvPr/>
        </p:nvSpPr>
        <p:spPr>
          <a:xfrm>
            <a:off x="566928" y="566928"/>
            <a:ext cx="82296" cy="384048"/>
          </a:xfrm>
          <a:prstGeom prst="rect">
            <a:avLst/>
          </a:prstGeom>
          <a:solidFill>
            <a:srgbClr val="C2A14B"/>
          </a:solidFill>
          <a:ln/>
        </p:spPr>
      </p:sp>
      <p:sp>
        <p:nvSpPr>
          <p:cNvPr id="3" name="Text 1"/>
          <p:cNvSpPr/>
          <p:nvPr/>
        </p:nvSpPr>
        <p:spPr>
          <a:xfrm>
            <a:off x="768096" y="530352"/>
            <a:ext cx="9144000" cy="274320"/>
          </a:xfrm>
          <a:prstGeom prst="rect">
            <a:avLst/>
          </a:prstGeom>
          <a:noFill/>
          <a:ln/>
        </p:spPr>
        <p:txBody>
          <a:bodyPr wrap="square" lIns="0" tIns="0" rIns="0" bIns="0" rtlCol="0" anchor="ctr"/>
          <a:lstStyle/>
          <a:p>
            <a:pPr marL="0" indent="0">
              <a:buNone/>
            </a:pPr>
            <a:r>
              <a:rPr lang="en-US" sz="1100" b="1" kern="0" spc="200" dirty="0">
                <a:solidFill>
                  <a:srgbClr val="C2A14B"/>
                </a:solidFill>
                <a:latin typeface="Calibri" pitchFamily="34" charset="0"/>
                <a:ea typeface="Calibri" pitchFamily="34" charset="-122"/>
                <a:cs typeface="Calibri" pitchFamily="34" charset="-120"/>
              </a:rPr>
              <a:t>WHY ART SER</a:t>
            </a:r>
            <a:endParaRPr lang="en-US" sz="1100" dirty="0"/>
          </a:p>
        </p:txBody>
      </p:sp>
      <p:sp>
        <p:nvSpPr>
          <p:cNvPr id="4" name="Text 2"/>
          <p:cNvSpPr/>
          <p:nvPr/>
        </p:nvSpPr>
        <p:spPr>
          <a:xfrm>
            <a:off x="749808" y="841248"/>
            <a:ext cx="10058400" cy="603504"/>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Mission &amp; Vision</a:t>
            </a:r>
            <a:endParaRPr lang="en-US" sz="3000" dirty="0"/>
          </a:p>
        </p:txBody>
      </p:sp>
      <p:sp>
        <p:nvSpPr>
          <p:cNvPr id="5" name="Shape 3"/>
          <p:cNvSpPr/>
          <p:nvPr/>
        </p:nvSpPr>
        <p:spPr>
          <a:xfrm>
            <a:off x="749808" y="1783080"/>
            <a:ext cx="5285232" cy="2697480"/>
          </a:xfrm>
          <a:prstGeom prst="rect">
            <a:avLst/>
          </a:prstGeom>
          <a:solidFill>
            <a:srgbClr val="1E232D"/>
          </a:solidFill>
          <a:ln w="12700">
            <a:solidFill>
              <a:srgbClr val="343A45"/>
            </a:solidFill>
            <a:prstDash val="solid"/>
          </a:ln>
        </p:spPr>
      </p:sp>
      <p:sp>
        <p:nvSpPr>
          <p:cNvPr id="6" name="Shape 4"/>
          <p:cNvSpPr/>
          <p:nvPr/>
        </p:nvSpPr>
        <p:spPr>
          <a:xfrm>
            <a:off x="749808" y="1783080"/>
            <a:ext cx="5285232" cy="64008"/>
          </a:xfrm>
          <a:prstGeom prst="rect">
            <a:avLst/>
          </a:prstGeom>
          <a:solidFill>
            <a:srgbClr val="C2A14B"/>
          </a:solidFill>
          <a:ln/>
        </p:spPr>
      </p:sp>
      <p:sp>
        <p:nvSpPr>
          <p:cNvPr id="7" name="Text 5"/>
          <p:cNvSpPr/>
          <p:nvPr/>
        </p:nvSpPr>
        <p:spPr>
          <a:xfrm>
            <a:off x="1115568" y="2093976"/>
            <a:ext cx="4553712" cy="457200"/>
          </a:xfrm>
          <a:prstGeom prst="rect">
            <a:avLst/>
          </a:prstGeom>
          <a:noFill/>
          <a:ln/>
        </p:spPr>
        <p:txBody>
          <a:bodyPr wrap="square" lIns="0" tIns="0" rIns="0" bIns="0" rtlCol="0" anchor="t"/>
          <a:lstStyle/>
          <a:p>
            <a:pPr marL="0" indent="0">
              <a:buNone/>
            </a:pPr>
            <a:r>
              <a:rPr lang="en-US" sz="2100" b="1" dirty="0">
                <a:solidFill>
                  <a:srgbClr val="E0C778"/>
                </a:solidFill>
                <a:latin typeface="Georgia" pitchFamily="34" charset="0"/>
                <a:ea typeface="Georgia" pitchFamily="34" charset="-122"/>
                <a:cs typeface="Georgia" pitchFamily="34" charset="-120"/>
              </a:rPr>
              <a:t>Mission</a:t>
            </a:r>
            <a:endParaRPr lang="en-US" sz="2100" dirty="0"/>
          </a:p>
        </p:txBody>
      </p:sp>
      <p:sp>
        <p:nvSpPr>
          <p:cNvPr id="8" name="Text 6"/>
          <p:cNvSpPr/>
          <p:nvPr/>
        </p:nvSpPr>
        <p:spPr>
          <a:xfrm>
            <a:off x="1115568" y="2697480"/>
            <a:ext cx="4553712" cy="1645920"/>
          </a:xfrm>
          <a:prstGeom prst="rect">
            <a:avLst/>
          </a:prstGeom>
          <a:noFill/>
          <a:ln/>
        </p:spPr>
        <p:txBody>
          <a:bodyPr wrap="square" lIns="0" tIns="0" rIns="0" bIns="0" rtlCol="0" anchor="t"/>
          <a:lstStyle/>
          <a:p>
            <a:pPr algn="just">
              <a:lnSpc>
                <a:spcPts val="2000"/>
              </a:lnSpc>
            </a:pPr>
            <a:r>
              <a:rPr lang="it-IT" sz="1300" dirty="0">
                <a:solidFill>
                  <a:schemeClr val="bg1"/>
                </a:solidFill>
              </a:rPr>
              <a:t>We deliver dependable aluminium window and door solutions through craftsmanship precision and field expertise. We support every phase of production, assembly and installation while upholding the highest standards of quality, safety and technical reliability — ensuring living comfort, energy savings and the peace of mind of a turnkey project.</a:t>
            </a:r>
            <a:endParaRPr lang="en-US" sz="1300" dirty="0">
              <a:solidFill>
                <a:schemeClr val="bg1"/>
              </a:solidFill>
            </a:endParaRPr>
          </a:p>
        </p:txBody>
      </p:sp>
      <p:sp>
        <p:nvSpPr>
          <p:cNvPr id="9" name="Shape 7"/>
          <p:cNvSpPr/>
          <p:nvPr/>
        </p:nvSpPr>
        <p:spPr>
          <a:xfrm>
            <a:off x="6345936" y="1783080"/>
            <a:ext cx="5285232" cy="2697480"/>
          </a:xfrm>
          <a:prstGeom prst="rect">
            <a:avLst/>
          </a:prstGeom>
          <a:solidFill>
            <a:srgbClr val="1E232D"/>
          </a:solidFill>
          <a:ln w="12700">
            <a:solidFill>
              <a:srgbClr val="343A45"/>
            </a:solidFill>
            <a:prstDash val="solid"/>
          </a:ln>
        </p:spPr>
      </p:sp>
      <p:sp>
        <p:nvSpPr>
          <p:cNvPr id="10" name="Shape 8"/>
          <p:cNvSpPr/>
          <p:nvPr/>
        </p:nvSpPr>
        <p:spPr>
          <a:xfrm>
            <a:off x="6345936" y="1783080"/>
            <a:ext cx="5285232" cy="64008"/>
          </a:xfrm>
          <a:prstGeom prst="rect">
            <a:avLst/>
          </a:prstGeom>
          <a:solidFill>
            <a:srgbClr val="C2A14B"/>
          </a:solidFill>
          <a:ln/>
        </p:spPr>
      </p:sp>
      <p:sp>
        <p:nvSpPr>
          <p:cNvPr id="11" name="Text 9"/>
          <p:cNvSpPr/>
          <p:nvPr/>
        </p:nvSpPr>
        <p:spPr>
          <a:xfrm>
            <a:off x="6711696" y="2093976"/>
            <a:ext cx="4553712" cy="457200"/>
          </a:xfrm>
          <a:prstGeom prst="rect">
            <a:avLst/>
          </a:prstGeom>
          <a:noFill/>
          <a:ln/>
        </p:spPr>
        <p:txBody>
          <a:bodyPr wrap="square" lIns="0" tIns="0" rIns="0" bIns="0" rtlCol="0" anchor="t"/>
          <a:lstStyle/>
          <a:p>
            <a:pPr marL="0" indent="0">
              <a:buNone/>
            </a:pPr>
            <a:r>
              <a:rPr lang="en-US" sz="2100" b="1" dirty="0">
                <a:solidFill>
                  <a:srgbClr val="E0C778"/>
                </a:solidFill>
                <a:latin typeface="Georgia" pitchFamily="34" charset="0"/>
                <a:ea typeface="Georgia" pitchFamily="34" charset="-122"/>
                <a:cs typeface="Georgia" pitchFamily="34" charset="-120"/>
              </a:rPr>
              <a:t>Vision</a:t>
            </a:r>
            <a:endParaRPr lang="en-US" sz="2100" dirty="0"/>
          </a:p>
        </p:txBody>
      </p:sp>
      <p:sp>
        <p:nvSpPr>
          <p:cNvPr id="12" name="Text 10"/>
          <p:cNvSpPr/>
          <p:nvPr/>
        </p:nvSpPr>
        <p:spPr>
          <a:xfrm>
            <a:off x="6711696" y="2697480"/>
            <a:ext cx="4553712" cy="1645920"/>
          </a:xfrm>
          <a:prstGeom prst="rect">
            <a:avLst/>
          </a:prstGeom>
          <a:noFill/>
          <a:ln/>
        </p:spPr>
        <p:txBody>
          <a:bodyPr wrap="square" lIns="0" tIns="0" rIns="0" bIns="0" rtlCol="0" anchor="t"/>
          <a:lstStyle/>
          <a:p>
            <a:pPr algn="just">
              <a:lnSpc>
                <a:spcPts val="2000"/>
              </a:lnSpc>
            </a:pPr>
            <a:r>
              <a:rPr lang="it-IT" sz="1300" dirty="0">
                <a:solidFill>
                  <a:schemeClr val="bg1"/>
                </a:solidFill>
              </a:rPr>
              <a:t>To become the definitive benchmark in the aluminium window and door industry, anticipating the evolution of modern architecture through advanced technologies, attention to detail and solutions that improve people’s lives.</a:t>
            </a:r>
            <a:endParaRPr lang="en-US" sz="1300" dirty="0">
              <a:solidFill>
                <a:schemeClr val="bg1"/>
              </a:solidFill>
            </a:endParaRPr>
          </a:p>
        </p:txBody>
      </p:sp>
      <p:sp>
        <p:nvSpPr>
          <p:cNvPr id="13" name="Shape 11"/>
          <p:cNvSpPr/>
          <p:nvPr/>
        </p:nvSpPr>
        <p:spPr>
          <a:xfrm>
            <a:off x="749808" y="4800600"/>
            <a:ext cx="1783080" cy="566928"/>
          </a:xfrm>
          <a:prstGeom prst="roundRect">
            <a:avLst>
              <a:gd name="adj" fmla="val 50000"/>
            </a:avLst>
          </a:prstGeom>
          <a:solidFill>
            <a:srgbClr val="262C36"/>
          </a:solidFill>
          <a:ln w="12700">
            <a:solidFill>
              <a:srgbClr val="C2A14B"/>
            </a:solidFill>
            <a:prstDash val="solid"/>
          </a:ln>
        </p:spPr>
      </p:sp>
      <p:sp>
        <p:nvSpPr>
          <p:cNvPr id="14" name="Text 12"/>
          <p:cNvSpPr/>
          <p:nvPr/>
        </p:nvSpPr>
        <p:spPr>
          <a:xfrm>
            <a:off x="749808" y="4800600"/>
            <a:ext cx="1783080" cy="566928"/>
          </a:xfrm>
          <a:prstGeom prst="rect">
            <a:avLst/>
          </a:prstGeom>
          <a:noFill/>
          <a:ln/>
        </p:spPr>
        <p:txBody>
          <a:bodyPr wrap="square" lIns="0" tIns="0" rIns="0" bIns="0" rtlCol="0" anchor="ctr"/>
          <a:lstStyle/>
          <a:p>
            <a:pPr marL="0" indent="0" algn="ctr">
              <a:buNone/>
            </a:pPr>
            <a:r>
              <a:rPr lang="en-US" sz="1300" b="1" dirty="0">
                <a:solidFill>
                  <a:srgbClr val="E0C778"/>
                </a:solidFill>
                <a:latin typeface="Calibri" pitchFamily="34" charset="0"/>
                <a:ea typeface="Calibri" pitchFamily="34" charset="-122"/>
                <a:cs typeface="Calibri" pitchFamily="34" charset="-120"/>
              </a:rPr>
              <a:t>Precision</a:t>
            </a:r>
            <a:endParaRPr lang="en-US" sz="1300" dirty="0"/>
          </a:p>
        </p:txBody>
      </p:sp>
      <p:sp>
        <p:nvSpPr>
          <p:cNvPr id="15" name="Shape 13"/>
          <p:cNvSpPr/>
          <p:nvPr/>
        </p:nvSpPr>
        <p:spPr>
          <a:xfrm>
            <a:off x="2788920" y="4800600"/>
            <a:ext cx="1783080" cy="566928"/>
          </a:xfrm>
          <a:prstGeom prst="roundRect">
            <a:avLst>
              <a:gd name="adj" fmla="val 50000"/>
            </a:avLst>
          </a:prstGeom>
          <a:solidFill>
            <a:srgbClr val="262C36"/>
          </a:solidFill>
          <a:ln w="12700">
            <a:solidFill>
              <a:srgbClr val="C2A14B"/>
            </a:solidFill>
            <a:prstDash val="solid"/>
          </a:ln>
        </p:spPr>
      </p:sp>
      <p:sp>
        <p:nvSpPr>
          <p:cNvPr id="16" name="Text 14"/>
          <p:cNvSpPr/>
          <p:nvPr/>
        </p:nvSpPr>
        <p:spPr>
          <a:xfrm>
            <a:off x="2788920" y="4800600"/>
            <a:ext cx="1783080" cy="566928"/>
          </a:xfrm>
          <a:prstGeom prst="rect">
            <a:avLst/>
          </a:prstGeom>
          <a:noFill/>
          <a:ln/>
        </p:spPr>
        <p:txBody>
          <a:bodyPr wrap="square" lIns="0" tIns="0" rIns="0" bIns="0" rtlCol="0" anchor="ctr"/>
          <a:lstStyle/>
          <a:p>
            <a:pPr marL="0" indent="0" algn="ctr">
              <a:buNone/>
            </a:pPr>
            <a:r>
              <a:rPr lang="en-US" sz="1300" b="1" dirty="0">
                <a:solidFill>
                  <a:srgbClr val="E0C778"/>
                </a:solidFill>
                <a:latin typeface="Calibri" pitchFamily="34" charset="0"/>
                <a:ea typeface="Calibri" pitchFamily="34" charset="-122"/>
                <a:cs typeface="Calibri" pitchFamily="34" charset="-120"/>
              </a:rPr>
              <a:t>Reliability</a:t>
            </a:r>
            <a:endParaRPr lang="en-US" sz="1300" dirty="0"/>
          </a:p>
        </p:txBody>
      </p:sp>
      <p:sp>
        <p:nvSpPr>
          <p:cNvPr id="17" name="Shape 15"/>
          <p:cNvSpPr/>
          <p:nvPr/>
        </p:nvSpPr>
        <p:spPr>
          <a:xfrm>
            <a:off x="4828032" y="4800600"/>
            <a:ext cx="1783080" cy="566928"/>
          </a:xfrm>
          <a:prstGeom prst="roundRect">
            <a:avLst>
              <a:gd name="adj" fmla="val 50000"/>
            </a:avLst>
          </a:prstGeom>
          <a:solidFill>
            <a:srgbClr val="262C36"/>
          </a:solidFill>
          <a:ln w="12700">
            <a:solidFill>
              <a:srgbClr val="C2A14B"/>
            </a:solidFill>
            <a:prstDash val="solid"/>
          </a:ln>
        </p:spPr>
      </p:sp>
      <p:sp>
        <p:nvSpPr>
          <p:cNvPr id="18" name="Text 16"/>
          <p:cNvSpPr/>
          <p:nvPr/>
        </p:nvSpPr>
        <p:spPr>
          <a:xfrm>
            <a:off x="4828032" y="4800600"/>
            <a:ext cx="1783080" cy="566928"/>
          </a:xfrm>
          <a:prstGeom prst="rect">
            <a:avLst/>
          </a:prstGeom>
          <a:noFill/>
          <a:ln/>
        </p:spPr>
        <p:txBody>
          <a:bodyPr wrap="square" lIns="0" tIns="0" rIns="0" bIns="0" rtlCol="0" anchor="ctr"/>
          <a:lstStyle/>
          <a:p>
            <a:pPr marL="0" indent="0" algn="ctr">
              <a:buNone/>
            </a:pPr>
            <a:r>
              <a:rPr lang="en-US" sz="1300" b="1" dirty="0">
                <a:solidFill>
                  <a:srgbClr val="E0C778"/>
                </a:solidFill>
                <a:latin typeface="Calibri" pitchFamily="34" charset="0"/>
                <a:ea typeface="Calibri" pitchFamily="34" charset="-122"/>
                <a:cs typeface="Calibri" pitchFamily="34" charset="-120"/>
              </a:rPr>
              <a:t>Safety</a:t>
            </a:r>
            <a:endParaRPr lang="en-US" sz="1300" dirty="0"/>
          </a:p>
        </p:txBody>
      </p:sp>
      <p:sp>
        <p:nvSpPr>
          <p:cNvPr id="19" name="Shape 17"/>
          <p:cNvSpPr/>
          <p:nvPr/>
        </p:nvSpPr>
        <p:spPr>
          <a:xfrm>
            <a:off x="6867144" y="4800600"/>
            <a:ext cx="2432304" cy="566928"/>
          </a:xfrm>
          <a:prstGeom prst="roundRect">
            <a:avLst>
              <a:gd name="adj" fmla="val 50000"/>
            </a:avLst>
          </a:prstGeom>
          <a:solidFill>
            <a:srgbClr val="262C36"/>
          </a:solidFill>
          <a:ln w="12700">
            <a:solidFill>
              <a:srgbClr val="C2A14B"/>
            </a:solidFill>
            <a:prstDash val="solid"/>
          </a:ln>
        </p:spPr>
      </p:sp>
      <p:sp>
        <p:nvSpPr>
          <p:cNvPr id="20" name="Text 18"/>
          <p:cNvSpPr/>
          <p:nvPr/>
        </p:nvSpPr>
        <p:spPr>
          <a:xfrm>
            <a:off x="6867144" y="4800600"/>
            <a:ext cx="2432304" cy="566928"/>
          </a:xfrm>
          <a:prstGeom prst="rect">
            <a:avLst/>
          </a:prstGeom>
          <a:noFill/>
          <a:ln/>
        </p:spPr>
        <p:txBody>
          <a:bodyPr wrap="square" lIns="0" tIns="0" rIns="0" bIns="0" rtlCol="0" anchor="ctr"/>
          <a:lstStyle/>
          <a:p>
            <a:pPr marL="0" indent="0" algn="ctr">
              <a:buNone/>
            </a:pPr>
            <a:r>
              <a:rPr lang="en-US" sz="1300" b="1" dirty="0">
                <a:solidFill>
                  <a:srgbClr val="E0C778"/>
                </a:solidFill>
                <a:latin typeface="Calibri" pitchFamily="34" charset="0"/>
                <a:ea typeface="Calibri" pitchFamily="34" charset="-122"/>
                <a:cs typeface="Calibri" pitchFamily="34" charset="-120"/>
              </a:rPr>
              <a:t>Technical Expertise</a:t>
            </a:r>
            <a:endParaRPr lang="en-US" sz="1300" dirty="0"/>
          </a:p>
        </p:txBody>
      </p:sp>
      <p:sp>
        <p:nvSpPr>
          <p:cNvPr id="21" name="Text 19"/>
          <p:cNvSpPr/>
          <p:nvPr/>
        </p:nvSpPr>
        <p:spPr>
          <a:xfrm>
            <a:off x="566928" y="6437376"/>
            <a:ext cx="6400800" cy="274320"/>
          </a:xfrm>
          <a:prstGeom prst="rect">
            <a:avLst/>
          </a:prstGeom>
          <a:noFill/>
          <a:ln/>
        </p:spPr>
        <p:txBody>
          <a:bodyPr wrap="square" rtlCol="0" anchor="ctr"/>
          <a:lstStyle/>
          <a:p>
            <a:pPr marL="0" indent="0" algn="l">
              <a:buNone/>
            </a:pPr>
            <a:r>
              <a:rPr lang="en-US" sz="850" kern="0" spc="100" dirty="0">
                <a:solidFill>
                  <a:srgbClr val="8A8F98"/>
                </a:solidFill>
                <a:latin typeface="Calibri" pitchFamily="34" charset="0"/>
                <a:ea typeface="Calibri" pitchFamily="34" charset="-122"/>
                <a:cs typeface="Calibri" pitchFamily="34" charset="-120"/>
              </a:rPr>
              <a:t>ART SER - Company Portfolio</a:t>
            </a:r>
            <a:endParaRPr lang="en-US" sz="850" dirty="0"/>
          </a:p>
        </p:txBody>
      </p:sp>
      <p:sp>
        <p:nvSpPr>
          <p:cNvPr id="22" name="Text 20"/>
          <p:cNvSpPr/>
          <p:nvPr/>
        </p:nvSpPr>
        <p:spPr>
          <a:xfrm>
            <a:off x="10707624" y="6437376"/>
            <a:ext cx="914400" cy="274320"/>
          </a:xfrm>
          <a:prstGeom prst="rect">
            <a:avLst/>
          </a:prstGeom>
          <a:noFill/>
          <a:ln/>
        </p:spPr>
        <p:txBody>
          <a:bodyPr wrap="square" rtlCol="0" anchor="ctr"/>
          <a:lstStyle/>
          <a:p>
            <a:pPr marL="0" indent="0" algn="r">
              <a:buNone/>
            </a:pPr>
            <a:r>
              <a:rPr lang="en-US" sz="850" dirty="0">
                <a:solidFill>
                  <a:srgbClr val="8A8F98"/>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181F"/>
        </a:solidFill>
        <a:effectLst/>
      </p:bgPr>
    </p:bg>
    <p:spTree>
      <p:nvGrpSpPr>
        <p:cNvPr id="1" name=""/>
        <p:cNvGrpSpPr/>
        <p:nvPr/>
      </p:nvGrpSpPr>
      <p:grpSpPr>
        <a:xfrm>
          <a:off x="0" y="0"/>
          <a:ext cx="0" cy="0"/>
          <a:chOff x="0" y="0"/>
          <a:chExt cx="0" cy="0"/>
        </a:xfrm>
      </p:grpSpPr>
      <p:pic>
        <p:nvPicPr>
          <p:cNvPr id="2" name="Image 0" descr="/sessions/quirky-great-planck/mnt/outputs/deck/assets/facade.png"/>
          <p:cNvPicPr>
            <a:picLocks noChangeAspect="1"/>
          </p:cNvPicPr>
          <p:nvPr/>
        </p:nvPicPr>
        <p:blipFill>
          <a:blip r:embed="rId3"/>
          <a:srcRect t="21868" b="21868"/>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5181F">
              <a:alpha val="78000"/>
            </a:srgbClr>
          </a:solidFill>
          <a:ln/>
        </p:spPr>
      </p:sp>
      <p:sp>
        <p:nvSpPr>
          <p:cNvPr id="4" name="Shape 1"/>
          <p:cNvSpPr/>
          <p:nvPr/>
        </p:nvSpPr>
        <p:spPr>
          <a:xfrm>
            <a:off x="0" y="0"/>
            <a:ext cx="6766560" cy="6858000"/>
          </a:xfrm>
          <a:prstGeom prst="rect">
            <a:avLst/>
          </a:prstGeom>
          <a:solidFill>
            <a:srgbClr val="15181F">
              <a:alpha val="94000"/>
            </a:srgbClr>
          </a:solidFill>
          <a:ln/>
        </p:spPr>
      </p:sp>
      <p:pic>
        <p:nvPicPr>
          <p:cNvPr id="5" name="Image 1" descr="/sessions/quirky-great-planck/mnt/outputs/deck/assets/logo.png"/>
          <p:cNvPicPr>
            <a:picLocks noChangeAspect="1"/>
          </p:cNvPicPr>
          <p:nvPr/>
        </p:nvPicPr>
        <p:blipFill>
          <a:blip r:embed="rId4"/>
          <a:stretch>
            <a:fillRect/>
          </a:stretch>
        </p:blipFill>
        <p:spPr>
          <a:xfrm>
            <a:off x="566928" y="777240"/>
            <a:ext cx="2468880" cy="533767"/>
          </a:xfrm>
          <a:prstGeom prst="rect">
            <a:avLst/>
          </a:prstGeom>
        </p:spPr>
      </p:pic>
      <p:sp>
        <p:nvSpPr>
          <p:cNvPr id="6" name="Shape 2"/>
          <p:cNvSpPr/>
          <p:nvPr/>
        </p:nvSpPr>
        <p:spPr>
          <a:xfrm>
            <a:off x="585216" y="1874520"/>
            <a:ext cx="1188720" cy="41148"/>
          </a:xfrm>
          <a:prstGeom prst="rect">
            <a:avLst/>
          </a:prstGeom>
          <a:solidFill>
            <a:srgbClr val="C2A14B"/>
          </a:solidFill>
          <a:ln/>
        </p:spPr>
      </p:sp>
      <p:sp>
        <p:nvSpPr>
          <p:cNvPr id="7" name="Text 3"/>
          <p:cNvSpPr/>
          <p:nvPr/>
        </p:nvSpPr>
        <p:spPr>
          <a:xfrm>
            <a:off x="566928" y="2057400"/>
            <a:ext cx="7315200" cy="91440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Let’s Build Together</a:t>
            </a:r>
            <a:endParaRPr lang="en-US" sz="3800" dirty="0"/>
          </a:p>
        </p:txBody>
      </p:sp>
      <p:sp>
        <p:nvSpPr>
          <p:cNvPr id="8" name="Text 4"/>
          <p:cNvSpPr/>
          <p:nvPr/>
        </p:nvSpPr>
        <p:spPr>
          <a:xfrm>
            <a:off x="566928" y="2926080"/>
            <a:ext cx="7315200" cy="457200"/>
          </a:xfrm>
          <a:prstGeom prst="rect">
            <a:avLst/>
          </a:prstGeom>
          <a:noFill/>
          <a:ln/>
        </p:spPr>
        <p:txBody>
          <a:bodyPr wrap="square" lIns="0" tIns="0" rIns="0" bIns="0" rtlCol="0" anchor="ctr"/>
          <a:lstStyle/>
          <a:p>
            <a:pPr marL="0" indent="0">
              <a:buNone/>
            </a:pPr>
            <a:r>
              <a:rPr lang="en-US" sz="1600" i="1" dirty="0">
                <a:solidFill>
                  <a:srgbClr val="D9DBDE"/>
                </a:solidFill>
                <a:latin typeface="Georgia" pitchFamily="34" charset="0"/>
                <a:ea typeface="Georgia" pitchFamily="34" charset="-122"/>
                <a:cs typeface="Georgia" pitchFamily="34" charset="-120"/>
              </a:rPr>
              <a:t>Engineering Excellence, Delivered.</a:t>
            </a:r>
            <a:endParaRPr lang="en-US" sz="1600" dirty="0"/>
          </a:p>
        </p:txBody>
      </p:sp>
      <p:sp>
        <p:nvSpPr>
          <p:cNvPr id="9" name="Shape 5"/>
          <p:cNvSpPr/>
          <p:nvPr/>
        </p:nvSpPr>
        <p:spPr>
          <a:xfrm>
            <a:off x="566928" y="3922776"/>
            <a:ext cx="82296" cy="457200"/>
          </a:xfrm>
          <a:prstGeom prst="rect">
            <a:avLst/>
          </a:prstGeom>
          <a:solidFill>
            <a:srgbClr val="C2A14B"/>
          </a:solidFill>
          <a:ln/>
        </p:spPr>
      </p:sp>
      <p:sp>
        <p:nvSpPr>
          <p:cNvPr id="10" name="Text 6"/>
          <p:cNvSpPr/>
          <p:nvPr/>
        </p:nvSpPr>
        <p:spPr>
          <a:xfrm>
            <a:off x="786384" y="3886200"/>
            <a:ext cx="2011680" cy="502920"/>
          </a:xfrm>
          <a:prstGeom prst="rect">
            <a:avLst/>
          </a:prstGeom>
          <a:noFill/>
          <a:ln/>
        </p:spPr>
        <p:txBody>
          <a:bodyPr wrap="square" lIns="0" tIns="0" rIns="0" bIns="0" rtlCol="0" anchor="ctr"/>
          <a:lstStyle/>
          <a:p>
            <a:pPr marL="0" indent="0">
              <a:buNone/>
            </a:pPr>
            <a:r>
              <a:rPr lang="en-US" sz="1050" b="1" kern="0" spc="100" dirty="0">
                <a:solidFill>
                  <a:srgbClr val="E0C778"/>
                </a:solidFill>
                <a:latin typeface="Calibri" pitchFamily="34" charset="0"/>
                <a:ea typeface="Calibri" pitchFamily="34" charset="-122"/>
                <a:cs typeface="Calibri" pitchFamily="34" charset="-120"/>
              </a:rPr>
              <a:t>EMAIL</a:t>
            </a:r>
            <a:endParaRPr lang="en-US" sz="1050" dirty="0"/>
          </a:p>
        </p:txBody>
      </p:sp>
      <p:sp>
        <p:nvSpPr>
          <p:cNvPr id="11" name="Text 7"/>
          <p:cNvSpPr/>
          <p:nvPr/>
        </p:nvSpPr>
        <p:spPr>
          <a:xfrm>
            <a:off x="2761488" y="3886200"/>
            <a:ext cx="868680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art_ser@outlook.it</a:t>
            </a:r>
            <a:endParaRPr lang="en-US" sz="1400" dirty="0"/>
          </a:p>
        </p:txBody>
      </p:sp>
      <p:sp>
        <p:nvSpPr>
          <p:cNvPr id="12" name="Shape 8"/>
          <p:cNvSpPr/>
          <p:nvPr/>
        </p:nvSpPr>
        <p:spPr>
          <a:xfrm>
            <a:off x="566928" y="4526280"/>
            <a:ext cx="82296" cy="457200"/>
          </a:xfrm>
          <a:prstGeom prst="rect">
            <a:avLst/>
          </a:prstGeom>
          <a:solidFill>
            <a:srgbClr val="C2A14B"/>
          </a:solidFill>
          <a:ln/>
        </p:spPr>
      </p:sp>
      <p:sp>
        <p:nvSpPr>
          <p:cNvPr id="13" name="Text 9"/>
          <p:cNvSpPr/>
          <p:nvPr/>
        </p:nvSpPr>
        <p:spPr>
          <a:xfrm>
            <a:off x="786384" y="4489704"/>
            <a:ext cx="2011680" cy="502920"/>
          </a:xfrm>
          <a:prstGeom prst="rect">
            <a:avLst/>
          </a:prstGeom>
          <a:noFill/>
          <a:ln/>
        </p:spPr>
        <p:txBody>
          <a:bodyPr wrap="square" lIns="0" tIns="0" rIns="0" bIns="0" rtlCol="0" anchor="ctr"/>
          <a:lstStyle/>
          <a:p>
            <a:pPr marL="0" indent="0">
              <a:buNone/>
            </a:pPr>
            <a:r>
              <a:rPr lang="en-US" sz="1050" b="1" kern="0" spc="100" dirty="0">
                <a:solidFill>
                  <a:srgbClr val="E0C778"/>
                </a:solidFill>
                <a:latin typeface="Calibri" pitchFamily="34" charset="0"/>
                <a:ea typeface="Calibri" pitchFamily="34" charset="-122"/>
                <a:cs typeface="Calibri" pitchFamily="34" charset="-120"/>
              </a:rPr>
              <a:t>PHONE</a:t>
            </a:r>
            <a:endParaRPr lang="en-US" sz="1050" dirty="0"/>
          </a:p>
        </p:txBody>
      </p:sp>
      <p:sp>
        <p:nvSpPr>
          <p:cNvPr id="14" name="Text 10"/>
          <p:cNvSpPr/>
          <p:nvPr/>
        </p:nvSpPr>
        <p:spPr>
          <a:xfrm>
            <a:off x="2761488" y="4489704"/>
            <a:ext cx="868680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+39 0348 240 2248</a:t>
            </a:r>
            <a:endParaRPr lang="en-US" sz="1400" dirty="0"/>
          </a:p>
        </p:txBody>
      </p:sp>
      <p:sp>
        <p:nvSpPr>
          <p:cNvPr id="15" name="Shape 11"/>
          <p:cNvSpPr/>
          <p:nvPr/>
        </p:nvSpPr>
        <p:spPr>
          <a:xfrm>
            <a:off x="566928" y="5129784"/>
            <a:ext cx="82296" cy="457200"/>
          </a:xfrm>
          <a:prstGeom prst="rect">
            <a:avLst/>
          </a:prstGeom>
          <a:solidFill>
            <a:srgbClr val="C2A14B"/>
          </a:solidFill>
          <a:ln/>
        </p:spPr>
      </p:sp>
      <p:sp>
        <p:nvSpPr>
          <p:cNvPr id="16" name="Text 12"/>
          <p:cNvSpPr/>
          <p:nvPr/>
        </p:nvSpPr>
        <p:spPr>
          <a:xfrm>
            <a:off x="786384" y="5093208"/>
            <a:ext cx="2011680" cy="502920"/>
          </a:xfrm>
          <a:prstGeom prst="rect">
            <a:avLst/>
          </a:prstGeom>
          <a:noFill/>
          <a:ln/>
        </p:spPr>
        <p:txBody>
          <a:bodyPr wrap="square" lIns="0" tIns="0" rIns="0" bIns="0" rtlCol="0" anchor="ctr"/>
          <a:lstStyle/>
          <a:p>
            <a:pPr marL="0" indent="0">
              <a:buNone/>
            </a:pPr>
            <a:r>
              <a:rPr lang="en-US" sz="1050" b="1" kern="0" spc="100" dirty="0">
                <a:solidFill>
                  <a:srgbClr val="E0C778"/>
                </a:solidFill>
                <a:latin typeface="Calibri" pitchFamily="34" charset="0"/>
                <a:ea typeface="Calibri" pitchFamily="34" charset="-122"/>
                <a:cs typeface="Calibri" pitchFamily="34" charset="-120"/>
              </a:rPr>
              <a:t>PEC</a:t>
            </a:r>
            <a:endParaRPr lang="en-US" sz="1050" dirty="0"/>
          </a:p>
        </p:txBody>
      </p:sp>
      <p:sp>
        <p:nvSpPr>
          <p:cNvPr id="17" name="Text 13"/>
          <p:cNvSpPr/>
          <p:nvPr/>
        </p:nvSpPr>
        <p:spPr>
          <a:xfrm>
            <a:off x="2761488" y="5093208"/>
            <a:ext cx="868680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khaan@pec.buffetti.it</a:t>
            </a:r>
            <a:endParaRPr lang="en-US" sz="1400" dirty="0"/>
          </a:p>
        </p:txBody>
      </p:sp>
      <p:sp>
        <p:nvSpPr>
          <p:cNvPr id="18" name="Shape 14"/>
          <p:cNvSpPr/>
          <p:nvPr/>
        </p:nvSpPr>
        <p:spPr>
          <a:xfrm>
            <a:off x="566928" y="5733288"/>
            <a:ext cx="82296" cy="457200"/>
          </a:xfrm>
          <a:prstGeom prst="rect">
            <a:avLst/>
          </a:prstGeom>
          <a:solidFill>
            <a:srgbClr val="C2A14B"/>
          </a:solidFill>
          <a:ln/>
        </p:spPr>
      </p:sp>
      <p:sp>
        <p:nvSpPr>
          <p:cNvPr id="19" name="Text 15"/>
          <p:cNvSpPr/>
          <p:nvPr/>
        </p:nvSpPr>
        <p:spPr>
          <a:xfrm>
            <a:off x="786384" y="5696712"/>
            <a:ext cx="2011680" cy="502920"/>
          </a:xfrm>
          <a:prstGeom prst="rect">
            <a:avLst/>
          </a:prstGeom>
          <a:noFill/>
          <a:ln/>
        </p:spPr>
        <p:txBody>
          <a:bodyPr wrap="square" lIns="0" tIns="0" rIns="0" bIns="0" rtlCol="0" anchor="ctr"/>
          <a:lstStyle/>
          <a:p>
            <a:pPr marL="0" indent="0">
              <a:buNone/>
            </a:pPr>
            <a:r>
              <a:rPr lang="en-US" sz="1050" b="1" kern="0" spc="100" dirty="0">
                <a:solidFill>
                  <a:srgbClr val="E0C778"/>
                </a:solidFill>
                <a:latin typeface="Calibri" pitchFamily="34" charset="0"/>
                <a:ea typeface="Calibri" pitchFamily="34" charset="-122"/>
                <a:cs typeface="Calibri" pitchFamily="34" charset="-120"/>
              </a:rPr>
              <a:t>REGISTERED OFFICE</a:t>
            </a:r>
            <a:endParaRPr lang="en-US" sz="1050" dirty="0"/>
          </a:p>
        </p:txBody>
      </p:sp>
      <p:sp>
        <p:nvSpPr>
          <p:cNvPr id="20" name="Text 16"/>
          <p:cNvSpPr/>
          <p:nvPr/>
        </p:nvSpPr>
        <p:spPr>
          <a:xfrm>
            <a:off x="2761488" y="5696712"/>
            <a:ext cx="868680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Via XX Settembre 86, 37036 San Martino Buon Albergo (VR), Italy</a:t>
            </a:r>
            <a:endParaRPr lang="en-US" sz="1400" dirty="0"/>
          </a:p>
        </p:txBody>
      </p:sp>
      <p:sp>
        <p:nvSpPr>
          <p:cNvPr id="21" name="Text 17"/>
          <p:cNvSpPr/>
          <p:nvPr/>
        </p:nvSpPr>
        <p:spPr>
          <a:xfrm>
            <a:off x="566928" y="6437376"/>
            <a:ext cx="6400800" cy="274320"/>
          </a:xfrm>
          <a:prstGeom prst="rect">
            <a:avLst/>
          </a:prstGeom>
          <a:noFill/>
          <a:ln/>
        </p:spPr>
        <p:txBody>
          <a:bodyPr wrap="square" rtlCol="0" anchor="ctr"/>
          <a:lstStyle/>
          <a:p>
            <a:pPr marL="0" indent="0" algn="l">
              <a:buNone/>
            </a:pPr>
            <a:r>
              <a:rPr lang="en-US" sz="850" kern="0" spc="100" dirty="0">
                <a:solidFill>
                  <a:srgbClr val="8A8F98"/>
                </a:solidFill>
                <a:latin typeface="Calibri" pitchFamily="34" charset="0"/>
                <a:ea typeface="Calibri" pitchFamily="34" charset="-122"/>
                <a:cs typeface="Calibri" pitchFamily="34" charset="-120"/>
              </a:rPr>
              <a:t>ART SER - Company Portfolio</a:t>
            </a:r>
            <a:endParaRPr lang="en-US" sz="850" dirty="0"/>
          </a:p>
        </p:txBody>
      </p:sp>
      <p:sp>
        <p:nvSpPr>
          <p:cNvPr id="22" name="Text 18"/>
          <p:cNvSpPr/>
          <p:nvPr/>
        </p:nvSpPr>
        <p:spPr>
          <a:xfrm>
            <a:off x="10707624" y="6437376"/>
            <a:ext cx="914400" cy="274320"/>
          </a:xfrm>
          <a:prstGeom prst="rect">
            <a:avLst/>
          </a:prstGeom>
          <a:noFill/>
          <a:ln/>
        </p:spPr>
        <p:txBody>
          <a:bodyPr wrap="square" rtlCol="0" anchor="ctr"/>
          <a:lstStyle/>
          <a:p>
            <a:pPr marL="0" indent="0" algn="r">
              <a:buNone/>
            </a:pPr>
            <a:r>
              <a:rPr lang="en-US" sz="850" dirty="0">
                <a:solidFill>
                  <a:srgbClr val="8A8F98"/>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1176</Words>
  <Application>Microsoft Office PowerPoint</Application>
  <PresentationFormat>Custom</PresentationFormat>
  <Paragraphs>188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ART SER DI SHEHEZAD TARIQ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 SER - Company Portfolio</dc:title>
  <dc:subject>PptxGenJS Presentation</dc:subject>
  <dc:creator>ART SER</dc:creator>
  <cp:lastModifiedBy>ArwenTech</cp:lastModifiedBy>
  <cp:revision>10</cp:revision>
  <dcterms:created xsi:type="dcterms:W3CDTF">2026-05-30T14:54:24Z</dcterms:created>
  <dcterms:modified xsi:type="dcterms:W3CDTF">2026-06-05T20:40:55Z</dcterms:modified>
</cp:coreProperties>
</file>