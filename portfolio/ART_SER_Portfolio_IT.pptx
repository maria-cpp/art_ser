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4.jpg" ContentType="image/jpeg"/>
  <Override PartName="/ppt/media/image5.jpg" ContentType="image/jpe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65" y="10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198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quirky-great-planck/mnt/outputs/deck/assets/iconic.jpg"/>
          <p:cNvPicPr>
            <a:picLocks noChangeAspect="1"/>
          </p:cNvPicPr>
          <p:nvPr/>
        </p:nvPicPr>
        <p:blipFill>
          <a:blip r:embed="rId3"/>
          <a:srcRect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81F">
              <a:alpha val="7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418717" cy="6858000"/>
          </a:xfrm>
          <a:prstGeom prst="rect">
            <a:avLst/>
          </a:prstGeom>
          <a:solidFill>
            <a:srgbClr val="15181F">
              <a:alpha val="88000"/>
            </a:srgbClr>
          </a:solidFill>
          <a:ln/>
        </p:spPr>
      </p:sp>
      <p:pic>
        <p:nvPicPr>
          <p:cNvPr id="5" name="Image 1" descr="/sessions/quirky-great-planck/mnt/outputs/deck/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0080"/>
            <a:ext cx="2834640" cy="6128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85216" y="2788920"/>
            <a:ext cx="1371600" cy="4114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7" name="Text 3"/>
          <p:cNvSpPr/>
          <p:nvPr/>
        </p:nvSpPr>
        <p:spPr>
          <a:xfrm>
            <a:off x="566928" y="2971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PORTAFOGLIO AZIENDALE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48640" y="3383280"/>
            <a:ext cx="719788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4600"/>
              </a:lnSpc>
            </a:pPr>
            <a:r>
              <a:rPr lang="en-US" sz="4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Soluzioni</a:t>
            </a: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 </a:t>
            </a:r>
            <a:r>
              <a:rPr lang="it-IT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Serramenti in </a:t>
            </a:r>
            <a:r>
              <a:rPr lang="en-US" sz="4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Alluminio</a:t>
            </a:r>
            <a:endParaRPr lang="en-US" sz="4600" dirty="0"/>
          </a:p>
        </p:txBody>
      </p:sp>
      <p:sp>
        <p:nvSpPr>
          <p:cNvPr id="9" name="Text 5"/>
          <p:cNvSpPr/>
          <p:nvPr/>
        </p:nvSpPr>
        <p:spPr>
          <a:xfrm>
            <a:off x="566928" y="4800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9DB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Eccellenza ingegneristica, realizzata.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566928" y="5806440"/>
            <a:ext cx="82296" cy="548640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11" name="Text 7"/>
          <p:cNvSpPr/>
          <p:nvPr/>
        </p:nvSpPr>
        <p:spPr>
          <a:xfrm>
            <a:off x="786384" y="57607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SER DI SHEHEZAD TARIQ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C7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Verona, Italia  -  26+ anni di </a:t>
            </a:r>
            <a:r>
              <a:rPr lang="en-US" sz="1100" dirty="0" err="1">
                <a:solidFill>
                  <a:srgbClr val="C7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esperienza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82296" cy="38404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303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A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SIAMO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841248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3000" b="1" dirty="0">
                <a:latin typeface="Georgia" panose="02040502050405020303" pitchFamily="18" charset="0"/>
              </a:rPr>
              <a:t>Profilo aziendale</a:t>
            </a:r>
            <a:endParaRPr lang="en-US" sz="3000" b="1" dirty="0"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49808" y="1691639"/>
            <a:ext cx="5669280" cy="2234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it-IT" sz="1400" dirty="0"/>
              <a:t>Da oltre 26 anni, </a:t>
            </a:r>
            <a:r>
              <a:rPr lang="it-IT" sz="1400" b="1" dirty="0"/>
              <a:t>ART SER</a:t>
            </a:r>
            <a:r>
              <a:rPr lang="it-IT" sz="1400" dirty="0"/>
              <a:t> trasforma l'alluminio e il PVC in soluzioni di eccellenza per l'edilizia civile e industriale.</a:t>
            </a:r>
          </a:p>
          <a:p>
            <a:r>
              <a:rPr lang="it-IT" sz="1400" dirty="0"/>
              <a:t>Siamo un team di professionisti specializzati nella </a:t>
            </a:r>
            <a:r>
              <a:rPr lang="it-IT" sz="1400" b="1" dirty="0"/>
              <a:t>produzione, installazione ed esecuzione tecnica</a:t>
            </a:r>
            <a:r>
              <a:rPr lang="it-IT" sz="1400" dirty="0"/>
              <a:t> di finestre, porte, tapparelle, zanzariere e sistemi strutturali complessi. La nostra forza nasce dall'esperienza pratica sul campo: uniamo la precisione artigianale alle più moderne tecnologie per garantire isolamento termico, acustico e massima sicurezza.</a:t>
            </a:r>
          </a:p>
          <a:p>
            <a:r>
              <a:rPr lang="it-IT" sz="1400" dirty="0"/>
              <a:t>Non vendiamo solo serramenti, ma creiamo il perfetto connubio tra estetica, funzionalità e risparmio energetico, seguendo ogni progetto dal disegno tecnico alla posa in opera.</a:t>
            </a:r>
          </a:p>
        </p:txBody>
      </p:sp>
      <p:sp>
        <p:nvSpPr>
          <p:cNvPr id="6" name="Text 4"/>
          <p:cNvSpPr/>
          <p:nvPr/>
        </p:nvSpPr>
        <p:spPr>
          <a:xfrm>
            <a:off x="731520" y="4000500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L'attenzione e rivolta alla precisione, all'affidabilita e a soluzioni che soddisfano rigorosi requisiti tecnici e di cantiere - con sede a Verona e attivita indipendente dal 2015.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03720" y="1691640"/>
            <a:ext cx="2286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03720" y="1691640"/>
            <a:ext cx="73152" cy="148132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9" name="Text 7"/>
          <p:cNvSpPr/>
          <p:nvPr/>
        </p:nvSpPr>
        <p:spPr>
          <a:xfrm>
            <a:off x="7068312" y="1856232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086600" y="2587752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Anni nel settore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390888" y="1691640"/>
            <a:ext cx="2286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390888" y="1691640"/>
            <a:ext cx="73152" cy="148132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13" name="Text 11"/>
          <p:cNvSpPr/>
          <p:nvPr/>
        </p:nvSpPr>
        <p:spPr>
          <a:xfrm>
            <a:off x="9555480" y="1856232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573768" y="2587752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Indipendente dal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03720" y="3374136"/>
            <a:ext cx="2286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03720" y="3374136"/>
            <a:ext cx="73152" cy="148132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17" name="Text 15"/>
          <p:cNvSpPr/>
          <p:nvPr/>
        </p:nvSpPr>
        <p:spPr>
          <a:xfrm>
            <a:off x="7068312" y="353872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086600" y="4270248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europei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90888" y="3374136"/>
            <a:ext cx="22860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90888" y="3374136"/>
            <a:ext cx="73152" cy="148132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21" name="Text 19"/>
          <p:cNvSpPr/>
          <p:nvPr/>
        </p:nvSpPr>
        <p:spPr>
          <a:xfrm>
            <a:off x="9555480" y="353872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9573768" y="4270248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Certificazioni professionali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SER - Portfolio Aziendale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707624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82296" cy="38404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303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A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ESPERIENZA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841248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Nostro Percorso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9224" y="1833372"/>
            <a:ext cx="345643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9224" y="1820104"/>
            <a:ext cx="3456432" cy="6400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3037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2A1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49808" y="2555748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Gli Inizi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49807" y="2871216"/>
            <a:ext cx="3275345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it-IT" sz="1200" b="1" dirty="0"/>
              <a:t>Serramentista / Installatore</a:t>
            </a:r>
            <a:r>
              <a:rPr lang="it-IT" sz="1200" dirty="0"/>
              <a:t> |</a:t>
            </a:r>
          </a:p>
          <a:p>
            <a:r>
              <a:rPr lang="it-IT" sz="1200" dirty="0"/>
              <a:t>Ingresso nel settore dei serramenti in alluminio con Dal Bosco Serramenti </a:t>
            </a:r>
            <a:r>
              <a:rPr lang="it-IT" sz="1200" dirty="0" err="1"/>
              <a:t>srl</a:t>
            </a:r>
            <a:r>
              <a:rPr lang="it-IT" sz="1200" dirty="0"/>
              <a:t> acquisendo una comprensione approfondita dell'intero ciclo del prodotto.</a:t>
            </a:r>
          </a:p>
          <a:p>
            <a:r>
              <a:rPr lang="it-IT" sz="1200" b="1" dirty="0"/>
              <a:t>Produzione e Assemblaggio:</a:t>
            </a:r>
            <a:r>
              <a:rPr lang="it-IT" sz="1200" dirty="0"/>
              <a:t> Taglio, lavorazione e assemblaggio di profili in alluminio per infissi e facciate.</a:t>
            </a:r>
          </a:p>
          <a:p>
            <a:r>
              <a:rPr lang="it-IT" sz="1200" b="1" dirty="0"/>
              <a:t>Installazione:</a:t>
            </a:r>
            <a:r>
              <a:rPr lang="it-IT" sz="1200" dirty="0"/>
              <a:t> Posa in opera e montaggio finale dei serramenti presso clienti civili e industriali, garantendo precisione e isolamento termo-acustico.</a:t>
            </a:r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345643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828800"/>
            <a:ext cx="3456432" cy="6400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1892808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2A1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553712" y="2533157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Attivita Indipendente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15236" y="2809540"/>
            <a:ext cx="3138876" cy="146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26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Ottenuta la partita IVA, inizio dell'attivita indipendente al servizio di applicazioni commerciali e industriali.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11312" y="1828800"/>
            <a:ext cx="345643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11312" y="1828800"/>
            <a:ext cx="3456432" cy="6400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17" name="Text 15"/>
          <p:cNvSpPr/>
          <p:nvPr/>
        </p:nvSpPr>
        <p:spPr>
          <a:xfrm>
            <a:off x="8357616" y="1895318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2A1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Oggi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357616" y="2537191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SER DI SHEHEZAD TARIQ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366760" y="3063687"/>
            <a:ext cx="3255264" cy="190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it-IT" sz="1200" dirty="0"/>
              <a:t>Con sede a Verona e si occupa di produzione, fornitura e installazione di serramenti in alluminio e PVC, tapparelle e zanzariere. L'azienda gestisce direttamente ogni fase del lavoro in cantiere, combinando lavorazione tecnica e posa in opera professionale per garantire massimo isolamento, risparmio energetico e soluzioni su misura per ogni cliente</a:t>
            </a:r>
            <a:r>
              <a:rPr lang="it-IT" sz="1400" dirty="0"/>
              <a:t>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9808" y="5349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oltre 26 anni di esperienza sul campo - fondata su passione, affidabilita, precisione e competenza tecnica.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SER - Portfolio Aziendale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07624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82296" cy="38404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303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A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841248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Cosa Facciamo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49808" y="1783080"/>
            <a:ext cx="345643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039112"/>
            <a:ext cx="566928" cy="566928"/>
          </a:xfrm>
          <a:prstGeom prst="ellipse">
            <a:avLst/>
          </a:prstGeom>
          <a:solidFill>
            <a:srgbClr val="15181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39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C7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19072" y="2020824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Finestre e Porte in Alluminio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24128" y="2679192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Produzione, taglio, assemblaggio e finitura con controllo qualita.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80560" y="1783080"/>
            <a:ext cx="345643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2039112"/>
            <a:ext cx="566928" cy="566928"/>
          </a:xfrm>
          <a:prstGeom prst="ellipse">
            <a:avLst/>
          </a:prstGeom>
          <a:solidFill>
            <a:srgbClr val="15181F"/>
          </a:solidFill>
          <a:ln/>
        </p:spPr>
      </p:sp>
      <p:sp>
        <p:nvSpPr>
          <p:cNvPr id="12" name="Text 10"/>
          <p:cNvSpPr/>
          <p:nvPr/>
        </p:nvSpPr>
        <p:spPr>
          <a:xfrm>
            <a:off x="4736592" y="2039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C7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49824" y="2020824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Finestre e Porte in PVC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754880" y="2679192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Fornitura e installazione - sistemi efficienti ed economici.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11312" y="1783080"/>
            <a:ext cx="345643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67344" y="2039112"/>
            <a:ext cx="566928" cy="566928"/>
          </a:xfrm>
          <a:prstGeom prst="ellipse">
            <a:avLst/>
          </a:prstGeom>
          <a:solidFill>
            <a:srgbClr val="15181F"/>
          </a:solidFill>
          <a:ln/>
        </p:spPr>
      </p:sp>
      <p:sp>
        <p:nvSpPr>
          <p:cNvPr id="17" name="Text 15"/>
          <p:cNvSpPr/>
          <p:nvPr/>
        </p:nvSpPr>
        <p:spPr>
          <a:xfrm>
            <a:off x="8467344" y="2039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C7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80576" y="2020824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Installazione e Assemblaggio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85632" y="2679192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Montaggio in cantiere con pratiche di sicurezza certificate.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9808" y="3483864"/>
            <a:ext cx="345643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05840" y="3739896"/>
            <a:ext cx="566928" cy="566928"/>
          </a:xfrm>
          <a:prstGeom prst="ellipse">
            <a:avLst/>
          </a:prstGeom>
          <a:solidFill>
            <a:srgbClr val="15181F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739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C7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19072" y="3721608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 err="1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Facciata</a:t>
            </a:r>
            <a:r>
              <a:rPr lang="en-US" sz="145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50" b="1" dirty="0" err="1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strutturale</a:t>
            </a:r>
            <a:r>
              <a:rPr lang="en-US" sz="145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e Facciate Continue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024128" y="4379976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Vetrate strutturali per edifici commerciali.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80560" y="3483864"/>
            <a:ext cx="345643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36592" y="3739896"/>
            <a:ext cx="566928" cy="566928"/>
          </a:xfrm>
          <a:prstGeom prst="ellipse">
            <a:avLst/>
          </a:prstGeom>
          <a:solidFill>
            <a:srgbClr val="15181F"/>
          </a:solidFill>
          <a:ln/>
        </p:spPr>
      </p:sp>
      <p:sp>
        <p:nvSpPr>
          <p:cNvPr id="27" name="Text 25"/>
          <p:cNvSpPr/>
          <p:nvPr/>
        </p:nvSpPr>
        <p:spPr>
          <a:xfrm>
            <a:off x="4736592" y="3739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C7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49824" y="3721608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Sistemi Scorrevoli e Pieghevoli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754880" y="4379976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Transizioni fluide tra interni ed esterni.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11312" y="3483864"/>
            <a:ext cx="345643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67344" y="3739896"/>
            <a:ext cx="566928" cy="566928"/>
          </a:xfrm>
          <a:prstGeom prst="ellipse">
            <a:avLst/>
          </a:prstGeom>
          <a:solidFill>
            <a:srgbClr val="15181F"/>
          </a:solidFill>
          <a:ln/>
        </p:spPr>
      </p:sp>
      <p:sp>
        <p:nvSpPr>
          <p:cNvPr id="32" name="Text 30"/>
          <p:cNvSpPr/>
          <p:nvPr/>
        </p:nvSpPr>
        <p:spPr>
          <a:xfrm>
            <a:off x="8467344" y="3739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C7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80576" y="3721608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 err="1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Protezione</a:t>
            </a:r>
            <a:r>
              <a:rPr lang="en-US" sz="145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Solare, </a:t>
            </a:r>
            <a:r>
              <a:rPr lang="en-US" sz="1450" b="1" dirty="0" err="1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zanzariere</a:t>
            </a:r>
            <a:r>
              <a:rPr lang="en-US" sz="145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e Avvolgibili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485632" y="4379976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Avvolgibili, zanzariere, tende e schermature.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SER - Portfolio Aziendale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707624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82296" cy="38404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303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A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COMPETENZE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841248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Competenze e Maestria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040880" y="1691640"/>
            <a:ext cx="45720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6" name="Image 0" descr="/sessions/quirky-great-planck/mnt/outputs/deck/assets/door.jpg"/>
          <p:cNvPicPr>
            <a:picLocks noChangeAspect="1"/>
          </p:cNvPicPr>
          <p:nvPr/>
        </p:nvPicPr>
        <p:blipFill>
          <a:blip r:embed="rId3"/>
          <a:srcRect t="1537" b="1537"/>
          <a:stretch/>
        </p:blipFill>
        <p:spPr>
          <a:xfrm>
            <a:off x="7095744" y="1746504"/>
            <a:ext cx="4462272" cy="43251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40880" y="1691640"/>
            <a:ext cx="4572000" cy="6400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1847088"/>
            <a:ext cx="146304" cy="146304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9" name="Text 6"/>
          <p:cNvSpPr/>
          <p:nvPr/>
        </p:nvSpPr>
        <p:spPr>
          <a:xfrm>
            <a:off x="1042416" y="182727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it-IT" sz="1350" b="1" dirty="0"/>
              <a:t>Produzione d'eccellenza</a:t>
            </a:r>
            <a:r>
              <a:rPr lang="it-IT" sz="1350" dirty="0"/>
              <a:t>: Realizziamo infissi in alluminio e PVC duraturi e certificati.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49808" y="2395728"/>
            <a:ext cx="146304" cy="146304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11" name="Text 8"/>
          <p:cNvSpPr/>
          <p:nvPr/>
        </p:nvSpPr>
        <p:spPr>
          <a:xfrm>
            <a:off x="1042416" y="238658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6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Fornitura e </a:t>
            </a:r>
            <a:r>
              <a:rPr lang="en-US" sz="1350" b="1" dirty="0" err="1">
                <a:solidFill>
                  <a:srgbClr val="26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posa</a:t>
            </a:r>
            <a:r>
              <a:rPr lang="en-US" sz="1350" b="1" dirty="0">
                <a:solidFill>
                  <a:srgbClr val="26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opera </a:t>
            </a:r>
            <a:r>
              <a:rPr lang="en-US" sz="1350" dirty="0">
                <a:solidFill>
                  <a:srgbClr val="26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serramenti in PVC, </a:t>
            </a:r>
            <a:r>
              <a:rPr lang="en-US" sz="1350" dirty="0" err="1">
                <a:solidFill>
                  <a:srgbClr val="26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tapparelle</a:t>
            </a:r>
            <a:r>
              <a:rPr lang="en-US" sz="1350" dirty="0">
                <a:solidFill>
                  <a:srgbClr val="26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350" dirty="0" err="1">
                <a:solidFill>
                  <a:srgbClr val="26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zanzariere</a:t>
            </a:r>
            <a:r>
              <a:rPr lang="en-US" sz="1350" dirty="0">
                <a:solidFill>
                  <a:srgbClr val="26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49808" y="2944368"/>
            <a:ext cx="146304" cy="146304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13" name="Text 10"/>
          <p:cNvSpPr/>
          <p:nvPr/>
        </p:nvSpPr>
        <p:spPr>
          <a:xfrm>
            <a:off x="1042416" y="294266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it-IT" sz="1350" b="1" dirty="0"/>
              <a:t>Soluzioni industriali e civili</a:t>
            </a:r>
            <a:r>
              <a:rPr lang="it-IT" sz="1350" dirty="0"/>
              <a:t>: Dai serramenti di casa alle grandi facciate strutturali.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49808" y="3493008"/>
            <a:ext cx="146304" cy="146304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15" name="Text 12"/>
          <p:cNvSpPr/>
          <p:nvPr/>
        </p:nvSpPr>
        <p:spPr>
          <a:xfrm>
            <a:off x="1042416" y="3479023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it-IT" sz="1350" b="1" dirty="0"/>
              <a:t>Esecuzione tecnica</a:t>
            </a:r>
            <a:r>
              <a:rPr lang="it-IT" sz="1350" dirty="0"/>
              <a:t>: Gestiamo progetti complessi con massima precisione ingegneristica.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49808" y="4041648"/>
            <a:ext cx="146304" cy="146304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17" name="Text 14"/>
          <p:cNvSpPr/>
          <p:nvPr/>
        </p:nvSpPr>
        <p:spPr>
          <a:xfrm>
            <a:off x="1042416" y="4028201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it-IT" sz="1350" b="1" dirty="0"/>
              <a:t>Posa in opera qualificata</a:t>
            </a:r>
            <a:r>
              <a:rPr lang="it-IT" sz="1350" dirty="0"/>
              <a:t>: Installazione a regola d'arte per il massimo isolamento termico.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749808" y="4754880"/>
            <a:ext cx="6080760" cy="1078992"/>
          </a:xfrm>
          <a:prstGeom prst="rect">
            <a:avLst/>
          </a:prstGeom>
          <a:solidFill>
            <a:srgbClr val="15181F"/>
          </a:solidFill>
          <a:ln/>
        </p:spPr>
      </p:sp>
      <p:sp>
        <p:nvSpPr>
          <p:cNvPr id="19" name="Text 16"/>
          <p:cNvSpPr/>
          <p:nvPr/>
        </p:nvSpPr>
        <p:spPr>
          <a:xfrm>
            <a:off x="978408" y="4882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ABILITAZIONI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78408" y="5157216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Posa serramenti - Lavori in quota (DPI Cat. III) - Conduzione PLE - Primo soccorso - Antincendio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SER - Portfolio Aziendale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0707624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quirky-great-planck/mnt/outputs/deck/assets/iconic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15181F"/>
          </a:solidFill>
          <a:ln/>
        </p:spPr>
      </p:sp>
      <p:sp>
        <p:nvSpPr>
          <p:cNvPr id="4" name="Shape 1"/>
          <p:cNvSpPr/>
          <p:nvPr/>
        </p:nvSpPr>
        <p:spPr>
          <a:xfrm>
            <a:off x="6858000" y="0"/>
            <a:ext cx="82296" cy="6858000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5" name="Text 2"/>
          <p:cNvSpPr/>
          <p:nvPr/>
        </p:nvSpPr>
        <p:spPr>
          <a:xfrm>
            <a:off x="726948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A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IN EVIDENZA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269480" y="1097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Complesso Commerciale Iconic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269480" y="2148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Facciate e Facciate Continue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AE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Verona, Italia  -  2022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269480" y="2926080"/>
            <a:ext cx="4526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D7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Produzione e fabbricazione completa dei sistemi di facciate continue in alluminio e vetro per un importante complesso commerciale, in collaborazione con ART FER SRL. Telai in alluminio di precisione, vetrate strutturali ed elementi di collegamento - realizzati con taglio CNC, saldatura certificata e finitura con controllo qualita, progettati per resistere ai carichi sismici riducendo il peso sulla struttura.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707624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82296" cy="38404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303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A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IN EVIDENZA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841248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S. Pietro Residenziale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14813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2A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Serramenti</a:t>
            </a:r>
            <a:r>
              <a:rPr lang="en-US" sz="12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  San Pietro, Verona   -   2023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9808" y="1874520"/>
            <a:ext cx="4800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it-IT" sz="1400" b="1" dirty="0" err="1"/>
              <a:t>Art.Ser</a:t>
            </a:r>
            <a:r>
              <a:rPr lang="it-IT" sz="1400" b="1" dirty="0"/>
              <a:t> di Shehzad Tariq</a:t>
            </a:r>
            <a:r>
              <a:rPr lang="it-IT" sz="1400" dirty="0"/>
              <a:t> ha completato la produzione e l'installazione di serramenti in alluminio di alta gamma per un edificio residenziale, coniugando prestazioni moderne e stile classico.</a:t>
            </a:r>
          </a:p>
          <a:p>
            <a:endParaRPr lang="it-IT" sz="1400" dirty="0"/>
          </a:p>
          <a:p>
            <a:pPr algn="ctr"/>
            <a:r>
              <a:rPr lang="it-IT" sz="1400" b="1" dirty="0"/>
              <a:t>L'Intervento su Misura</a:t>
            </a:r>
          </a:p>
          <a:p>
            <a:r>
              <a:rPr lang="it-IT" sz="1400" b="1" dirty="0"/>
              <a:t>Finestre battente e vasistas</a:t>
            </a:r>
            <a:r>
              <a:rPr lang="it-IT" sz="1400" dirty="0"/>
              <a:t>: massima luce naturale e ventilazione controllata.</a:t>
            </a:r>
          </a:p>
          <a:p>
            <a:r>
              <a:rPr lang="it-IT" sz="1400" b="1" dirty="0"/>
              <a:t>Porte d'ingresso premium</a:t>
            </a:r>
            <a:r>
              <a:rPr lang="it-IT" sz="1400" dirty="0"/>
              <a:t>: sicurezza avanzata e design ricercato.</a:t>
            </a:r>
          </a:p>
          <a:p>
            <a:r>
              <a:rPr lang="it-IT" sz="1400" b="1" dirty="0"/>
              <a:t>Finitura Ral e effetto legno</a:t>
            </a:r>
            <a:r>
              <a:rPr lang="it-IT" sz="1400" dirty="0"/>
              <a:t>: calore estetico tradizionale in armonia con il quartiere.</a:t>
            </a:r>
          </a:p>
          <a:p>
            <a:pPr algn="ctr"/>
            <a:r>
              <a:rPr lang="it-IT" sz="1400" b="1" dirty="0"/>
              <a:t>I Vantaggi Tecnici</a:t>
            </a:r>
          </a:p>
          <a:p>
            <a:r>
              <a:rPr lang="it-IT" sz="1400" b="1" dirty="0"/>
              <a:t>Isolamento termico</a:t>
            </a:r>
            <a:r>
              <a:rPr lang="it-IT" sz="1400" dirty="0"/>
              <a:t>: abbattimento dei consumi e dei costi in bolletta.</a:t>
            </a:r>
          </a:p>
          <a:p>
            <a:r>
              <a:rPr lang="it-IT" sz="1400" b="1" dirty="0"/>
              <a:t>Comfort acustico</a:t>
            </a:r>
            <a:r>
              <a:rPr lang="it-IT" sz="1400" dirty="0"/>
              <a:t>: protezione totale dai rumori esterni.</a:t>
            </a:r>
          </a:p>
          <a:p>
            <a:r>
              <a:rPr lang="it-IT" sz="1400" b="1" dirty="0"/>
              <a:t>Massima durata</a:t>
            </a:r>
            <a:r>
              <a:rPr lang="it-IT" sz="1400" dirty="0"/>
              <a:t>: l'alluminio premium resiste nel tempo e azzera la manutenzione.</a:t>
            </a:r>
          </a:p>
        </p:txBody>
      </p:sp>
      <p:sp>
        <p:nvSpPr>
          <p:cNvPr id="7" name="Shape 5"/>
          <p:cNvSpPr/>
          <p:nvPr/>
        </p:nvSpPr>
        <p:spPr>
          <a:xfrm>
            <a:off x="5943600" y="1828800"/>
            <a:ext cx="290779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943600" y="1828800"/>
            <a:ext cx="2907792" cy="6400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10" name="Shape 7"/>
          <p:cNvSpPr/>
          <p:nvPr/>
        </p:nvSpPr>
        <p:spPr>
          <a:xfrm>
            <a:off x="8979408" y="1828800"/>
            <a:ext cx="26517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979408" y="1828800"/>
            <a:ext cx="2651760" cy="6400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13" name="Shape 9"/>
          <p:cNvSpPr/>
          <p:nvPr/>
        </p:nvSpPr>
        <p:spPr>
          <a:xfrm>
            <a:off x="5943600" y="4001318"/>
            <a:ext cx="568756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943600" y="3950208"/>
            <a:ext cx="5687568" cy="45719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16" name="Text 11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SER - Portfolio Aziendale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10707624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D7B26F7-D39D-467F-AB33-9B1DC548E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3995927"/>
            <a:ext cx="4226846" cy="265176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338F4DF-BCB0-48AB-B6A4-D937BF97D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378" y="1908988"/>
            <a:ext cx="2872236" cy="1885771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E3C09761-803D-0FD2-D258-21AF943BD9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995926"/>
            <a:ext cx="1417320" cy="26704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641B2A-CDEA-4C81-A19A-9F7E148C0C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408" y="1924681"/>
            <a:ext cx="2595211" cy="18700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82296" cy="38404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303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A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 PREMIUM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841248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Costruiamo con i Migliori d'Europa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49808" y="1920240"/>
            <a:ext cx="213969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20240"/>
            <a:ext cx="2139696" cy="15544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0" descr="/sessions/quirky-great-planck/mnt/outputs/deck/assets/sup_aluk.jpg"/>
          <p:cNvPicPr>
            <a:picLocks noChangeAspect="1"/>
          </p:cNvPicPr>
          <p:nvPr/>
        </p:nvPicPr>
        <p:blipFill>
          <a:blip r:embed="rId3"/>
          <a:srcRect l="-19231" r="-19231"/>
          <a:stretch/>
        </p:blipFill>
        <p:spPr>
          <a:xfrm>
            <a:off x="996696" y="2121408"/>
            <a:ext cx="1645920" cy="1188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24128" y="3621024"/>
            <a:ext cx="365760" cy="4114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9" name="Text 6"/>
          <p:cNvSpPr/>
          <p:nvPr/>
        </p:nvSpPr>
        <p:spPr>
          <a:xfrm>
            <a:off x="987552" y="374904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AluK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96696" y="413308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2A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96696" y="4407408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 in alluminio - 70+ anni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035808" y="1920240"/>
            <a:ext cx="213969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35808" y="1920240"/>
            <a:ext cx="2139696" cy="15544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1" descr="/sessions/quirky-great-planck/mnt/outputs/deck/assets/sup_paesani.png"/>
          <p:cNvPicPr>
            <a:picLocks noChangeAspect="1"/>
          </p:cNvPicPr>
          <p:nvPr/>
        </p:nvPicPr>
        <p:blipFill>
          <a:blip r:embed="rId4"/>
          <a:srcRect l="-19231" r="-19231"/>
          <a:stretch/>
        </p:blipFill>
        <p:spPr>
          <a:xfrm>
            <a:off x="3282696" y="2121408"/>
            <a:ext cx="1645920" cy="1188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310128" y="3621024"/>
            <a:ext cx="365760" cy="4114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16" name="Text 12"/>
          <p:cNvSpPr/>
          <p:nvPr/>
        </p:nvSpPr>
        <p:spPr>
          <a:xfrm>
            <a:off x="3273552" y="374904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Paesani Group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282696" y="413308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2A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282696" y="4407408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Alluminio - 100% Made in Italy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321808" y="1920240"/>
            <a:ext cx="213969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321808" y="1920240"/>
            <a:ext cx="2139696" cy="15544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1" name="Image 2" descr="/sessions/quirky-great-planck/mnt/outputs/deck/assets/sup_reynaers.jpg"/>
          <p:cNvPicPr>
            <a:picLocks noChangeAspect="1"/>
          </p:cNvPicPr>
          <p:nvPr/>
        </p:nvPicPr>
        <p:blipFill>
          <a:blip r:embed="rId5"/>
          <a:srcRect l="-19231" r="-19231"/>
          <a:stretch/>
        </p:blipFill>
        <p:spPr>
          <a:xfrm>
            <a:off x="5568696" y="2121408"/>
            <a:ext cx="1645920" cy="118872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596128" y="3621024"/>
            <a:ext cx="365760" cy="4114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23" name="Text 18"/>
          <p:cNvSpPr/>
          <p:nvPr/>
        </p:nvSpPr>
        <p:spPr>
          <a:xfrm>
            <a:off x="5559552" y="374904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Reynaers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5568696" y="413308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2A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5568696" y="4407408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europeo - facciate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607808" y="1920240"/>
            <a:ext cx="213969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607808" y="1920240"/>
            <a:ext cx="2139696" cy="15544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8" name="Image 3" descr="/sessions/quirky-great-planck/mnt/outputs/deck/assets/sup_ekookna.jpg"/>
          <p:cNvPicPr>
            <a:picLocks noChangeAspect="1"/>
          </p:cNvPicPr>
          <p:nvPr/>
        </p:nvPicPr>
        <p:blipFill>
          <a:blip r:embed="rId6"/>
          <a:srcRect l="-19231" r="-19231"/>
          <a:stretch/>
        </p:blipFill>
        <p:spPr>
          <a:xfrm>
            <a:off x="7854696" y="2121408"/>
            <a:ext cx="1645920" cy="118872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7882128" y="3621024"/>
            <a:ext cx="365760" cy="4114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30" name="Text 24"/>
          <p:cNvSpPr/>
          <p:nvPr/>
        </p:nvSpPr>
        <p:spPr>
          <a:xfrm>
            <a:off x="7845552" y="374904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Eko-Okna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7854696" y="413308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2A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POLAND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7854696" y="4407408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e alluminio - 40+ mercati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9893808" y="1920240"/>
            <a:ext cx="213969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9893808" y="1920240"/>
            <a:ext cx="2139696" cy="15544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5" name="Image 4" descr="/sessions/quirky-great-planck/mnt/outputs/deck/assets/sup_effezeta.png"/>
          <p:cNvPicPr>
            <a:picLocks noChangeAspect="1"/>
          </p:cNvPicPr>
          <p:nvPr/>
        </p:nvPicPr>
        <p:blipFill>
          <a:blip r:embed="rId7"/>
          <a:srcRect l="-19231" r="-19231"/>
          <a:stretch/>
        </p:blipFill>
        <p:spPr>
          <a:xfrm>
            <a:off x="10140696" y="2121408"/>
            <a:ext cx="1645920" cy="1188720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10168128" y="3621024"/>
            <a:ext cx="365760" cy="4114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37" name="Text 30"/>
          <p:cNvSpPr/>
          <p:nvPr/>
        </p:nvSpPr>
        <p:spPr>
          <a:xfrm>
            <a:off x="10131552" y="374904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Effezeta (FZ)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10140696" y="413308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2A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10140696" y="4407408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Avvolgibili - zanzariere - sole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SER - Portfolio Aziendale</a:t>
            </a:r>
            <a:endParaRPr lang="en-US" sz="850" dirty="0"/>
          </a:p>
        </p:txBody>
      </p:sp>
      <p:sp>
        <p:nvSpPr>
          <p:cNvPr id="41" name="Text 34"/>
          <p:cNvSpPr/>
          <p:nvPr/>
        </p:nvSpPr>
        <p:spPr>
          <a:xfrm>
            <a:off x="10707624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82296" cy="38404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303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A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COLLABORAZIONI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841248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Collaborazioni di Fiducia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1572768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6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oltre 26 anni, ART SER ha collaborato con affermate aziende italiane dell'alluminio - contribuendo a produzione, assemblaggio, installazione e progetti su scala residenziale e industriale, secondo le specifiche tecniche di ogni progetto.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9808" y="2697480"/>
            <a:ext cx="2615184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5376672"/>
            <a:ext cx="2615184" cy="64008"/>
          </a:xfrm>
          <a:prstGeom prst="rect">
            <a:avLst/>
          </a:prstGeom>
          <a:solidFill>
            <a:srgbClr val="C2A14B"/>
          </a:solidFill>
          <a:ln/>
        </p:spPr>
      </p:sp>
      <p:pic>
        <p:nvPicPr>
          <p:cNvPr id="8" name="Image 0" descr="/sessions/quirky-great-planck/mnt/outputs/deck/assets/cli_artfer.jpg"/>
          <p:cNvPicPr>
            <a:picLocks noChangeAspect="1"/>
          </p:cNvPicPr>
          <p:nvPr/>
        </p:nvPicPr>
        <p:blipFill>
          <a:blip r:embed="rId3"/>
          <a:srcRect l="-18667" r="-18667"/>
          <a:stretch/>
        </p:blipFill>
        <p:spPr>
          <a:xfrm>
            <a:off x="1115568" y="3017520"/>
            <a:ext cx="1883664" cy="1371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457200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FER SRL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32688" y="496519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C2A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MANIFATTURA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584448" y="2697480"/>
            <a:ext cx="2615184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84448" y="5376672"/>
            <a:ext cx="2615184" cy="64008"/>
          </a:xfrm>
          <a:prstGeom prst="rect">
            <a:avLst/>
          </a:prstGeom>
          <a:solidFill>
            <a:srgbClr val="C2A14B"/>
          </a:solidFill>
          <a:ln/>
        </p:spPr>
      </p:sp>
      <p:pic>
        <p:nvPicPr>
          <p:cNvPr id="13" name="Image 1" descr="/sessions/quirky-great-planck/mnt/outputs/deck/assets/cli_corradini.png"/>
          <p:cNvPicPr>
            <a:picLocks noChangeAspect="1"/>
          </p:cNvPicPr>
          <p:nvPr/>
        </p:nvPicPr>
        <p:blipFill>
          <a:blip r:embed="rId4"/>
          <a:srcRect l="-18667" r="-18667"/>
          <a:stretch/>
        </p:blipFill>
        <p:spPr>
          <a:xfrm>
            <a:off x="3950208" y="3017520"/>
            <a:ext cx="1883664" cy="1371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67328" y="457200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CORRADINI SRL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767328" y="496519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C2A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COSTRUZIONI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419088" y="2697480"/>
            <a:ext cx="2615184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19088" y="5376672"/>
            <a:ext cx="2615184" cy="64008"/>
          </a:xfrm>
          <a:prstGeom prst="rect">
            <a:avLst/>
          </a:prstGeom>
          <a:solidFill>
            <a:srgbClr val="C2A14B"/>
          </a:solidFill>
          <a:ln/>
        </p:spPr>
      </p:sp>
      <p:pic>
        <p:nvPicPr>
          <p:cNvPr id="18" name="Image 2" descr="/sessions/quirky-great-planck/mnt/outputs/deck/assets/cli_massignani.png"/>
          <p:cNvPicPr>
            <a:picLocks noChangeAspect="1"/>
          </p:cNvPicPr>
          <p:nvPr/>
        </p:nvPicPr>
        <p:blipFill>
          <a:blip r:embed="rId5"/>
          <a:srcRect l="-18667" r="-18667"/>
          <a:stretch/>
        </p:blipFill>
        <p:spPr>
          <a:xfrm>
            <a:off x="6784848" y="3017520"/>
            <a:ext cx="1883664" cy="1371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01968" y="457200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MASSIGNANI &amp; C.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601968" y="496519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C2A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MANIFATTURA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9253728" y="2697480"/>
            <a:ext cx="2615184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253728" y="5376672"/>
            <a:ext cx="2615184" cy="64008"/>
          </a:xfrm>
          <a:prstGeom prst="rect">
            <a:avLst/>
          </a:prstGeom>
          <a:solidFill>
            <a:srgbClr val="C2A14B"/>
          </a:solidFill>
          <a:ln/>
        </p:spPr>
      </p:sp>
      <p:pic>
        <p:nvPicPr>
          <p:cNvPr id="23" name="Image 3" descr="/sessions/quirky-great-planck/mnt/outputs/deck/assets/cli_soave.png"/>
          <p:cNvPicPr>
            <a:picLocks noChangeAspect="1"/>
          </p:cNvPicPr>
          <p:nvPr/>
        </p:nvPicPr>
        <p:blipFill>
          <a:blip r:embed="rId6"/>
          <a:srcRect l="-18667" r="-18667"/>
          <a:stretch/>
        </p:blipFill>
        <p:spPr>
          <a:xfrm>
            <a:off x="9619488" y="3017520"/>
            <a:ext cx="1883664" cy="1371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436608" y="457200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SOAVE SERRAMENTI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436608" y="496519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C2A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SERRAMENTI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SER - Portfolio Aziendale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10707624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82296" cy="38404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303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A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841248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Certificazioni e Sicurezza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49808" y="1783080"/>
            <a:ext cx="345643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83080"/>
            <a:ext cx="73152" cy="1280160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2194560"/>
            <a:ext cx="457200" cy="457200"/>
          </a:xfrm>
          <a:prstGeom prst="ellipse">
            <a:avLst/>
          </a:prstGeom>
          <a:solidFill>
            <a:srgbClr val="C2A14B"/>
          </a:solidFill>
          <a:ln/>
        </p:spPr>
      </p:sp>
      <p:sp>
        <p:nvSpPr>
          <p:cNvPr id="8" name="Text 6"/>
          <p:cNvSpPr/>
          <p:nvPr/>
        </p:nvSpPr>
        <p:spPr>
          <a:xfrm>
            <a:off x="987552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17904" y="2002536"/>
            <a:ext cx="2496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Posa Serramenti Esterni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17904" y="2642616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O.P.N. Italia Lavoro / CNL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783080"/>
            <a:ext cx="345643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783080"/>
            <a:ext cx="73152" cy="1280160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13" name="Shape 11"/>
          <p:cNvSpPr/>
          <p:nvPr/>
        </p:nvSpPr>
        <p:spPr>
          <a:xfrm>
            <a:off x="4718304" y="2194560"/>
            <a:ext cx="457200" cy="457200"/>
          </a:xfrm>
          <a:prstGeom prst="ellipse">
            <a:avLst/>
          </a:prstGeom>
          <a:solidFill>
            <a:srgbClr val="C2A14B"/>
          </a:solidFill>
          <a:ln/>
        </p:spPr>
      </p:sp>
      <p:sp>
        <p:nvSpPr>
          <p:cNvPr id="14" name="Text 12"/>
          <p:cNvSpPr/>
          <p:nvPr/>
        </p:nvSpPr>
        <p:spPr>
          <a:xfrm>
            <a:off x="4718304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48656" y="2002536"/>
            <a:ext cx="2496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Responsabile Prevenzione (RSPP)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48656" y="2642616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UESE Italia / E.N.Bi.Form.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11312" y="1783080"/>
            <a:ext cx="345643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11312" y="1783080"/>
            <a:ext cx="73152" cy="1280160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19" name="Shape 17"/>
          <p:cNvSpPr/>
          <p:nvPr/>
        </p:nvSpPr>
        <p:spPr>
          <a:xfrm>
            <a:off x="8449056" y="2194560"/>
            <a:ext cx="457200" cy="457200"/>
          </a:xfrm>
          <a:prstGeom prst="ellipse">
            <a:avLst/>
          </a:prstGeom>
          <a:solidFill>
            <a:srgbClr val="C2A14B"/>
          </a:solidFill>
          <a:ln/>
        </p:spPr>
      </p:sp>
      <p:sp>
        <p:nvSpPr>
          <p:cNvPr id="20" name="Text 18"/>
          <p:cNvSpPr/>
          <p:nvPr/>
        </p:nvSpPr>
        <p:spPr>
          <a:xfrm>
            <a:off x="8449056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79408" y="2002536"/>
            <a:ext cx="2496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Lavori in Quota &amp; DPI Cat. III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79408" y="2642616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UESE Italia / A.N.P.I.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" y="3300984"/>
            <a:ext cx="345643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" y="3300984"/>
            <a:ext cx="73152" cy="1280160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25" name="Shape 23"/>
          <p:cNvSpPr/>
          <p:nvPr/>
        </p:nvSpPr>
        <p:spPr>
          <a:xfrm>
            <a:off x="987552" y="3712464"/>
            <a:ext cx="457200" cy="457200"/>
          </a:xfrm>
          <a:prstGeom prst="ellipse">
            <a:avLst/>
          </a:prstGeom>
          <a:solidFill>
            <a:srgbClr val="C2A14B"/>
          </a:solidFill>
          <a:ln/>
        </p:spPr>
      </p:sp>
      <p:sp>
        <p:nvSpPr>
          <p:cNvPr id="26" name="Text 24"/>
          <p:cNvSpPr/>
          <p:nvPr/>
        </p:nvSpPr>
        <p:spPr>
          <a:xfrm>
            <a:off x="987552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17904" y="3520440"/>
            <a:ext cx="2496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Conduzione Piattaforme (PLE)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517904" y="416052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UESE Italia / A.N.P.I.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80560" y="3300984"/>
            <a:ext cx="345643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80560" y="3300984"/>
            <a:ext cx="73152" cy="1280160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31" name="Shape 29"/>
          <p:cNvSpPr/>
          <p:nvPr/>
        </p:nvSpPr>
        <p:spPr>
          <a:xfrm>
            <a:off x="4718304" y="3712464"/>
            <a:ext cx="457200" cy="457200"/>
          </a:xfrm>
          <a:prstGeom prst="ellipse">
            <a:avLst/>
          </a:prstGeom>
          <a:solidFill>
            <a:srgbClr val="C2A14B"/>
          </a:solidFill>
          <a:ln/>
        </p:spPr>
      </p:sp>
      <p:sp>
        <p:nvSpPr>
          <p:cNvPr id="32" name="Text 30"/>
          <p:cNvSpPr/>
          <p:nvPr/>
        </p:nvSpPr>
        <p:spPr>
          <a:xfrm>
            <a:off x="4718304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48656" y="3520440"/>
            <a:ext cx="2496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Primo Soccorso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48656" y="416052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UESE Italia / E.N.Bi.Form.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11312" y="3300984"/>
            <a:ext cx="345643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11312" y="3300984"/>
            <a:ext cx="73152" cy="1280160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37" name="Shape 35"/>
          <p:cNvSpPr/>
          <p:nvPr/>
        </p:nvSpPr>
        <p:spPr>
          <a:xfrm>
            <a:off x="8449056" y="3712464"/>
            <a:ext cx="457200" cy="457200"/>
          </a:xfrm>
          <a:prstGeom prst="ellipse">
            <a:avLst/>
          </a:prstGeom>
          <a:solidFill>
            <a:srgbClr val="C2A14B"/>
          </a:solidFill>
          <a:ln/>
        </p:spPr>
      </p:sp>
      <p:sp>
        <p:nvSpPr>
          <p:cNvPr id="38" name="Text 36"/>
          <p:cNvSpPr/>
          <p:nvPr/>
        </p:nvSpPr>
        <p:spPr>
          <a:xfrm>
            <a:off x="8449056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979408" y="3520440"/>
            <a:ext cx="2496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5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Antincendio - Livello 1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979408" y="416052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O.P.N. Italia Lavoro / CNL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49808" y="54406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Tutte le certificazioni rilasciate nel 2023 - Italia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SER - Portfolio Aziendale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707624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82296" cy="38404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303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A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PERCHE ART SER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" y="84124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Missione e Visione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49808" y="1783080"/>
            <a:ext cx="5285232" cy="2697480"/>
          </a:xfrm>
          <a:prstGeom prst="rect">
            <a:avLst/>
          </a:prstGeom>
          <a:solidFill>
            <a:srgbClr val="1E232D"/>
          </a:solidFill>
          <a:ln w="12700">
            <a:solidFill>
              <a:srgbClr val="343A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783080"/>
            <a:ext cx="5285232" cy="6400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2093976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E0C7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15568" y="2697480"/>
            <a:ext cx="45537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it-IT" sz="1300" dirty="0">
                <a:solidFill>
                  <a:schemeClr val="bg1"/>
                </a:solidFill>
              </a:rPr>
              <a:t>Offriamo soluzioni affidabili per serramenti in alluminio attraverso precisione artigianale e competenza sul campo. Supportiamo ogni fase di produzione, montaggio e installazione mantenendo i massimi standard di qualità, sicurezza e tenuta tecnica, per garantire il comfort abitativo, il risparmio energetico o la tranquillità di un lavoro chiave in mano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345936" y="1783080"/>
            <a:ext cx="5285232" cy="2697480"/>
          </a:xfrm>
          <a:prstGeom prst="rect">
            <a:avLst/>
          </a:prstGeom>
          <a:solidFill>
            <a:srgbClr val="1E232D"/>
          </a:solidFill>
          <a:ln w="12700">
            <a:solidFill>
              <a:srgbClr val="343A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45936" y="1783080"/>
            <a:ext cx="5285232" cy="6400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11" name="Text 9"/>
          <p:cNvSpPr/>
          <p:nvPr/>
        </p:nvSpPr>
        <p:spPr>
          <a:xfrm>
            <a:off x="6711696" y="2093976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E0C7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711696" y="2697480"/>
            <a:ext cx="45537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it-IT" sz="1300" dirty="0">
                <a:solidFill>
                  <a:schemeClr val="bg1"/>
                </a:solidFill>
              </a:rPr>
              <a:t>Diventare il punto di riferimento assoluto nel settore dei serramenti in alluminio, anticipando le evoluzioni dell'architettura moderna attraverso tecnologie avanzate, cura del dettaglio e soluzioni capaci di migliorare la vita delle persone.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9808" y="4800600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262C36"/>
          </a:solidFill>
          <a:ln w="12700">
            <a:solidFill>
              <a:srgbClr val="C2A1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8006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88920" y="4800600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262C36"/>
          </a:solidFill>
          <a:ln w="12700">
            <a:solidFill>
              <a:srgbClr val="C2A1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48006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Affidabilita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28032" y="4800600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262C36"/>
          </a:solidFill>
          <a:ln w="12700">
            <a:solidFill>
              <a:srgbClr val="C2A1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48006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67144" y="4800600"/>
            <a:ext cx="2432304" cy="566928"/>
          </a:xfrm>
          <a:prstGeom prst="roundRect">
            <a:avLst>
              <a:gd name="adj" fmla="val 50000"/>
            </a:avLst>
          </a:prstGeom>
          <a:solidFill>
            <a:srgbClr val="262C36"/>
          </a:solidFill>
          <a:ln w="12700">
            <a:solidFill>
              <a:srgbClr val="C2A1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67144" y="480060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Competenza Tecnica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SER - Portfolio Aziendale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07624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quirky-great-planck/mnt/outputs/deck/assets/facade.png"/>
          <p:cNvPicPr>
            <a:picLocks noChangeAspect="1"/>
          </p:cNvPicPr>
          <p:nvPr/>
        </p:nvPicPr>
        <p:blipFill>
          <a:blip r:embed="rId3"/>
          <a:srcRect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81F">
              <a:alpha val="7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15181F">
              <a:alpha val="94000"/>
            </a:srgbClr>
          </a:solidFill>
          <a:ln/>
        </p:spPr>
      </p:sp>
      <p:pic>
        <p:nvPicPr>
          <p:cNvPr id="5" name="Image 1" descr="/sessions/quirky-great-planck/mnt/outputs/deck/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777240"/>
            <a:ext cx="2468880" cy="53376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85216" y="1874520"/>
            <a:ext cx="1188720" cy="41148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7" name="Text 3"/>
          <p:cNvSpPr/>
          <p:nvPr/>
        </p:nvSpPr>
        <p:spPr>
          <a:xfrm>
            <a:off x="566928" y="2057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Costruiamo Insieme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566928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9DB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Eccellenza ingegneristica, realizzata.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66928" y="3922776"/>
            <a:ext cx="82296" cy="457200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10" name="Text 6"/>
          <p:cNvSpPr/>
          <p:nvPr/>
        </p:nvSpPr>
        <p:spPr>
          <a:xfrm>
            <a:off x="786384" y="3886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761488" y="38862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art_ser@outlook.it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66928" y="4526280"/>
            <a:ext cx="82296" cy="457200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13" name="Text 9"/>
          <p:cNvSpPr/>
          <p:nvPr/>
        </p:nvSpPr>
        <p:spPr>
          <a:xfrm>
            <a:off x="786384" y="44897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TELEFONO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761488" y="4489704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+39 0348 240 2248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66928" y="5129784"/>
            <a:ext cx="82296" cy="457200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16" name="Text 12"/>
          <p:cNvSpPr/>
          <p:nvPr/>
        </p:nvSpPr>
        <p:spPr>
          <a:xfrm>
            <a:off x="786384" y="50932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761488" y="50932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khaan@pec.buffetti.it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66928" y="5733288"/>
            <a:ext cx="82296" cy="457200"/>
          </a:xfrm>
          <a:prstGeom prst="rect">
            <a:avLst/>
          </a:prstGeom>
          <a:solidFill>
            <a:srgbClr val="C2A14B"/>
          </a:solidFill>
          <a:ln/>
        </p:spPr>
      </p:sp>
      <p:sp>
        <p:nvSpPr>
          <p:cNvPr id="19" name="Text 15"/>
          <p:cNvSpPr/>
          <p:nvPr/>
        </p:nvSpPr>
        <p:spPr>
          <a:xfrm>
            <a:off x="786384" y="56967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0C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LEGALE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2761488" y="569671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XX Settembre 86, 37036 San Martino Buon Albergo (VR), Italy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66928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SER - Portfolio Aziendale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10707624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1169</Words>
  <Application>Microsoft Office PowerPoint</Application>
  <PresentationFormat>Custom</PresentationFormat>
  <Paragraphs>183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ART SER DI SHEHEZAD TARIQ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 SER - Portfolio Aziendale</dc:title>
  <dc:subject>PptxGenJS Presentation</dc:subject>
  <dc:creator>ART SER</dc:creator>
  <cp:lastModifiedBy>ArwenTech</cp:lastModifiedBy>
  <cp:revision>8</cp:revision>
  <dcterms:created xsi:type="dcterms:W3CDTF">2026-05-30T14:54:24Z</dcterms:created>
  <dcterms:modified xsi:type="dcterms:W3CDTF">2026-06-05T20:09:44Z</dcterms:modified>
</cp:coreProperties>
</file>